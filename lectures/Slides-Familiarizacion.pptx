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57"/>
  </p:notesMasterIdLst>
  <p:handoutMasterIdLst>
    <p:handoutMasterId r:id="rId58"/>
  </p:handoutMasterIdLst>
  <p:sldIdLst>
    <p:sldId id="256" r:id="rId2"/>
    <p:sldId id="404" r:id="rId3"/>
    <p:sldId id="416" r:id="rId4"/>
    <p:sldId id="417" r:id="rId5"/>
    <p:sldId id="418" r:id="rId6"/>
    <p:sldId id="429" r:id="rId7"/>
    <p:sldId id="375" r:id="rId8"/>
    <p:sldId id="419" r:id="rId9"/>
    <p:sldId id="430" r:id="rId10"/>
    <p:sldId id="431" r:id="rId11"/>
    <p:sldId id="406" r:id="rId12"/>
    <p:sldId id="420" r:id="rId13"/>
    <p:sldId id="421" r:id="rId14"/>
    <p:sldId id="407" r:id="rId15"/>
    <p:sldId id="378" r:id="rId16"/>
    <p:sldId id="408" r:id="rId17"/>
    <p:sldId id="432" r:id="rId18"/>
    <p:sldId id="433" r:id="rId19"/>
    <p:sldId id="434" r:id="rId20"/>
    <p:sldId id="381" r:id="rId21"/>
    <p:sldId id="422" r:id="rId22"/>
    <p:sldId id="405" r:id="rId23"/>
    <p:sldId id="423" r:id="rId24"/>
    <p:sldId id="394" r:id="rId25"/>
    <p:sldId id="435" r:id="rId26"/>
    <p:sldId id="436" r:id="rId27"/>
    <p:sldId id="437" r:id="rId28"/>
    <p:sldId id="395" r:id="rId29"/>
    <p:sldId id="424" r:id="rId30"/>
    <p:sldId id="396" r:id="rId31"/>
    <p:sldId id="441" r:id="rId32"/>
    <p:sldId id="442" r:id="rId33"/>
    <p:sldId id="400" r:id="rId34"/>
    <p:sldId id="397" r:id="rId35"/>
    <p:sldId id="425" r:id="rId36"/>
    <p:sldId id="426" r:id="rId37"/>
    <p:sldId id="376" r:id="rId38"/>
    <p:sldId id="398" r:id="rId39"/>
    <p:sldId id="377" r:id="rId40"/>
    <p:sldId id="440" r:id="rId41"/>
    <p:sldId id="427" r:id="rId42"/>
    <p:sldId id="401" r:id="rId43"/>
    <p:sldId id="402" r:id="rId44"/>
    <p:sldId id="438" r:id="rId45"/>
    <p:sldId id="439" r:id="rId46"/>
    <p:sldId id="403" r:id="rId47"/>
    <p:sldId id="428" r:id="rId48"/>
    <p:sldId id="410" r:id="rId49"/>
    <p:sldId id="409" r:id="rId50"/>
    <p:sldId id="411" r:id="rId51"/>
    <p:sldId id="412" r:id="rId52"/>
    <p:sldId id="413" r:id="rId53"/>
    <p:sldId id="414" r:id="rId54"/>
    <p:sldId id="415" r:id="rId55"/>
    <p:sldId id="270" r:id="rId56"/>
  </p:sldIdLst>
  <p:sldSz cx="12192000" cy="6858000"/>
  <p:notesSz cx="9223375" cy="700405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3399"/>
    <a:srgbClr val="7D7DDF"/>
    <a:srgbClr val="262626"/>
    <a:srgbClr val="8E9FE6"/>
    <a:srgbClr val="4D5CC7"/>
    <a:srgbClr val="2F74B3"/>
    <a:srgbClr val="FBE1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44" autoAdjust="0"/>
    <p:restoredTop sz="94660"/>
  </p:normalViewPr>
  <p:slideViewPr>
    <p:cSldViewPr snapToGrid="0">
      <p:cViewPr>
        <p:scale>
          <a:sx n="60" d="100"/>
          <a:sy n="60" d="100"/>
        </p:scale>
        <p:origin x="1008" y="57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996796" cy="350505"/>
          </a:xfrm>
          <a:prstGeom prst="rect">
            <a:avLst/>
          </a:prstGeom>
        </p:spPr>
        <p:txBody>
          <a:bodyPr vert="horz" lIns="92400" tIns="46200" rIns="92400" bIns="46200" rtlCol="0"/>
          <a:lstStyle>
            <a:lvl1pPr algn="l">
              <a:defRPr sz="1200"/>
            </a:lvl1pPr>
          </a:lstStyle>
          <a:p>
            <a:endParaRPr lang="es-CO"/>
          </a:p>
        </p:txBody>
      </p:sp>
      <p:sp>
        <p:nvSpPr>
          <p:cNvPr id="3" name="2 Marcador de fecha"/>
          <p:cNvSpPr>
            <a:spLocks noGrp="1"/>
          </p:cNvSpPr>
          <p:nvPr>
            <p:ph type="dt" sz="quarter" idx="1"/>
          </p:nvPr>
        </p:nvSpPr>
        <p:spPr>
          <a:xfrm>
            <a:off x="5224445" y="0"/>
            <a:ext cx="3996796" cy="350505"/>
          </a:xfrm>
          <a:prstGeom prst="rect">
            <a:avLst/>
          </a:prstGeom>
        </p:spPr>
        <p:txBody>
          <a:bodyPr vert="horz" lIns="92400" tIns="46200" rIns="92400" bIns="46200" rtlCol="0"/>
          <a:lstStyle>
            <a:lvl1pPr algn="r">
              <a:defRPr sz="1200"/>
            </a:lvl1pPr>
          </a:lstStyle>
          <a:p>
            <a:fld id="{92134AB3-F03B-4D1D-B526-EFCF7056CB79}" type="datetimeFigureOut">
              <a:rPr lang="es-CO" smtClean="0"/>
              <a:t>17/08/2026</a:t>
            </a:fld>
            <a:endParaRPr lang="es-CO"/>
          </a:p>
        </p:txBody>
      </p:sp>
      <p:sp>
        <p:nvSpPr>
          <p:cNvPr id="4" name="3 Marcador de pie de página"/>
          <p:cNvSpPr>
            <a:spLocks noGrp="1"/>
          </p:cNvSpPr>
          <p:nvPr>
            <p:ph type="ftr" sz="quarter" idx="2"/>
          </p:nvPr>
        </p:nvSpPr>
        <p:spPr>
          <a:xfrm>
            <a:off x="0" y="6652337"/>
            <a:ext cx="3996796" cy="350505"/>
          </a:xfrm>
          <a:prstGeom prst="rect">
            <a:avLst/>
          </a:prstGeom>
        </p:spPr>
        <p:txBody>
          <a:bodyPr vert="horz" lIns="92400" tIns="46200" rIns="92400" bIns="46200" rtlCol="0" anchor="b"/>
          <a:lstStyle>
            <a:lvl1pPr algn="l">
              <a:defRPr sz="1200"/>
            </a:lvl1pPr>
          </a:lstStyle>
          <a:p>
            <a:endParaRPr lang="es-CO"/>
          </a:p>
        </p:txBody>
      </p:sp>
      <p:sp>
        <p:nvSpPr>
          <p:cNvPr id="5" name="4 Marcador de número de diapositiva"/>
          <p:cNvSpPr>
            <a:spLocks noGrp="1"/>
          </p:cNvSpPr>
          <p:nvPr>
            <p:ph type="sldNum" sz="quarter" idx="3"/>
          </p:nvPr>
        </p:nvSpPr>
        <p:spPr>
          <a:xfrm>
            <a:off x="5224445" y="6652337"/>
            <a:ext cx="3996796" cy="350505"/>
          </a:xfrm>
          <a:prstGeom prst="rect">
            <a:avLst/>
          </a:prstGeom>
        </p:spPr>
        <p:txBody>
          <a:bodyPr vert="horz" lIns="92400" tIns="46200" rIns="92400" bIns="46200" rtlCol="0" anchor="b"/>
          <a:lstStyle>
            <a:lvl1pPr algn="r">
              <a:defRPr sz="1200"/>
            </a:lvl1pPr>
          </a:lstStyle>
          <a:p>
            <a:fld id="{05EA8EC1-0D6C-4C91-BEB9-68D4DFEB8967}" type="slidenum">
              <a:rPr lang="es-CO" smtClean="0"/>
              <a:t>‹Nº›</a:t>
            </a:fld>
            <a:endParaRPr lang="es-CO"/>
          </a:p>
        </p:txBody>
      </p:sp>
    </p:spTree>
    <p:extLst>
      <p:ext uri="{BB962C8B-B14F-4D97-AF65-F5344CB8AC3E}">
        <p14:creationId xmlns:p14="http://schemas.microsoft.com/office/powerpoint/2010/main" val="26899403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1"/>
            <a:ext cx="3996796" cy="351419"/>
          </a:xfrm>
          <a:prstGeom prst="rect">
            <a:avLst/>
          </a:prstGeom>
        </p:spPr>
        <p:txBody>
          <a:bodyPr vert="horz" lIns="92400" tIns="46200" rIns="92400" bIns="46200" rtlCol="0"/>
          <a:lstStyle>
            <a:lvl1pPr algn="l">
              <a:defRPr sz="1200"/>
            </a:lvl1pPr>
          </a:lstStyle>
          <a:p>
            <a:endParaRPr lang="es-CO"/>
          </a:p>
        </p:txBody>
      </p:sp>
      <p:sp>
        <p:nvSpPr>
          <p:cNvPr id="3" name="Дата 2"/>
          <p:cNvSpPr>
            <a:spLocks noGrp="1"/>
          </p:cNvSpPr>
          <p:nvPr>
            <p:ph type="dt" idx="1"/>
          </p:nvPr>
        </p:nvSpPr>
        <p:spPr>
          <a:xfrm>
            <a:off x="5224445" y="1"/>
            <a:ext cx="3996796" cy="351419"/>
          </a:xfrm>
          <a:prstGeom prst="rect">
            <a:avLst/>
          </a:prstGeom>
        </p:spPr>
        <p:txBody>
          <a:bodyPr vert="horz" lIns="92400" tIns="46200" rIns="92400" bIns="46200" rtlCol="0"/>
          <a:lstStyle>
            <a:lvl1pPr algn="r">
              <a:defRPr sz="1200"/>
            </a:lvl1pPr>
          </a:lstStyle>
          <a:p>
            <a:fld id="{DB945891-8BD2-4BB7-B206-DCADBD5AA0A7}" type="datetimeFigureOut">
              <a:rPr lang="es-CO" smtClean="0"/>
              <a:t>17/08/2026</a:t>
            </a:fld>
            <a:endParaRPr lang="es-CO"/>
          </a:p>
        </p:txBody>
      </p:sp>
      <p:sp>
        <p:nvSpPr>
          <p:cNvPr id="4" name="Образ слайда 3"/>
          <p:cNvSpPr>
            <a:spLocks noGrp="1" noRot="1" noChangeAspect="1"/>
          </p:cNvSpPr>
          <p:nvPr>
            <p:ph type="sldImg" idx="2"/>
          </p:nvPr>
        </p:nvSpPr>
        <p:spPr>
          <a:xfrm>
            <a:off x="2511425" y="876300"/>
            <a:ext cx="4200525" cy="2363788"/>
          </a:xfrm>
          <a:prstGeom prst="rect">
            <a:avLst/>
          </a:prstGeom>
          <a:noFill/>
          <a:ln w="12700">
            <a:solidFill>
              <a:prstClr val="black"/>
            </a:solidFill>
          </a:ln>
        </p:spPr>
        <p:txBody>
          <a:bodyPr vert="horz" lIns="92400" tIns="46200" rIns="92400" bIns="46200" rtlCol="0" anchor="ctr"/>
          <a:lstStyle/>
          <a:p>
            <a:endParaRPr lang="es-CO"/>
          </a:p>
        </p:txBody>
      </p:sp>
      <p:sp>
        <p:nvSpPr>
          <p:cNvPr id="5" name="Заметки 4"/>
          <p:cNvSpPr>
            <a:spLocks noGrp="1"/>
          </p:cNvSpPr>
          <p:nvPr>
            <p:ph type="body" sz="quarter" idx="3"/>
          </p:nvPr>
        </p:nvSpPr>
        <p:spPr>
          <a:xfrm>
            <a:off x="922338" y="3370700"/>
            <a:ext cx="7378700" cy="2757845"/>
          </a:xfrm>
          <a:prstGeom prst="rect">
            <a:avLst/>
          </a:prstGeom>
        </p:spPr>
        <p:txBody>
          <a:bodyPr vert="horz" lIns="92400" tIns="46200" rIns="92400" bIns="4620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s-CO"/>
          </a:p>
        </p:txBody>
      </p:sp>
      <p:sp>
        <p:nvSpPr>
          <p:cNvPr id="6" name="Нижний колонтитул 5"/>
          <p:cNvSpPr>
            <a:spLocks noGrp="1"/>
          </p:cNvSpPr>
          <p:nvPr>
            <p:ph type="ftr" sz="quarter" idx="4"/>
          </p:nvPr>
        </p:nvSpPr>
        <p:spPr>
          <a:xfrm>
            <a:off x="0" y="6652633"/>
            <a:ext cx="3996796" cy="351418"/>
          </a:xfrm>
          <a:prstGeom prst="rect">
            <a:avLst/>
          </a:prstGeom>
        </p:spPr>
        <p:txBody>
          <a:bodyPr vert="horz" lIns="92400" tIns="46200" rIns="92400" bIns="46200" rtlCol="0" anchor="b"/>
          <a:lstStyle>
            <a:lvl1pPr algn="l">
              <a:defRPr sz="1200"/>
            </a:lvl1pPr>
          </a:lstStyle>
          <a:p>
            <a:endParaRPr lang="es-CO"/>
          </a:p>
        </p:txBody>
      </p:sp>
      <p:sp>
        <p:nvSpPr>
          <p:cNvPr id="7" name="Номер слайда 6"/>
          <p:cNvSpPr>
            <a:spLocks noGrp="1"/>
          </p:cNvSpPr>
          <p:nvPr>
            <p:ph type="sldNum" sz="quarter" idx="5"/>
          </p:nvPr>
        </p:nvSpPr>
        <p:spPr>
          <a:xfrm>
            <a:off x="5224445" y="6652633"/>
            <a:ext cx="3996796" cy="351418"/>
          </a:xfrm>
          <a:prstGeom prst="rect">
            <a:avLst/>
          </a:prstGeom>
        </p:spPr>
        <p:txBody>
          <a:bodyPr vert="horz" lIns="92400" tIns="46200" rIns="92400" bIns="46200" rtlCol="0" anchor="b"/>
          <a:lstStyle>
            <a:lvl1pPr algn="r">
              <a:defRPr sz="1200"/>
            </a:lvl1pPr>
          </a:lstStyle>
          <a:p>
            <a:fld id="{C006E74A-B404-473D-A7B0-32DDF2C5889D}" type="slidenum">
              <a:rPr lang="es-CO" smtClean="0"/>
              <a:t>‹Nº›</a:t>
            </a:fld>
            <a:endParaRPr lang="es-CO"/>
          </a:p>
        </p:txBody>
      </p:sp>
    </p:spTree>
    <p:extLst>
      <p:ext uri="{BB962C8B-B14F-4D97-AF65-F5344CB8AC3E}">
        <p14:creationId xmlns:p14="http://schemas.microsoft.com/office/powerpoint/2010/main" val="1607449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C006E74A-B404-473D-A7B0-32DDF2C5889D}" type="slidenum">
              <a:rPr lang="es-CO" smtClean="0"/>
              <a:t>7</a:t>
            </a:fld>
            <a:endParaRPr lang="es-CO"/>
          </a:p>
        </p:txBody>
      </p:sp>
    </p:spTree>
    <p:extLst>
      <p:ext uri="{BB962C8B-B14F-4D97-AF65-F5344CB8AC3E}">
        <p14:creationId xmlns:p14="http://schemas.microsoft.com/office/powerpoint/2010/main" val="3927407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06E74A-B404-473D-A7B0-32DDF2C5889D}" type="slidenum">
              <a:rPr lang="es-CO" smtClean="0"/>
              <a:t>43</a:t>
            </a:fld>
            <a:endParaRPr lang="es-CO"/>
          </a:p>
        </p:txBody>
      </p:sp>
    </p:spTree>
    <p:extLst>
      <p:ext uri="{BB962C8B-B14F-4D97-AF65-F5344CB8AC3E}">
        <p14:creationId xmlns:p14="http://schemas.microsoft.com/office/powerpoint/2010/main" val="3538097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06E74A-B404-473D-A7B0-32DDF2C5889D}" type="slidenum">
              <a:rPr lang="es-CO" smtClean="0"/>
              <a:t>46</a:t>
            </a:fld>
            <a:endParaRPr lang="es-CO"/>
          </a:p>
        </p:txBody>
      </p:sp>
    </p:spTree>
    <p:extLst>
      <p:ext uri="{BB962C8B-B14F-4D97-AF65-F5344CB8AC3E}">
        <p14:creationId xmlns:p14="http://schemas.microsoft.com/office/powerpoint/2010/main" val="1172789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4B6C6-0ED3-5364-CF21-A80C3BB99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6E3C9-3249-7162-CB62-E51F11C7B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9E403-3D1C-6FCE-586F-BF932163F6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B2D38C-1F14-97F8-6C79-5FD5DD23B0FE}"/>
              </a:ext>
            </a:extLst>
          </p:cNvPr>
          <p:cNvSpPr>
            <a:spLocks noGrp="1"/>
          </p:cNvSpPr>
          <p:nvPr>
            <p:ph type="sldNum" sz="quarter" idx="10"/>
          </p:nvPr>
        </p:nvSpPr>
        <p:spPr/>
        <p:txBody>
          <a:bodyPr/>
          <a:lstStyle/>
          <a:p>
            <a:fld id="{C006E74A-B404-473D-A7B0-32DDF2C5889D}" type="slidenum">
              <a:rPr lang="es-CO" smtClean="0"/>
              <a:t>47</a:t>
            </a:fld>
            <a:endParaRPr lang="es-CO"/>
          </a:p>
        </p:txBody>
      </p:sp>
    </p:spTree>
    <p:extLst>
      <p:ext uri="{BB962C8B-B14F-4D97-AF65-F5344CB8AC3E}">
        <p14:creationId xmlns:p14="http://schemas.microsoft.com/office/powerpoint/2010/main" val="4275469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06E74A-B404-473D-A7B0-32DDF2C5889D}" type="slidenum">
              <a:rPr lang="es-CO" smtClean="0"/>
              <a:t>48</a:t>
            </a:fld>
            <a:endParaRPr lang="es-CO"/>
          </a:p>
        </p:txBody>
      </p:sp>
    </p:spTree>
    <p:extLst>
      <p:ext uri="{BB962C8B-B14F-4D97-AF65-F5344CB8AC3E}">
        <p14:creationId xmlns:p14="http://schemas.microsoft.com/office/powerpoint/2010/main" val="971579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06E74A-B404-473D-A7B0-32DDF2C5889D}" type="slidenum">
              <a:rPr lang="es-CO" smtClean="0"/>
              <a:t>49</a:t>
            </a:fld>
            <a:endParaRPr lang="es-CO"/>
          </a:p>
        </p:txBody>
      </p:sp>
    </p:spTree>
    <p:extLst>
      <p:ext uri="{BB962C8B-B14F-4D97-AF65-F5344CB8AC3E}">
        <p14:creationId xmlns:p14="http://schemas.microsoft.com/office/powerpoint/2010/main" val="356215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50</a:t>
            </a:fld>
            <a:endParaRPr lang="es-CO"/>
          </a:p>
        </p:txBody>
      </p:sp>
    </p:spTree>
    <p:extLst>
      <p:ext uri="{BB962C8B-B14F-4D97-AF65-F5344CB8AC3E}">
        <p14:creationId xmlns:p14="http://schemas.microsoft.com/office/powerpoint/2010/main" val="2354333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51</a:t>
            </a:fld>
            <a:endParaRPr lang="es-CO"/>
          </a:p>
        </p:txBody>
      </p:sp>
    </p:spTree>
    <p:extLst>
      <p:ext uri="{BB962C8B-B14F-4D97-AF65-F5344CB8AC3E}">
        <p14:creationId xmlns:p14="http://schemas.microsoft.com/office/powerpoint/2010/main" val="2638094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52</a:t>
            </a:fld>
            <a:endParaRPr lang="es-CO"/>
          </a:p>
        </p:txBody>
      </p:sp>
    </p:spTree>
    <p:extLst>
      <p:ext uri="{BB962C8B-B14F-4D97-AF65-F5344CB8AC3E}">
        <p14:creationId xmlns:p14="http://schemas.microsoft.com/office/powerpoint/2010/main" val="4269641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53</a:t>
            </a:fld>
            <a:endParaRPr lang="es-CO"/>
          </a:p>
        </p:txBody>
      </p:sp>
    </p:spTree>
    <p:extLst>
      <p:ext uri="{BB962C8B-B14F-4D97-AF65-F5344CB8AC3E}">
        <p14:creationId xmlns:p14="http://schemas.microsoft.com/office/powerpoint/2010/main" val="2225247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54</a:t>
            </a:fld>
            <a:endParaRPr lang="es-CO"/>
          </a:p>
        </p:txBody>
      </p:sp>
    </p:spTree>
    <p:extLst>
      <p:ext uri="{BB962C8B-B14F-4D97-AF65-F5344CB8AC3E}">
        <p14:creationId xmlns:p14="http://schemas.microsoft.com/office/powerpoint/2010/main" val="3166773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2511425" y="876300"/>
            <a:ext cx="4200525" cy="2363788"/>
          </a:xfrm>
        </p:spPr>
      </p:sp>
      <p:sp>
        <p:nvSpPr>
          <p:cNvPr id="3" name="Заметки 2"/>
          <p:cNvSpPr>
            <a:spLocks noGrp="1"/>
          </p:cNvSpPr>
          <p:nvPr>
            <p:ph type="body" idx="1"/>
          </p:nvPr>
        </p:nvSpPr>
        <p:spPr/>
        <p:txBody>
          <a:bodyPr/>
          <a:lstStyle/>
          <a:p>
            <a:endParaRPr lang="es-CO"/>
          </a:p>
        </p:txBody>
      </p:sp>
      <p:sp>
        <p:nvSpPr>
          <p:cNvPr id="4" name="Номер слайда 3"/>
          <p:cNvSpPr>
            <a:spLocks noGrp="1"/>
          </p:cNvSpPr>
          <p:nvPr>
            <p:ph type="sldNum" sz="quarter" idx="10"/>
          </p:nvPr>
        </p:nvSpPr>
        <p:spPr/>
        <p:txBody>
          <a:bodyPr/>
          <a:lstStyle/>
          <a:p>
            <a:fld id="{C006E74A-B404-473D-A7B0-32DDF2C5889D}" type="slidenum">
              <a:rPr lang="es-CO" smtClean="0"/>
              <a:t>55</a:t>
            </a:fld>
            <a:endParaRPr lang="es-CO"/>
          </a:p>
        </p:txBody>
      </p:sp>
    </p:spTree>
    <p:extLst>
      <p:ext uri="{BB962C8B-B14F-4D97-AF65-F5344CB8AC3E}">
        <p14:creationId xmlns:p14="http://schemas.microsoft.com/office/powerpoint/2010/main" val="2436824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90528F-EF33-4E43-A67C-AF2FA7C03926}" type="datetime1">
              <a:rPr lang="es-CO" smtClean="0"/>
              <a:t>17/08/2026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305541769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90528F-EF33-4E43-A67C-AF2FA7C03926}" type="datetime1">
              <a:rPr lang="es-CO" smtClean="0"/>
              <a:t>17/08/2026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58173349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90528F-EF33-4E43-A67C-AF2FA7C03926}" type="datetime1">
              <a:rPr lang="es-CO" smtClean="0"/>
              <a:t>17/08/2026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326029228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90528F-EF33-4E43-A67C-AF2FA7C03926}" type="datetime1">
              <a:rPr lang="es-CO" smtClean="0"/>
              <a:t>17/08/2026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103413075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90528F-EF33-4E43-A67C-AF2FA7C03926}" type="datetime1">
              <a:rPr lang="es-CO" smtClean="0"/>
              <a:t>17/08/2026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16524084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90528F-EF33-4E43-A67C-AF2FA7C03926}" type="datetime1">
              <a:rPr lang="es-CO" smtClean="0"/>
              <a:t>17/08/2026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347612125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90528F-EF33-4E43-A67C-AF2FA7C03926}" type="datetime1">
              <a:rPr lang="es-CO" smtClean="0"/>
              <a:t>17/08/2026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27504311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90528F-EF33-4E43-A67C-AF2FA7C03926}" type="datetime1">
              <a:rPr lang="es-CO" smtClean="0"/>
              <a:t>17/08/2026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248368056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490528F-EF33-4E43-A67C-AF2FA7C03926}" type="datetime1">
              <a:rPr lang="es-CO" smtClean="0"/>
              <a:t>17/08/2026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388977650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90528F-EF33-4E43-A67C-AF2FA7C03926}" type="datetime1">
              <a:rPr lang="es-CO" smtClean="0"/>
              <a:t>17/08/2026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157008081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90528F-EF33-4E43-A67C-AF2FA7C03926}" type="datetime1">
              <a:rPr lang="es-CO" smtClean="0"/>
              <a:t>17/08/2026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6B7FEC2-09BE-4569-8D55-B52F6B35789D}" type="slidenum">
              <a:rPr lang="es-CO" smtClean="0"/>
              <a:t>‹Nº›</a:t>
            </a:fld>
            <a:endParaRPr lang="es-CO"/>
          </a:p>
        </p:txBody>
      </p:sp>
    </p:spTree>
    <p:extLst>
      <p:ext uri="{BB962C8B-B14F-4D97-AF65-F5344CB8AC3E}">
        <p14:creationId xmlns:p14="http://schemas.microsoft.com/office/powerpoint/2010/main" val="320536209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90528F-EF33-4E43-A67C-AF2FA7C03926}" type="datetime1">
              <a:rPr lang="es-CO" smtClean="0"/>
              <a:t>17/08/2026</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B7FEC2-09BE-4569-8D55-B52F6B35789D}" type="slidenum">
              <a:rPr lang="es-CO" smtClean="0"/>
              <a:t>‹Nº›</a:t>
            </a:fld>
            <a:endParaRPr lang="es-CO"/>
          </a:p>
        </p:txBody>
      </p:sp>
    </p:spTree>
    <p:extLst>
      <p:ext uri="{BB962C8B-B14F-4D97-AF65-F5344CB8AC3E}">
        <p14:creationId xmlns:p14="http://schemas.microsoft.com/office/powerpoint/2010/main" val="24689590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1.gi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gif"/><Relationship Id="rId4" Type="http://schemas.openxmlformats.org/officeDocument/2006/relationships/image" Target="../media/image13.e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7.jpg"/><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8.jpe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7.gif"/><Relationship Id="rId5" Type="http://schemas.openxmlformats.org/officeDocument/2006/relationships/image" Target="../media/image36.jpeg"/><Relationship Id="rId4" Type="http://schemas.openxmlformats.org/officeDocument/2006/relationships/image" Target="../media/image35.jpeg"/></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41.emf"/></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43.emf"/><Relationship Id="rId4" Type="http://schemas.openxmlformats.org/officeDocument/2006/relationships/image" Target="../media/image42.emf"/></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7.e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0.jpe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2.jpg"/><Relationship Id="rId5" Type="http://schemas.openxmlformats.org/officeDocument/2006/relationships/image" Target="../media/image51.emf"/><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5.jpg"/><Relationship Id="rId5" Type="http://schemas.openxmlformats.org/officeDocument/2006/relationships/image" Target="../media/image54.pn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7.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6.emf"/><Relationship Id="rId5" Type="http://schemas.openxmlformats.org/officeDocument/2006/relationships/oleObject" Target="../embeddings/oleObject1.bin"/><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8.jpg"/><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9.jp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79"/>
          <p:cNvSpPr txBox="1">
            <a:spLocks noChangeArrowheads="1"/>
          </p:cNvSpPr>
          <p:nvPr/>
        </p:nvSpPr>
        <p:spPr bwMode="auto">
          <a:xfrm>
            <a:off x="2193724" y="729348"/>
            <a:ext cx="7802678"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CO" altLang="ko-KR" sz="1600" dirty="0">
                <a:solidFill>
                  <a:schemeClr val="accent1">
                    <a:lumMod val="50000"/>
                  </a:schemeClr>
                </a:solidFill>
                <a:ea typeface="굴림" panose="020B0600000101010101" pitchFamily="34" charset="-127"/>
              </a:rPr>
              <a:t>Aeronáutica Civil</a:t>
            </a:r>
          </a:p>
          <a:p>
            <a:pPr algn="ctr" eaLnBrk="1" hangingPunct="1"/>
            <a:r>
              <a:rPr lang="ru-RU" altLang="ko-KR" sz="2400" b="1" dirty="0">
                <a:solidFill>
                  <a:schemeClr val="accent1">
                    <a:lumMod val="50000"/>
                  </a:schemeClr>
                </a:solidFill>
                <a:ea typeface="굴림" panose="020B0600000101010101" pitchFamily="34" charset="-127"/>
              </a:rPr>
              <a:t> «</a:t>
            </a:r>
            <a:r>
              <a:rPr lang="es-CO" altLang="ko-KR" sz="2400" b="1" dirty="0">
                <a:solidFill>
                  <a:schemeClr val="accent1">
                    <a:lumMod val="50000"/>
                  </a:schemeClr>
                </a:solidFill>
                <a:ea typeface="굴림" panose="020B0600000101010101" pitchFamily="34" charset="-127"/>
              </a:rPr>
              <a:t>Centro de Estudios Aeronáuticos</a:t>
            </a:r>
            <a:r>
              <a:rPr lang="ru-RU" altLang="ko-KR" sz="2400" b="1" dirty="0">
                <a:solidFill>
                  <a:schemeClr val="accent1">
                    <a:lumMod val="50000"/>
                  </a:schemeClr>
                </a:solidFill>
                <a:ea typeface="굴림" panose="020B0600000101010101" pitchFamily="34" charset="-127"/>
              </a:rPr>
              <a:t>» </a:t>
            </a:r>
          </a:p>
          <a:p>
            <a:pPr algn="ctr" eaLnBrk="1" hangingPunct="1"/>
            <a:r>
              <a:rPr lang="ru-RU" altLang="ko-KR" sz="2400" b="1" dirty="0">
                <a:solidFill>
                  <a:schemeClr val="accent1">
                    <a:lumMod val="50000"/>
                  </a:schemeClr>
                </a:solidFill>
                <a:ea typeface="굴림" panose="020B0600000101010101" pitchFamily="34" charset="-127"/>
              </a:rPr>
              <a:t>(</a:t>
            </a:r>
            <a:r>
              <a:rPr lang="es-CO" altLang="ko-KR" sz="2400" b="1" dirty="0">
                <a:solidFill>
                  <a:schemeClr val="accent1">
                    <a:lumMod val="50000"/>
                  </a:schemeClr>
                </a:solidFill>
                <a:ea typeface="굴림" panose="020B0600000101010101" pitchFamily="34" charset="-127"/>
              </a:rPr>
              <a:t>CEA</a:t>
            </a:r>
            <a:r>
              <a:rPr lang="ru-RU" altLang="ko-KR" sz="2400" b="1" dirty="0">
                <a:solidFill>
                  <a:schemeClr val="accent1">
                    <a:lumMod val="50000"/>
                  </a:schemeClr>
                </a:solidFill>
                <a:ea typeface="굴림" panose="020B0600000101010101" pitchFamily="34" charset="-127"/>
              </a:rPr>
              <a:t>)</a:t>
            </a:r>
            <a:endParaRPr lang="en-US" altLang="ko-KR" sz="2400" b="1" dirty="0">
              <a:solidFill>
                <a:schemeClr val="accent1">
                  <a:lumMod val="50000"/>
                </a:schemeClr>
              </a:solidFill>
              <a:ea typeface="굴림" panose="020B0600000101010101" pitchFamily="34" charset="-127"/>
            </a:endParaRPr>
          </a:p>
        </p:txBody>
      </p:sp>
      <p:sp>
        <p:nvSpPr>
          <p:cNvPr id="6" name="TextBox 80"/>
          <p:cNvSpPr txBox="1">
            <a:spLocks noChangeArrowheads="1"/>
          </p:cNvSpPr>
          <p:nvPr/>
        </p:nvSpPr>
        <p:spPr bwMode="auto">
          <a:xfrm>
            <a:off x="1973659" y="3246833"/>
            <a:ext cx="84963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ko-KR" sz="3600" b="1" dirty="0">
                <a:solidFill>
                  <a:schemeClr val="accent1">
                    <a:lumMod val="75000"/>
                  </a:schemeClr>
                </a:solidFill>
              </a:rPr>
              <a:t>CNS / ATM Y FUNDAMENTOS DEL SISTEMA DE VIGILANCIA</a:t>
            </a:r>
            <a:endParaRPr lang="en-US" altLang="ko-KR" sz="3600" b="1" dirty="0">
              <a:solidFill>
                <a:schemeClr val="accent1">
                  <a:lumMod val="75000"/>
                </a:schemeClr>
              </a:solidFill>
            </a:endParaRPr>
          </a:p>
        </p:txBody>
      </p:sp>
      <p:sp>
        <p:nvSpPr>
          <p:cNvPr id="7" name="TextBox 115"/>
          <p:cNvSpPr txBox="1">
            <a:spLocks noChangeArrowheads="1"/>
          </p:cNvSpPr>
          <p:nvPr/>
        </p:nvSpPr>
        <p:spPr bwMode="auto">
          <a:xfrm>
            <a:off x="1891363" y="5759320"/>
            <a:ext cx="8407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20000"/>
              </a:spcBef>
            </a:pPr>
            <a:r>
              <a:rPr lang="es-CO" altLang="ko-KR" sz="2000" dirty="0"/>
              <a:t>Docente: </a:t>
            </a:r>
            <a:r>
              <a:rPr lang="x-none" altLang="ko-KR" sz="2000" dirty="0"/>
              <a:t>Ing. </a:t>
            </a:r>
            <a:r>
              <a:rPr lang="es-CO" altLang="ko-KR" sz="2000" dirty="0"/>
              <a:t>Marco Tulio Teran</a:t>
            </a:r>
            <a:endParaRPr lang="en-US" altLang="ko-KR" sz="2000" dirty="0"/>
          </a:p>
        </p:txBody>
      </p:sp>
      <p:sp>
        <p:nvSpPr>
          <p:cNvPr id="9" name="TextBox 8"/>
          <p:cNvSpPr txBox="1"/>
          <p:nvPr/>
        </p:nvSpPr>
        <p:spPr>
          <a:xfrm>
            <a:off x="3980259" y="2749392"/>
            <a:ext cx="4483100" cy="369332"/>
          </a:xfrm>
          <a:prstGeom prst="rect">
            <a:avLst/>
          </a:prstGeom>
          <a:noFill/>
        </p:spPr>
        <p:txBody>
          <a:bodyPr wrap="square" rtlCol="0">
            <a:spAutoFit/>
          </a:bodyPr>
          <a:lstStyle/>
          <a:p>
            <a:pPr algn="ctr"/>
            <a:r>
              <a:rPr lang="es-CO" dirty="0">
                <a:latin typeface="Arial" panose="020B0604020202020204" pitchFamily="34" charset="0"/>
                <a:cs typeface="Arial" panose="020B0604020202020204" pitchFamily="34" charset="0"/>
              </a:rPr>
              <a:t>Tema de la clase</a:t>
            </a:r>
            <a:r>
              <a:rPr lang="en-US" dirty="0">
                <a:latin typeface="Arial" panose="020B0604020202020204" pitchFamily="34" charset="0"/>
                <a:cs typeface="Arial" panose="020B0604020202020204" pitchFamily="34" charset="0"/>
              </a:rPr>
              <a:t>:</a:t>
            </a:r>
            <a:endParaRPr lang="es-CO" dirty="0">
              <a:latin typeface="Arial" panose="020B0604020202020204" pitchFamily="34" charset="0"/>
              <a:cs typeface="Arial" panose="020B0604020202020204" pitchFamily="34" charset="0"/>
            </a:endParaRPr>
          </a:p>
        </p:txBody>
      </p:sp>
      <p:pic>
        <p:nvPicPr>
          <p:cNvPr id="1026"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58" y="601239"/>
            <a:ext cx="1777916" cy="133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81059" y="800410"/>
            <a:ext cx="1368425" cy="717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904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2</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Introducción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Radar en la aviación comercial</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내용 개체 틀 2"/>
          <p:cNvSpPr txBox="1">
            <a:spLocks/>
          </p:cNvSpPr>
          <p:nvPr/>
        </p:nvSpPr>
        <p:spPr bwMode="auto">
          <a:xfrm>
            <a:off x="537834" y="1929937"/>
            <a:ext cx="1048466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0975" indent="-18097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buFont typeface="Wingdings" panose="05000000000000000000" pitchFamily="2" charset="2"/>
              <a:buChar char="§"/>
            </a:pPr>
            <a:r>
              <a:rPr lang="es-CO" sz="2400" dirty="0"/>
              <a:t>Las </a:t>
            </a:r>
            <a:r>
              <a:rPr lang="es-CO" sz="2400" b="1" dirty="0">
                <a:solidFill>
                  <a:srgbClr val="343399"/>
                </a:solidFill>
              </a:rPr>
              <a:t>aeronaves</a:t>
            </a:r>
            <a:r>
              <a:rPr lang="es-CO" sz="2400" dirty="0">
                <a:solidFill>
                  <a:srgbClr val="343399"/>
                </a:solidFill>
              </a:rPr>
              <a:t> </a:t>
            </a:r>
            <a:r>
              <a:rPr lang="es-CO" sz="2400" dirty="0"/>
              <a:t>deben informar de su posición a intervalos regulares.</a:t>
            </a:r>
          </a:p>
          <a:p>
            <a:pPr marL="342900" indent="-342900">
              <a:buFont typeface="Wingdings" panose="05000000000000000000" pitchFamily="2" charset="2"/>
              <a:buChar char="§"/>
            </a:pPr>
            <a:r>
              <a:rPr lang="es-CO" sz="2400" dirty="0"/>
              <a:t>El espacio aéreo se divide en regiones  FIR (Flight </a:t>
            </a:r>
            <a:r>
              <a:rPr lang="es-CO" sz="2400" dirty="0" err="1"/>
              <a:t>Information</a:t>
            </a:r>
            <a:r>
              <a:rPr lang="es-CO" sz="2400" dirty="0"/>
              <a:t> </a:t>
            </a:r>
            <a:r>
              <a:rPr lang="es-CO" sz="2400" dirty="0" err="1"/>
              <a:t>Region</a:t>
            </a:r>
            <a:r>
              <a:rPr lang="es-CO" sz="2400" dirty="0"/>
              <a:t>)</a:t>
            </a:r>
          </a:p>
          <a:p>
            <a:pPr marL="342900" indent="-342900">
              <a:buFont typeface="Wingdings" panose="05000000000000000000" pitchFamily="2" charset="2"/>
              <a:buChar char="§"/>
            </a:pPr>
            <a:r>
              <a:rPr lang="es-CO" sz="2400" dirty="0"/>
              <a:t>Espacio aéreo controlado – Espacio con servicio.</a:t>
            </a:r>
          </a:p>
          <a:p>
            <a:pPr marL="342900" indent="-342900">
              <a:buFont typeface="Wingdings" panose="05000000000000000000" pitchFamily="2" charset="2"/>
              <a:buChar char="§"/>
            </a:pPr>
            <a:r>
              <a:rPr lang="es-CO" sz="2400" dirty="0"/>
              <a:t>La mayor parte de las rutas aéreas están cubiertas por radares.</a:t>
            </a:r>
          </a:p>
          <a:p>
            <a:r>
              <a:rPr lang="es-CO" sz="2400" dirty="0"/>
              <a:t>Serie de problemas intervienen en las comunicaciones.</a:t>
            </a:r>
          </a:p>
          <a:p>
            <a:pPr marL="1019175" lvl="1" indent="-457200">
              <a:buClr>
                <a:srgbClr val="343399"/>
              </a:buClr>
              <a:buFont typeface="Wingdings" panose="05000000000000000000" pitchFamily="2" charset="2"/>
              <a:buChar char="§"/>
            </a:pPr>
            <a:r>
              <a:rPr lang="es-CO" sz="2400" dirty="0"/>
              <a:t>Físicos.</a:t>
            </a:r>
          </a:p>
          <a:p>
            <a:pPr marL="1019175" lvl="1" indent="-457200">
              <a:buClr>
                <a:srgbClr val="343399"/>
              </a:buClr>
              <a:buFont typeface="Wingdings" panose="05000000000000000000" pitchFamily="2" charset="2"/>
              <a:buChar char="§"/>
            </a:pPr>
            <a:r>
              <a:rPr lang="es-CO" sz="2400" dirty="0"/>
              <a:t>Técnicos.</a:t>
            </a:r>
          </a:p>
        </p:txBody>
      </p:sp>
      <p:sp>
        <p:nvSpPr>
          <p:cNvPr id="8" name="Rectangle 17">
            <a:extLst>
              <a:ext uri="{FF2B5EF4-FFF2-40B4-BE49-F238E27FC236}">
                <a16:creationId xmlns:a16="http://schemas.microsoft.com/office/drawing/2014/main" id="{6C67B76D-60C6-C240-62AA-E5DC00AE417B}"/>
              </a:ext>
            </a:extLst>
          </p:cNvPr>
          <p:cNvSpPr/>
          <p:nvPr/>
        </p:nvSpPr>
        <p:spPr>
          <a:xfrm>
            <a:off x="1210145" y="5004918"/>
            <a:ext cx="9140040" cy="954107"/>
          </a:xfrm>
          <a:prstGeom prst="rect">
            <a:avLst/>
          </a:prstGeom>
        </p:spPr>
        <p:txBody>
          <a:bodyPr wrap="square">
            <a:spAutoFit/>
          </a:bodyPr>
          <a:lstStyle/>
          <a:p>
            <a:r>
              <a:rPr lang="es-CO" sz="2800" b="1" i="1" dirty="0"/>
              <a:t>Tecnología de radares ha estado difundiéndose en todos los aspectos de navegación.</a:t>
            </a:r>
          </a:p>
        </p:txBody>
      </p:sp>
    </p:spTree>
    <p:extLst>
      <p:ext uri="{BB962C8B-B14F-4D97-AF65-F5344CB8AC3E}">
        <p14:creationId xmlns:p14="http://schemas.microsoft.com/office/powerpoint/2010/main" val="169506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E7EF9-2ECE-EE7D-7B36-747E873BF9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22D304-F3A7-2F3B-B4B8-83C2D3FFE5F1}"/>
              </a:ext>
            </a:extLst>
          </p:cNvPr>
          <p:cNvSpPr>
            <a:spLocks noGrp="1"/>
          </p:cNvSpPr>
          <p:nvPr>
            <p:ph type="sldNum" sz="quarter" idx="12"/>
          </p:nvPr>
        </p:nvSpPr>
        <p:spPr/>
        <p:txBody>
          <a:bodyPr/>
          <a:lstStyle/>
          <a:p>
            <a:fld id="{16B7FEC2-09BE-4569-8D55-B52F6B35789D}" type="slidenum">
              <a:rPr lang="es-CO" smtClean="0"/>
              <a:t>3</a:t>
            </a:fld>
            <a:endParaRPr lang="es-CO" dirty="0"/>
          </a:p>
        </p:txBody>
      </p:sp>
      <p:sp>
        <p:nvSpPr>
          <p:cNvPr id="3" name="내용 개체 틀 2">
            <a:extLst>
              <a:ext uri="{FF2B5EF4-FFF2-40B4-BE49-F238E27FC236}">
                <a16:creationId xmlns:a16="http://schemas.microsoft.com/office/drawing/2014/main" id="{8D478EF1-788F-3A9F-5DCF-53CEA9A3B7F1}"/>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Introducción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F09F70C2-3423-B4FA-5389-B9745A4A02DA}"/>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Radar en la aviación comercial</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12D40528-0992-F53E-DB20-E4662720D3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1D67D77C-BEDA-D3DB-2FB8-3E01FBBE5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a:extLst>
              <a:ext uri="{FF2B5EF4-FFF2-40B4-BE49-F238E27FC236}">
                <a16:creationId xmlns:a16="http://schemas.microsoft.com/office/drawing/2014/main" id="{49822E6E-7291-C715-2946-BF99FCD3969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3805121" y="1480337"/>
            <a:ext cx="4617582" cy="3716407"/>
          </a:xfrm>
          <a:prstGeom prst="rect">
            <a:avLst/>
          </a:prstGeom>
          <a:noFill/>
          <a:ln>
            <a:noFill/>
          </a:ln>
        </p:spPr>
      </p:pic>
      <p:sp>
        <p:nvSpPr>
          <p:cNvPr id="17" name="Rectangle 16">
            <a:extLst>
              <a:ext uri="{FF2B5EF4-FFF2-40B4-BE49-F238E27FC236}">
                <a16:creationId xmlns:a16="http://schemas.microsoft.com/office/drawing/2014/main" id="{BE159F75-A377-1A09-49D7-13B3C53722A1}"/>
              </a:ext>
            </a:extLst>
          </p:cNvPr>
          <p:cNvSpPr/>
          <p:nvPr/>
        </p:nvSpPr>
        <p:spPr>
          <a:xfrm>
            <a:off x="577929" y="5519482"/>
            <a:ext cx="11036141" cy="830997"/>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s-CO" sz="2400" dirty="0"/>
              <a:t>El </a:t>
            </a:r>
            <a:r>
              <a:rPr lang="es-CO" sz="2400" b="1" dirty="0"/>
              <a:t>Controlador de tráfico  - </a:t>
            </a:r>
            <a:r>
              <a:rPr lang="es-CO" sz="2400" dirty="0"/>
              <a:t>dirigir el tránsito de aeronaves en el espacio aéreo y en los aeropuertos, de modo seguro, ordenado y rápido.</a:t>
            </a:r>
          </a:p>
        </p:txBody>
      </p:sp>
    </p:spTree>
    <p:extLst>
      <p:ext uri="{BB962C8B-B14F-4D97-AF65-F5344CB8AC3E}">
        <p14:creationId xmlns:p14="http://schemas.microsoft.com/office/powerpoint/2010/main" val="397677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522E4D9-0E23-F41E-756D-776E6C6E23CA}"/>
              </a:ext>
            </a:extLst>
          </p:cNvPr>
          <p:cNvSpPr>
            <a:spLocks noGrp="1"/>
          </p:cNvSpPr>
          <p:nvPr>
            <p:ph type="sldNum" sz="quarter" idx="12"/>
          </p:nvPr>
        </p:nvSpPr>
        <p:spPr/>
        <p:txBody>
          <a:bodyPr/>
          <a:lstStyle/>
          <a:p>
            <a:fld id="{16B7FEC2-09BE-4569-8D55-B52F6B35789D}" type="slidenum">
              <a:rPr lang="es-CO" smtClean="0"/>
              <a:t>4</a:t>
            </a:fld>
            <a:endParaRPr lang="es-CO"/>
          </a:p>
        </p:txBody>
      </p:sp>
      <p:sp>
        <p:nvSpPr>
          <p:cNvPr id="4" name="CuadroTexto 3">
            <a:extLst>
              <a:ext uri="{FF2B5EF4-FFF2-40B4-BE49-F238E27FC236}">
                <a16:creationId xmlns:a16="http://schemas.microsoft.com/office/drawing/2014/main" id="{258008BC-C134-DF2F-61BE-442F7CAC72E3}"/>
              </a:ext>
            </a:extLst>
          </p:cNvPr>
          <p:cNvSpPr txBox="1"/>
          <p:nvPr/>
        </p:nvSpPr>
        <p:spPr>
          <a:xfrm>
            <a:off x="410904" y="2307437"/>
            <a:ext cx="11383294" cy="2246769"/>
          </a:xfrm>
          <a:prstGeom prst="rect">
            <a:avLst/>
          </a:prstGeom>
          <a:noFill/>
        </p:spPr>
        <p:txBody>
          <a:bodyPr wrap="square">
            <a:spAutoFit/>
          </a:bodyPr>
          <a:lstStyle/>
          <a:p>
            <a:pPr indent="-180975"/>
            <a:r>
              <a:rPr lang="es-CO" sz="2800" b="1" dirty="0">
                <a:solidFill>
                  <a:srgbClr val="000000"/>
                </a:solidFill>
                <a:latin typeface="Arial" panose="020B0604020202020204" pitchFamily="34" charset="0"/>
              </a:rPr>
              <a:t>Meta: </a:t>
            </a:r>
            <a:r>
              <a:rPr lang="es-CO" sz="2800" dirty="0">
                <a:solidFill>
                  <a:srgbClr val="000000"/>
                </a:solidFill>
                <a:latin typeface="Arial" panose="020B0604020202020204" pitchFamily="34" charset="0"/>
              </a:rPr>
              <a:t>Transmisión de un mensaje utilizando una onda </a:t>
            </a:r>
            <a:r>
              <a:rPr lang="es-CO" sz="2800" dirty="0" err="1">
                <a:solidFill>
                  <a:srgbClr val="000000"/>
                </a:solidFill>
                <a:latin typeface="Arial" panose="020B0604020202020204" pitchFamily="34" charset="0"/>
              </a:rPr>
              <a:t>electromágnetica</a:t>
            </a:r>
            <a:endParaRPr lang="es-CO" sz="2800" dirty="0"/>
          </a:p>
          <a:p>
            <a:pPr marL="342900" lvl="0" indent="-342900" fontAlgn="base">
              <a:buFont typeface="Arial" panose="020B0604020202020204" pitchFamily="34" charset="0"/>
              <a:buChar char="•"/>
            </a:pPr>
            <a:r>
              <a:rPr lang="es-CO" sz="2800" dirty="0">
                <a:solidFill>
                  <a:srgbClr val="000000"/>
                </a:solidFill>
                <a:latin typeface="Arial" panose="020B0604020202020204" pitchFamily="34" charset="0"/>
              </a:rPr>
              <a:t>Canal </a:t>
            </a:r>
            <a:r>
              <a:rPr lang="es-CO" sz="2800" dirty="0" err="1">
                <a:solidFill>
                  <a:srgbClr val="000000"/>
                </a:solidFill>
                <a:latin typeface="Arial" panose="020B0604020202020204" pitchFamily="34" charset="0"/>
              </a:rPr>
              <a:t>pasabanda</a:t>
            </a:r>
            <a:r>
              <a:rPr lang="es-CO" sz="2800" dirty="0">
                <a:solidFill>
                  <a:srgbClr val="000000"/>
                </a:solidFill>
                <a:latin typeface="Arial" panose="020B0604020202020204" pitchFamily="34" charset="0"/>
              </a:rPr>
              <a:t> de interés – enlace de radios microondas, canal de comunicación satelital o similares</a:t>
            </a:r>
            <a:endParaRPr lang="es-CO" sz="2800" dirty="0">
              <a:solidFill>
                <a:srgbClr val="343399"/>
              </a:solidFill>
              <a:latin typeface="Noto Sans Symbols"/>
            </a:endParaRPr>
          </a:p>
          <a:p>
            <a:pPr indent="-180975"/>
            <a:r>
              <a:rPr lang="es-CO" sz="2800" b="1" dirty="0">
                <a:solidFill>
                  <a:srgbClr val="000000"/>
                </a:solidFill>
                <a:latin typeface="Arial" panose="020B0604020202020204" pitchFamily="34" charset="0"/>
              </a:rPr>
              <a:t>Solución: </a:t>
            </a:r>
            <a:r>
              <a:rPr lang="es-CO" sz="2800" dirty="0">
                <a:solidFill>
                  <a:srgbClr val="000000"/>
                </a:solidFill>
                <a:latin typeface="Arial" panose="020B0604020202020204" pitchFamily="34" charset="0"/>
              </a:rPr>
              <a:t>Utilización de métodos de modulación digital.</a:t>
            </a:r>
            <a:endParaRPr lang="es-CO" sz="2800" b="0" i="0" u="none" strike="noStrike" dirty="0">
              <a:solidFill>
                <a:srgbClr val="343399"/>
              </a:solidFill>
              <a:effectLst/>
              <a:latin typeface="Noto Sans Symbols"/>
            </a:endParaRPr>
          </a:p>
        </p:txBody>
      </p:sp>
      <p:sp>
        <p:nvSpPr>
          <p:cNvPr id="6" name="내용 개체 틀 2">
            <a:extLst>
              <a:ext uri="{FF2B5EF4-FFF2-40B4-BE49-F238E27FC236}">
                <a16:creationId xmlns:a16="http://schemas.microsoft.com/office/drawing/2014/main" id="{723080F6-E777-0F7F-8646-DC7B0BD78B49}"/>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Introducción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8" name="내용 개체 틀 2">
            <a:extLst>
              <a:ext uri="{FF2B5EF4-FFF2-40B4-BE49-F238E27FC236}">
                <a16:creationId xmlns:a16="http://schemas.microsoft.com/office/drawing/2014/main" id="{4669D5B4-F81E-6D9E-3EA1-C2E2FACBFCBD}"/>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Transmisión de datos </a:t>
            </a:r>
            <a:r>
              <a:rPr lang="es-419" sz="2400" b="1" dirty="0" err="1">
                <a:solidFill>
                  <a:schemeClr val="accent1">
                    <a:lumMod val="75000"/>
                  </a:schemeClr>
                </a:solidFill>
                <a:cs typeface="Arial" panose="020B0604020202020204" pitchFamily="34" charset="0"/>
              </a:rPr>
              <a:t>pasobanda</a:t>
            </a:r>
            <a:endParaRPr lang="es-419" sz="2400" b="1" dirty="0">
              <a:solidFill>
                <a:schemeClr val="accent1">
                  <a:lumMod val="75000"/>
                </a:schemeClr>
              </a:solidFill>
              <a:cs typeface="Arial" panose="020B0604020202020204" pitchFamily="34" charset="0"/>
            </a:endParaRPr>
          </a:p>
        </p:txBody>
      </p:sp>
      <p:pic>
        <p:nvPicPr>
          <p:cNvPr id="10" name="Imagen 1" descr="Descripción: D:\$JOHANNA SANTAMARIA\JOHANNA TERESA\0 RESULTADO REDISEÑO SGC\PROCESOS\logos en alta\logo vertical pixeles.jpg">
            <a:extLst>
              <a:ext uri="{FF2B5EF4-FFF2-40B4-BE49-F238E27FC236}">
                <a16:creationId xmlns:a16="http://schemas.microsoft.com/office/drawing/2014/main" id="{971F73F5-5DCF-F151-6DBB-C0674F755A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logo cea">
            <a:extLst>
              <a:ext uri="{FF2B5EF4-FFF2-40B4-BE49-F238E27FC236}">
                <a16:creationId xmlns:a16="http://schemas.microsoft.com/office/drawing/2014/main" id="{8C481325-2FCA-3136-C635-7D5D7C7250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2764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CEF7-53DF-9698-1ED5-8E129C4145BB}"/>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1C9E0FC-445B-4443-C084-B823843E71A3}"/>
              </a:ext>
            </a:extLst>
          </p:cNvPr>
          <p:cNvSpPr>
            <a:spLocks noGrp="1"/>
          </p:cNvSpPr>
          <p:nvPr>
            <p:ph type="sldNum" sz="quarter" idx="12"/>
          </p:nvPr>
        </p:nvSpPr>
        <p:spPr/>
        <p:txBody>
          <a:bodyPr/>
          <a:lstStyle/>
          <a:p>
            <a:fld id="{16B7FEC2-09BE-4569-8D55-B52F6B35789D}" type="slidenum">
              <a:rPr lang="es-CO" smtClean="0"/>
              <a:t>5</a:t>
            </a:fld>
            <a:endParaRPr lang="es-CO"/>
          </a:p>
        </p:txBody>
      </p:sp>
      <p:sp>
        <p:nvSpPr>
          <p:cNvPr id="4" name="CuadroTexto 3">
            <a:extLst>
              <a:ext uri="{FF2B5EF4-FFF2-40B4-BE49-F238E27FC236}">
                <a16:creationId xmlns:a16="http://schemas.microsoft.com/office/drawing/2014/main" id="{3604D31C-A4AE-1DEC-4A5B-040FEA73B0AC}"/>
              </a:ext>
            </a:extLst>
          </p:cNvPr>
          <p:cNvSpPr txBox="1"/>
          <p:nvPr/>
        </p:nvSpPr>
        <p:spPr>
          <a:xfrm>
            <a:off x="562271" y="1356631"/>
            <a:ext cx="11383294" cy="2246769"/>
          </a:xfrm>
          <a:prstGeom prst="rect">
            <a:avLst/>
          </a:prstGeom>
          <a:noFill/>
        </p:spPr>
        <p:txBody>
          <a:bodyPr wrap="square">
            <a:spAutoFit/>
          </a:bodyPr>
          <a:lstStyle/>
          <a:p>
            <a:pPr rtl="0">
              <a:buNone/>
            </a:pPr>
            <a:r>
              <a:rPr lang="es-CO" sz="2800" b="1" i="0" u="none" strike="noStrike" dirty="0">
                <a:solidFill>
                  <a:srgbClr val="343399"/>
                </a:solidFill>
                <a:effectLst/>
                <a:latin typeface="Arial" panose="020B0604020202020204" pitchFamily="34" charset="0"/>
              </a:rPr>
              <a:t>Modulación digital: </a:t>
            </a:r>
            <a:r>
              <a:rPr lang="es-CO" sz="2800" b="0" i="0" u="none" strike="noStrike" dirty="0">
                <a:solidFill>
                  <a:srgbClr val="000000"/>
                </a:solidFill>
                <a:effectLst/>
                <a:latin typeface="Arial" panose="020B0604020202020204" pitchFamily="34" charset="0"/>
              </a:rPr>
              <a:t>Conmutación (llaveo) de los radio-parámetros de la señal portadora</a:t>
            </a:r>
            <a:endParaRPr lang="es-CO" sz="2800" b="0" dirty="0">
              <a:effectLst/>
            </a:endParaRPr>
          </a:p>
          <a:p>
            <a:pPr marL="342900" lvl="0" indent="-342900" rtl="0" fontAlgn="base">
              <a:buFont typeface="Arial" panose="020B0604020202020204" pitchFamily="34" charset="0"/>
              <a:buChar char="•"/>
            </a:pPr>
            <a:r>
              <a:rPr lang="es-CO" sz="2800" b="0" i="0" u="none" strike="noStrike" dirty="0">
                <a:solidFill>
                  <a:srgbClr val="000000"/>
                </a:solidFill>
                <a:effectLst/>
                <a:latin typeface="Arial" panose="020B0604020202020204" pitchFamily="34" charset="0"/>
              </a:rPr>
              <a:t>Amplitud - A</a:t>
            </a:r>
            <a:endParaRPr lang="es-CO" sz="2800" b="0" i="0" u="none" strike="noStrike" dirty="0">
              <a:solidFill>
                <a:srgbClr val="343399"/>
              </a:solidFill>
              <a:effectLst/>
              <a:latin typeface="Noto Sans Symbols"/>
            </a:endParaRPr>
          </a:p>
          <a:p>
            <a:pPr marL="342900" lvl="0" indent="-342900" rtl="0" fontAlgn="base">
              <a:buFont typeface="Arial" panose="020B0604020202020204" pitchFamily="34" charset="0"/>
              <a:buChar char="•"/>
            </a:pPr>
            <a:r>
              <a:rPr lang="es-CO" sz="2800" b="0" i="0" u="none" strike="noStrike" dirty="0">
                <a:solidFill>
                  <a:srgbClr val="000000"/>
                </a:solidFill>
                <a:effectLst/>
                <a:latin typeface="Arial" panose="020B0604020202020204" pitchFamily="34" charset="0"/>
              </a:rPr>
              <a:t>Frecuencia - </a:t>
            </a:r>
            <a:r>
              <a:rPr lang="es-CO" sz="2800" b="0" i="1" u="none" strike="noStrike" dirty="0" err="1">
                <a:solidFill>
                  <a:srgbClr val="000000"/>
                </a:solidFill>
                <a:effectLst/>
                <a:latin typeface="Arial" panose="020B0604020202020204" pitchFamily="34" charset="0"/>
              </a:rPr>
              <a:t>f</a:t>
            </a:r>
            <a:r>
              <a:rPr lang="es-CO" sz="2800" b="0" i="1" u="none" strike="noStrike" baseline="-25000" dirty="0" err="1">
                <a:solidFill>
                  <a:srgbClr val="000000"/>
                </a:solidFill>
                <a:effectLst/>
                <a:latin typeface="Arial" panose="020B0604020202020204" pitchFamily="34" charset="0"/>
              </a:rPr>
              <a:t>c</a:t>
            </a:r>
            <a:endParaRPr lang="es-CO" sz="2800" b="0" i="0" u="none" strike="noStrike" dirty="0">
              <a:solidFill>
                <a:srgbClr val="343399"/>
              </a:solidFill>
              <a:effectLst/>
              <a:latin typeface="Noto Sans Symbols"/>
            </a:endParaRPr>
          </a:p>
          <a:p>
            <a:pPr marL="342900" lvl="0" indent="-342900" rtl="0" fontAlgn="base">
              <a:buFont typeface="Arial" panose="020B0604020202020204" pitchFamily="34" charset="0"/>
              <a:buChar char="•"/>
            </a:pPr>
            <a:r>
              <a:rPr lang="es-CO" sz="2800" b="0" i="0" u="none" strike="noStrike" dirty="0">
                <a:solidFill>
                  <a:srgbClr val="000000"/>
                </a:solidFill>
                <a:effectLst/>
                <a:latin typeface="Arial" panose="020B0604020202020204" pitchFamily="34" charset="0"/>
              </a:rPr>
              <a:t>Fase - </a:t>
            </a:r>
            <a:r>
              <a:rPr lang="es-CO" sz="2800" b="0" i="1" u="none" strike="noStrike" dirty="0">
                <a:solidFill>
                  <a:srgbClr val="000000"/>
                </a:solidFill>
                <a:effectLst/>
                <a:latin typeface="Arial" panose="020B0604020202020204" pitchFamily="34" charset="0"/>
              </a:rPr>
              <a:t>ϕ</a:t>
            </a:r>
            <a:endParaRPr lang="es-CO" sz="2800" b="0" i="0" u="none" strike="noStrike" dirty="0">
              <a:solidFill>
                <a:srgbClr val="343399"/>
              </a:solidFill>
              <a:effectLst/>
              <a:latin typeface="Noto Sans Symbols"/>
            </a:endParaRPr>
          </a:p>
        </p:txBody>
      </p:sp>
      <p:sp>
        <p:nvSpPr>
          <p:cNvPr id="6" name="내용 개체 틀 2">
            <a:extLst>
              <a:ext uri="{FF2B5EF4-FFF2-40B4-BE49-F238E27FC236}">
                <a16:creationId xmlns:a16="http://schemas.microsoft.com/office/drawing/2014/main" id="{D8C7F14A-B2D9-E267-538C-4B07DF84F328}"/>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Introducción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8" name="내용 개체 틀 2">
            <a:extLst>
              <a:ext uri="{FF2B5EF4-FFF2-40B4-BE49-F238E27FC236}">
                <a16:creationId xmlns:a16="http://schemas.microsoft.com/office/drawing/2014/main" id="{57A3AC27-420F-805E-9322-9AB3C33E198D}"/>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Transmisión de datos </a:t>
            </a:r>
            <a:r>
              <a:rPr lang="es-419" sz="2400" b="1" dirty="0" err="1">
                <a:solidFill>
                  <a:schemeClr val="accent1">
                    <a:lumMod val="75000"/>
                  </a:schemeClr>
                </a:solidFill>
                <a:cs typeface="Arial" panose="020B0604020202020204" pitchFamily="34" charset="0"/>
              </a:rPr>
              <a:t>pasobanda</a:t>
            </a:r>
            <a:endParaRPr lang="es-419" sz="2400" b="1" dirty="0">
              <a:solidFill>
                <a:schemeClr val="accent1">
                  <a:lumMod val="75000"/>
                </a:schemeClr>
              </a:solidFill>
              <a:cs typeface="Arial" panose="020B0604020202020204" pitchFamily="34" charset="0"/>
            </a:endParaRPr>
          </a:p>
        </p:txBody>
      </p:sp>
      <p:pic>
        <p:nvPicPr>
          <p:cNvPr id="10" name="Imagen 1" descr="Descripción: D:\$JOHANNA SANTAMARIA\JOHANNA TERESA\0 RESULTADO REDISEÑO SGC\PROCESOS\logos en alta\logo vertical pixeles.jpg">
            <a:extLst>
              <a:ext uri="{FF2B5EF4-FFF2-40B4-BE49-F238E27FC236}">
                <a16:creationId xmlns:a16="http://schemas.microsoft.com/office/drawing/2014/main" id="{C93DB364-0EE5-3989-42EF-A87D7DEC27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logo cea">
            <a:extLst>
              <a:ext uri="{FF2B5EF4-FFF2-40B4-BE49-F238E27FC236}">
                <a16:creationId xmlns:a16="http://schemas.microsoft.com/office/drawing/2014/main" id="{6F0EB614-B8FC-2AD4-1170-9D2CFA8319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Imagen 14">
            <a:extLst>
              <a:ext uri="{FF2B5EF4-FFF2-40B4-BE49-F238E27FC236}">
                <a16:creationId xmlns:a16="http://schemas.microsoft.com/office/drawing/2014/main" id="{5F45AEE5-8DDF-A35D-AE8D-40852B7DB383}"/>
              </a:ext>
            </a:extLst>
          </p:cNvPr>
          <p:cNvPicPr>
            <a:picLocks noChangeAspect="1"/>
          </p:cNvPicPr>
          <p:nvPr/>
        </p:nvPicPr>
        <p:blipFill>
          <a:blip r:embed="rId4"/>
          <a:stretch>
            <a:fillRect/>
          </a:stretch>
        </p:blipFill>
        <p:spPr>
          <a:xfrm>
            <a:off x="3295872" y="3767187"/>
            <a:ext cx="6006963" cy="2657317"/>
          </a:xfrm>
          <a:prstGeom prst="rect">
            <a:avLst/>
          </a:prstGeom>
        </p:spPr>
      </p:pic>
      <p:pic>
        <p:nvPicPr>
          <p:cNvPr id="3" name="Imagen 2">
            <a:extLst>
              <a:ext uri="{FF2B5EF4-FFF2-40B4-BE49-F238E27FC236}">
                <a16:creationId xmlns:a16="http://schemas.microsoft.com/office/drawing/2014/main" id="{F5DC5F1E-63F4-B317-FAD9-CA8DD6347E10}"/>
              </a:ext>
            </a:extLst>
          </p:cNvPr>
          <p:cNvPicPr>
            <a:picLocks noChangeAspect="1"/>
          </p:cNvPicPr>
          <p:nvPr/>
        </p:nvPicPr>
        <p:blipFill>
          <a:blip r:embed="rId5"/>
          <a:stretch>
            <a:fillRect/>
          </a:stretch>
        </p:blipFill>
        <p:spPr>
          <a:xfrm>
            <a:off x="5265017" y="2480015"/>
            <a:ext cx="3924300" cy="609600"/>
          </a:xfrm>
          <a:prstGeom prst="rect">
            <a:avLst/>
          </a:prstGeom>
        </p:spPr>
      </p:pic>
    </p:spTree>
    <p:extLst>
      <p:ext uri="{BB962C8B-B14F-4D97-AF65-F5344CB8AC3E}">
        <p14:creationId xmlns:p14="http://schemas.microsoft.com/office/powerpoint/2010/main" val="4221136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9DB83B4-B92A-8C7E-4E2F-52E8A26D5952}"/>
              </a:ext>
            </a:extLst>
          </p:cNvPr>
          <p:cNvSpPr>
            <a:spLocks noGrp="1"/>
          </p:cNvSpPr>
          <p:nvPr>
            <p:ph type="sldNum" sz="quarter" idx="12"/>
          </p:nvPr>
        </p:nvSpPr>
        <p:spPr/>
        <p:txBody>
          <a:bodyPr/>
          <a:lstStyle/>
          <a:p>
            <a:fld id="{16B7FEC2-09BE-4569-8D55-B52F6B35789D}" type="slidenum">
              <a:rPr lang="es-CO" smtClean="0"/>
              <a:t>6</a:t>
            </a:fld>
            <a:endParaRPr lang="es-CO"/>
          </a:p>
        </p:txBody>
      </p:sp>
      <p:pic>
        <p:nvPicPr>
          <p:cNvPr id="3" name="Imagen 2" descr="In the propagation of electromagnetic waves the angle class 12 physics CBSE">
            <a:extLst>
              <a:ext uri="{FF2B5EF4-FFF2-40B4-BE49-F238E27FC236}">
                <a16:creationId xmlns:a16="http://schemas.microsoft.com/office/drawing/2014/main" id="{49E87E61-5326-0EF6-827A-AFED0DF39E1B}"/>
              </a:ext>
            </a:extLst>
          </p:cNvPr>
          <p:cNvPicPr>
            <a:picLocks noChangeAspect="1"/>
          </p:cNvPicPr>
          <p:nvPr/>
        </p:nvPicPr>
        <p:blipFill>
          <a:blip r:embed="rId2"/>
          <a:stretch>
            <a:fillRect/>
          </a:stretch>
        </p:blipFill>
        <p:spPr>
          <a:xfrm>
            <a:off x="1916654" y="465571"/>
            <a:ext cx="8465477" cy="5926858"/>
          </a:xfrm>
          <a:prstGeom prst="rect">
            <a:avLst/>
          </a:prstGeom>
        </p:spPr>
      </p:pic>
    </p:spTree>
    <p:extLst>
      <p:ext uri="{BB962C8B-B14F-4D97-AF65-F5344CB8AC3E}">
        <p14:creationId xmlns:p14="http://schemas.microsoft.com/office/powerpoint/2010/main" val="3877679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7</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Fundamentos</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67448" y="1760114"/>
            <a:ext cx="11686027" cy="1077218"/>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ES" sz="3200" dirty="0"/>
              <a:t>Se puede medir el alcance, o la distancia, con base en las propiedades de la energía electromagnética radiada</a:t>
            </a:r>
            <a:endParaRPr lang="en-US" sz="3200" dirty="0"/>
          </a:p>
        </p:txBody>
      </p:sp>
      <p:sp>
        <p:nvSpPr>
          <p:cNvPr id="9" name="28 Rectángulo"/>
          <p:cNvSpPr>
            <a:spLocks noChangeArrowheads="1"/>
          </p:cNvSpPr>
          <p:nvPr/>
        </p:nvSpPr>
        <p:spPr bwMode="auto">
          <a:xfrm>
            <a:off x="453244" y="3142597"/>
            <a:ext cx="11600231" cy="2246769"/>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000" b="0" dirty="0">
                <a:latin typeface="+mn-lt"/>
                <a:cs typeface="Lucida Sans" pitchFamily="34" charset="0"/>
              </a:rPr>
              <a:t>Esta energía normalmente viaja a través del espacio en línea recta, a velocidad constante y con variaciones mínimas ocasionadas por fenómenos atmosféricos y condiciones meteorológicas, que se detallarán más adelante; sin embargo en este punto se ignorarán temporalmente para efecto del cálculo de la distancia.</a:t>
            </a:r>
          </a:p>
          <a:p>
            <a:r>
              <a:rPr lang="es-ES" sz="2000" b="0" dirty="0">
                <a:latin typeface="+mn-lt"/>
                <a:cs typeface="Lucida Sans" pitchFamily="34" charset="0"/>
              </a:rPr>
              <a:t>La energía electromagnética viaja a través del aire a aproximadamente la velocidad de la luz,</a:t>
            </a:r>
          </a:p>
          <a:p>
            <a:pPr marL="285750" indent="-285750">
              <a:buFont typeface="Wingdings" panose="05000000000000000000" pitchFamily="2" charset="2"/>
              <a:buChar char="§"/>
            </a:pPr>
            <a:r>
              <a:rPr lang="es-ES" sz="2000" b="0" dirty="0">
                <a:latin typeface="+mn-lt"/>
                <a:cs typeface="Lucida Sans" pitchFamily="34" charset="0"/>
              </a:rPr>
              <a:t>300 000 kilómetros por segundo o</a:t>
            </a:r>
          </a:p>
          <a:p>
            <a:pPr marL="285750" indent="-285750">
              <a:buFont typeface="Wingdings" panose="05000000000000000000" pitchFamily="2" charset="2"/>
              <a:buChar char="§"/>
            </a:pPr>
            <a:r>
              <a:rPr lang="es-ES" sz="2000" b="0" dirty="0">
                <a:latin typeface="+mn-lt"/>
                <a:cs typeface="Lucida Sans" pitchFamily="34" charset="0"/>
              </a:rPr>
              <a:t>186 000 millas terrestres por segundo o</a:t>
            </a:r>
          </a:p>
          <a:p>
            <a:pPr marL="285750" indent="-285750">
              <a:buFont typeface="Wingdings" panose="05000000000000000000" pitchFamily="2" charset="2"/>
              <a:buChar char="§"/>
            </a:pPr>
            <a:r>
              <a:rPr lang="es-ES" sz="2000" b="0" dirty="0">
                <a:latin typeface="+mn-lt"/>
                <a:cs typeface="Lucida Sans" pitchFamily="34" charset="0"/>
              </a:rPr>
              <a:t>162 000 millas náuticas por segundo.</a:t>
            </a:r>
          </a:p>
        </p:txBody>
      </p:sp>
    </p:spTree>
    <p:extLst>
      <p:ext uri="{BB962C8B-B14F-4D97-AF65-F5344CB8AC3E}">
        <p14:creationId xmlns:p14="http://schemas.microsoft.com/office/powerpoint/2010/main" val="3092776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ECA74-F74D-135B-6ACF-71AD69BC39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C89FFC-AA71-DF7E-B72B-2A9DAAEB45F0}"/>
              </a:ext>
            </a:extLst>
          </p:cNvPr>
          <p:cNvSpPr>
            <a:spLocks noGrp="1"/>
          </p:cNvSpPr>
          <p:nvPr>
            <p:ph type="sldNum" sz="quarter" idx="12"/>
          </p:nvPr>
        </p:nvSpPr>
        <p:spPr/>
        <p:txBody>
          <a:bodyPr/>
          <a:lstStyle/>
          <a:p>
            <a:fld id="{16B7FEC2-09BE-4569-8D55-B52F6B35789D}" type="slidenum">
              <a:rPr lang="es-CO" smtClean="0"/>
              <a:t>8</a:t>
            </a:fld>
            <a:endParaRPr lang="es-CO" dirty="0"/>
          </a:p>
        </p:txBody>
      </p:sp>
      <p:sp>
        <p:nvSpPr>
          <p:cNvPr id="3" name="내용 개체 틀 2">
            <a:extLst>
              <a:ext uri="{FF2B5EF4-FFF2-40B4-BE49-F238E27FC236}">
                <a16:creationId xmlns:a16="http://schemas.microsoft.com/office/drawing/2014/main" id="{CDCA336F-D6EB-1490-1FCB-42ECE9089A3F}"/>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8115035F-42F8-5B84-8175-D5FAE6DE4696}"/>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Fundamentos</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A86BC89D-2A7F-997D-6E5B-FE76A4B39A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BFEA93BC-14EF-E65D-E69F-D4563F0782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30 Rectángulo">
            <a:extLst>
              <a:ext uri="{FF2B5EF4-FFF2-40B4-BE49-F238E27FC236}">
                <a16:creationId xmlns:a16="http://schemas.microsoft.com/office/drawing/2014/main" id="{E3EDC83A-DC31-3567-74C8-DC6C0898CB6A}"/>
              </a:ext>
            </a:extLst>
          </p:cNvPr>
          <p:cNvSpPr>
            <a:spLocks noChangeArrowheads="1"/>
          </p:cNvSpPr>
          <p:nvPr/>
        </p:nvSpPr>
        <p:spPr bwMode="auto">
          <a:xfrm>
            <a:off x="853057" y="2835193"/>
            <a:ext cx="10474423" cy="2062103"/>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3200" b="0" dirty="0">
                <a:solidFill>
                  <a:schemeClr val="bg1"/>
                </a:solidFill>
                <a:latin typeface="+mn-lt"/>
                <a:cs typeface="Lucida Sans" pitchFamily="34" charset="0"/>
              </a:rPr>
              <a:t>Las ondas electromagnéticas se reflejan sobre superficies conductoras; por lo tanto, si las ondas reflejadas retornan al punto de emisión de las ondas se puede inferir que se encuentra un obstáculo en la trayectoria de propagación.</a:t>
            </a:r>
          </a:p>
        </p:txBody>
      </p:sp>
    </p:spTree>
    <p:extLst>
      <p:ext uri="{BB962C8B-B14F-4D97-AF65-F5344CB8AC3E}">
        <p14:creationId xmlns:p14="http://schemas.microsoft.com/office/powerpoint/2010/main" val="264987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22C474DB-6A1F-661B-1A15-94ADB5AD0D5E}"/>
              </a:ext>
            </a:extLst>
          </p:cNvPr>
          <p:cNvSpPr>
            <a:spLocks noGrp="1"/>
          </p:cNvSpPr>
          <p:nvPr>
            <p:ph type="sldNum" sz="quarter" idx="12"/>
          </p:nvPr>
        </p:nvSpPr>
        <p:spPr/>
        <p:txBody>
          <a:bodyPr/>
          <a:lstStyle/>
          <a:p>
            <a:fld id="{16B7FEC2-09BE-4569-8D55-B52F6B35789D}" type="slidenum">
              <a:rPr lang="es-CO" smtClean="0"/>
              <a:t>9</a:t>
            </a:fld>
            <a:endParaRPr lang="es-CO"/>
          </a:p>
        </p:txBody>
      </p:sp>
      <p:pic>
        <p:nvPicPr>
          <p:cNvPr id="3" name="Imagen 2">
            <a:extLst>
              <a:ext uri="{FF2B5EF4-FFF2-40B4-BE49-F238E27FC236}">
                <a16:creationId xmlns:a16="http://schemas.microsoft.com/office/drawing/2014/main" id="{E6962787-A7CC-9BFA-0788-1F5BB946848F}"/>
              </a:ext>
            </a:extLst>
          </p:cNvPr>
          <p:cNvPicPr>
            <a:picLocks noChangeAspect="1"/>
          </p:cNvPicPr>
          <p:nvPr/>
        </p:nvPicPr>
        <p:blipFill>
          <a:blip r:embed="rId2"/>
          <a:stretch>
            <a:fillRect/>
          </a:stretch>
        </p:blipFill>
        <p:spPr>
          <a:xfrm>
            <a:off x="3124688" y="457688"/>
            <a:ext cx="5942624" cy="5942624"/>
          </a:xfrm>
          <a:prstGeom prst="rect">
            <a:avLst/>
          </a:prstGeom>
        </p:spPr>
      </p:pic>
    </p:spTree>
    <p:extLst>
      <p:ext uri="{BB962C8B-B14F-4D97-AF65-F5344CB8AC3E}">
        <p14:creationId xmlns:p14="http://schemas.microsoft.com/office/powerpoint/2010/main" val="3784709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1B699EE-F7A4-6674-0C45-ED67C8F31C60}"/>
              </a:ext>
            </a:extLst>
          </p:cNvPr>
          <p:cNvSpPr>
            <a:spLocks noGrp="1"/>
          </p:cNvSpPr>
          <p:nvPr>
            <p:ph type="sldNum" sz="quarter" idx="12"/>
          </p:nvPr>
        </p:nvSpPr>
        <p:spPr/>
        <p:txBody>
          <a:bodyPr/>
          <a:lstStyle/>
          <a:p>
            <a:fld id="{16B7FEC2-09BE-4569-8D55-B52F6B35789D}" type="slidenum">
              <a:rPr lang="es-CO" smtClean="0"/>
              <a:t>10</a:t>
            </a:fld>
            <a:endParaRPr lang="es-CO"/>
          </a:p>
        </p:txBody>
      </p:sp>
      <p:pic>
        <p:nvPicPr>
          <p:cNvPr id="3" name="Imagen 2">
            <a:extLst>
              <a:ext uri="{FF2B5EF4-FFF2-40B4-BE49-F238E27FC236}">
                <a16:creationId xmlns:a16="http://schemas.microsoft.com/office/drawing/2014/main" id="{7E10DC1D-234E-607F-989E-607493DB9750}"/>
              </a:ext>
            </a:extLst>
          </p:cNvPr>
          <p:cNvPicPr>
            <a:picLocks noChangeAspect="1"/>
          </p:cNvPicPr>
          <p:nvPr/>
        </p:nvPicPr>
        <p:blipFill>
          <a:blip r:embed="rId2"/>
          <a:stretch>
            <a:fillRect/>
          </a:stretch>
        </p:blipFill>
        <p:spPr>
          <a:xfrm>
            <a:off x="1965788" y="1212040"/>
            <a:ext cx="8443604" cy="4433919"/>
          </a:xfrm>
          <a:prstGeom prst="rect">
            <a:avLst/>
          </a:prstGeom>
        </p:spPr>
      </p:pic>
    </p:spTree>
    <p:extLst>
      <p:ext uri="{BB962C8B-B14F-4D97-AF65-F5344CB8AC3E}">
        <p14:creationId xmlns:p14="http://schemas.microsoft.com/office/powerpoint/2010/main" val="1565997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11</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Principios de funcionamiento</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61769" y="1353613"/>
            <a:ext cx="11094263" cy="830997"/>
          </a:xfrm>
          <a:prstGeom prst="rect">
            <a:avLst/>
          </a:prstGeom>
        </p:spPr>
        <p:txBody>
          <a:bodyPr wrap="square">
            <a:spAutoFit/>
          </a:bodyPr>
          <a:lstStyle/>
          <a:p>
            <a:r>
              <a:rPr lang="es-ES" sz="2400" dirty="0"/>
              <a:t>El principio electrónico de base para el funcionamiento del radar es muy similar al de la reflexión de ondas sonoras.</a:t>
            </a:r>
            <a:endParaRPr lang="en-US" sz="2400" dirty="0"/>
          </a:p>
        </p:txBody>
      </p:sp>
      <p:sp>
        <p:nvSpPr>
          <p:cNvPr id="11" name="Rectangle 10"/>
          <p:cNvSpPr/>
          <p:nvPr/>
        </p:nvSpPr>
        <p:spPr>
          <a:xfrm>
            <a:off x="361769" y="2400311"/>
            <a:ext cx="11094263" cy="267765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ES" sz="2800" dirty="0"/>
              <a:t>El radar emplea pulsos de energía electromagnética en una forma similar. La energía de radiofrecuencia (RF) se transmite hacia y se refleja desde un objeto reflector. Una pequeña fracción de la energía reflejada, denominada ECO como en el caso de las ondas sonoras, retorna al equipo radar. Los equipos radar analizan el eco para determinar la dirección y distancia del objeto reflector.</a:t>
            </a:r>
            <a:endParaRPr lang="en-US" sz="2800" dirty="0"/>
          </a:p>
        </p:txBody>
      </p:sp>
      <p:sp>
        <p:nvSpPr>
          <p:cNvPr id="12" name="Rectangle 11"/>
          <p:cNvSpPr/>
          <p:nvPr/>
        </p:nvSpPr>
        <p:spPr>
          <a:xfrm>
            <a:off x="3426249" y="5293668"/>
            <a:ext cx="4447692" cy="523220"/>
          </a:xfrm>
          <a:prstGeom prst="rect">
            <a:avLst/>
          </a:prstGeom>
        </p:spPr>
        <p:txBody>
          <a:bodyPr wrap="none">
            <a:spAutoFit/>
          </a:bodyPr>
          <a:lstStyle/>
          <a:p>
            <a:r>
              <a:rPr lang="en-US" sz="2800" b="1" dirty="0" err="1">
                <a:latin typeface="Calibri" panose="020F0502020204030204" pitchFamily="34" charset="0"/>
                <a:ea typeface="Calibri" panose="020F0502020204030204" pitchFamily="34" charset="0"/>
                <a:cs typeface="Times New Roman" panose="02020603050405020304" pitchFamily="18" charset="0"/>
              </a:rPr>
              <a:t>RA</a:t>
            </a:r>
            <a:r>
              <a:rPr lang="en-US" sz="2800" dirty="0" err="1">
                <a:latin typeface="Calibri" panose="020F0502020204030204" pitchFamily="34" charset="0"/>
                <a:ea typeface="Calibri" panose="020F0502020204030204" pitchFamily="34" charset="0"/>
                <a:cs typeface="Times New Roman" panose="02020603050405020304" pitchFamily="18" charset="0"/>
              </a:rPr>
              <a:t>dio</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b="1" dirty="0">
                <a:latin typeface="Calibri" panose="020F0502020204030204" pitchFamily="34" charset="0"/>
                <a:ea typeface="Calibri" panose="020F0502020204030204" pitchFamily="34" charset="0"/>
                <a:cs typeface="Times New Roman" panose="02020603050405020304" pitchFamily="18" charset="0"/>
              </a:rPr>
              <a:t>D</a:t>
            </a:r>
            <a:r>
              <a:rPr lang="en-US" sz="2800" dirty="0">
                <a:latin typeface="Calibri" panose="020F0502020204030204" pitchFamily="34" charset="0"/>
                <a:ea typeface="Calibri" panose="020F0502020204030204" pitchFamily="34" charset="0"/>
                <a:cs typeface="Times New Roman" panose="02020603050405020304" pitchFamily="18" charset="0"/>
              </a:rPr>
              <a:t>etecting </a:t>
            </a:r>
            <a:r>
              <a:rPr lang="en-US" sz="2800" b="1" dirty="0">
                <a:latin typeface="Calibri" panose="020F0502020204030204" pitchFamily="34" charset="0"/>
                <a:ea typeface="Calibri" panose="020F0502020204030204" pitchFamily="34" charset="0"/>
                <a:cs typeface="Times New Roman" panose="02020603050405020304" pitchFamily="18" charset="0"/>
              </a:rPr>
              <a:t>A</a:t>
            </a:r>
            <a:r>
              <a:rPr lang="en-US" sz="2800" dirty="0">
                <a:latin typeface="Calibri" panose="020F0502020204030204" pitchFamily="34" charset="0"/>
                <a:ea typeface="Calibri" panose="020F0502020204030204" pitchFamily="34" charset="0"/>
                <a:cs typeface="Times New Roman" panose="02020603050405020304" pitchFamily="18" charset="0"/>
              </a:rPr>
              <a:t>nd </a:t>
            </a:r>
            <a:r>
              <a:rPr lang="en-US" sz="2800" b="1" dirty="0">
                <a:latin typeface="Calibri" panose="020F0502020204030204" pitchFamily="34" charset="0"/>
                <a:ea typeface="Calibri" panose="020F0502020204030204" pitchFamily="34" charset="0"/>
                <a:cs typeface="Times New Roman" panose="02020603050405020304" pitchFamily="18" charset="0"/>
              </a:rPr>
              <a:t>R</a:t>
            </a:r>
            <a:r>
              <a:rPr lang="en-US" sz="2800" dirty="0">
                <a:latin typeface="Calibri" panose="020F0502020204030204" pitchFamily="34" charset="0"/>
                <a:ea typeface="Calibri" panose="020F0502020204030204" pitchFamily="34" charset="0"/>
                <a:cs typeface="Times New Roman" panose="02020603050405020304" pitchFamily="18" charset="0"/>
              </a:rPr>
              <a:t>anging</a:t>
            </a:r>
            <a:endParaRPr lang="en-US" sz="2800" dirty="0"/>
          </a:p>
        </p:txBody>
      </p:sp>
    </p:spTree>
    <p:extLst>
      <p:ext uri="{BB962C8B-B14F-4D97-AF65-F5344CB8AC3E}">
        <p14:creationId xmlns:p14="http://schemas.microsoft.com/office/powerpoint/2010/main" val="96084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243B0-7F3E-CB66-5061-88D17724D5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B13486-7267-CA6D-A805-ACB68B6A8FA8}"/>
              </a:ext>
            </a:extLst>
          </p:cNvPr>
          <p:cNvSpPr>
            <a:spLocks noGrp="1"/>
          </p:cNvSpPr>
          <p:nvPr>
            <p:ph type="sldNum" sz="quarter" idx="12"/>
          </p:nvPr>
        </p:nvSpPr>
        <p:spPr/>
        <p:txBody>
          <a:bodyPr/>
          <a:lstStyle/>
          <a:p>
            <a:fld id="{16B7FEC2-09BE-4569-8D55-B52F6B35789D}" type="slidenum">
              <a:rPr lang="es-CO" smtClean="0"/>
              <a:t>12</a:t>
            </a:fld>
            <a:endParaRPr lang="es-CO" dirty="0"/>
          </a:p>
        </p:txBody>
      </p:sp>
      <p:sp>
        <p:nvSpPr>
          <p:cNvPr id="3" name="내용 개체 틀 2">
            <a:extLst>
              <a:ext uri="{FF2B5EF4-FFF2-40B4-BE49-F238E27FC236}">
                <a16:creationId xmlns:a16="http://schemas.microsoft.com/office/drawing/2014/main" id="{EECDD8F2-5CA9-4782-C597-324EC2BB73CB}"/>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5BB6F590-B65D-C22B-57EC-91BDC55EDAA0}"/>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Principios de funcionamiento</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0F8AF70C-3755-9D41-E434-5B99D09ABC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06A5255E-3C97-AA88-E1C4-9DA674EE23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A1EC2AAB-88B5-2304-59EE-72B28C3CBEAF}"/>
              </a:ext>
            </a:extLst>
          </p:cNvPr>
          <p:cNvSpPr/>
          <p:nvPr/>
        </p:nvSpPr>
        <p:spPr>
          <a:xfrm>
            <a:off x="3443287" y="1386170"/>
            <a:ext cx="4447692" cy="523220"/>
          </a:xfrm>
          <a:prstGeom prst="rect">
            <a:avLst/>
          </a:prstGeom>
        </p:spPr>
        <p:txBody>
          <a:bodyPr wrap="none">
            <a:spAutoFit/>
          </a:bodyPr>
          <a:lstStyle/>
          <a:p>
            <a:r>
              <a:rPr lang="en-US" sz="2800" b="1" dirty="0" err="1">
                <a:latin typeface="Calibri" panose="020F0502020204030204" pitchFamily="34" charset="0"/>
                <a:ea typeface="Calibri" panose="020F0502020204030204" pitchFamily="34" charset="0"/>
                <a:cs typeface="Times New Roman" panose="02020603050405020304" pitchFamily="18" charset="0"/>
              </a:rPr>
              <a:t>RA</a:t>
            </a:r>
            <a:r>
              <a:rPr lang="en-US" sz="2800" dirty="0" err="1">
                <a:latin typeface="Calibri" panose="020F0502020204030204" pitchFamily="34" charset="0"/>
                <a:ea typeface="Calibri" panose="020F0502020204030204" pitchFamily="34" charset="0"/>
                <a:cs typeface="Times New Roman" panose="02020603050405020304" pitchFamily="18" charset="0"/>
              </a:rPr>
              <a:t>dio</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b="1" dirty="0">
                <a:latin typeface="Calibri" panose="020F0502020204030204" pitchFamily="34" charset="0"/>
                <a:ea typeface="Calibri" panose="020F0502020204030204" pitchFamily="34" charset="0"/>
                <a:cs typeface="Times New Roman" panose="02020603050405020304" pitchFamily="18" charset="0"/>
              </a:rPr>
              <a:t>D</a:t>
            </a:r>
            <a:r>
              <a:rPr lang="en-US" sz="2800" dirty="0">
                <a:latin typeface="Calibri" panose="020F0502020204030204" pitchFamily="34" charset="0"/>
                <a:ea typeface="Calibri" panose="020F0502020204030204" pitchFamily="34" charset="0"/>
                <a:cs typeface="Times New Roman" panose="02020603050405020304" pitchFamily="18" charset="0"/>
              </a:rPr>
              <a:t>etecting </a:t>
            </a:r>
            <a:r>
              <a:rPr lang="en-US" sz="2800" b="1" dirty="0">
                <a:latin typeface="Calibri" panose="020F0502020204030204" pitchFamily="34" charset="0"/>
                <a:ea typeface="Calibri" panose="020F0502020204030204" pitchFamily="34" charset="0"/>
                <a:cs typeface="Times New Roman" panose="02020603050405020304" pitchFamily="18" charset="0"/>
              </a:rPr>
              <a:t>A</a:t>
            </a:r>
            <a:r>
              <a:rPr lang="en-US" sz="2800" dirty="0">
                <a:latin typeface="Calibri" panose="020F0502020204030204" pitchFamily="34" charset="0"/>
                <a:ea typeface="Calibri" panose="020F0502020204030204" pitchFamily="34" charset="0"/>
                <a:cs typeface="Times New Roman" panose="02020603050405020304" pitchFamily="18" charset="0"/>
              </a:rPr>
              <a:t>nd </a:t>
            </a:r>
            <a:r>
              <a:rPr lang="en-US" sz="2800" b="1" dirty="0">
                <a:latin typeface="Calibri" panose="020F0502020204030204" pitchFamily="34" charset="0"/>
                <a:ea typeface="Calibri" panose="020F0502020204030204" pitchFamily="34" charset="0"/>
                <a:cs typeface="Times New Roman" panose="02020603050405020304" pitchFamily="18" charset="0"/>
              </a:rPr>
              <a:t>R</a:t>
            </a:r>
            <a:r>
              <a:rPr lang="en-US" sz="2800" dirty="0">
                <a:latin typeface="Calibri" panose="020F0502020204030204" pitchFamily="34" charset="0"/>
                <a:ea typeface="Calibri" panose="020F0502020204030204" pitchFamily="34" charset="0"/>
                <a:cs typeface="Times New Roman" panose="02020603050405020304" pitchFamily="18" charset="0"/>
              </a:rPr>
              <a:t>anging</a:t>
            </a:r>
            <a:endParaRPr lang="en-US" sz="2800" dirty="0"/>
          </a:p>
        </p:txBody>
      </p:sp>
      <p:sp>
        <p:nvSpPr>
          <p:cNvPr id="13" name="Rectangle 12">
            <a:extLst>
              <a:ext uri="{FF2B5EF4-FFF2-40B4-BE49-F238E27FC236}">
                <a16:creationId xmlns:a16="http://schemas.microsoft.com/office/drawing/2014/main" id="{954FDD5C-D48B-D729-1065-3AF797B230AB}"/>
              </a:ext>
            </a:extLst>
          </p:cNvPr>
          <p:cNvSpPr/>
          <p:nvPr/>
        </p:nvSpPr>
        <p:spPr>
          <a:xfrm>
            <a:off x="448975" y="5067783"/>
            <a:ext cx="11187547" cy="1569660"/>
          </a:xfrm>
          <a:prstGeom prst="rect">
            <a:avLst/>
          </a:prstGeom>
        </p:spPr>
        <p:txBody>
          <a:bodyPr wrap="square">
            <a:spAutoFit/>
          </a:bodyPr>
          <a:lstStyle/>
          <a:p>
            <a:pPr marL="342900" indent="-342900">
              <a:buFont typeface="Arial" panose="020B0604020202020204" pitchFamily="34" charset="0"/>
              <a:buChar char="•"/>
            </a:pPr>
            <a:r>
              <a:rPr lang="es-ES" sz="2400" dirty="0"/>
              <a:t>Todos los </a:t>
            </a:r>
            <a:r>
              <a:rPr lang="es-ES" sz="2400" b="1" dirty="0"/>
              <a:t>blancos</a:t>
            </a:r>
            <a:r>
              <a:rPr lang="es-ES" sz="2400" dirty="0"/>
              <a:t> producen reflexiones difusas, es decir que reflejan energía en varias direcciones. La señal reflejada también se denomina dispersión. </a:t>
            </a:r>
            <a:endParaRPr lang="es-419" sz="2400" dirty="0"/>
          </a:p>
          <a:p>
            <a:pPr marL="342900" indent="-342900">
              <a:buFont typeface="Arial" panose="020B0604020202020204" pitchFamily="34" charset="0"/>
              <a:buChar char="•"/>
            </a:pPr>
            <a:r>
              <a:rPr lang="es-ES" sz="2400" dirty="0"/>
              <a:t>El término con que se conoce la señal que se refleja en la dirección exactamente opuesta a la de la señal incidente es </a:t>
            </a:r>
            <a:r>
              <a:rPr lang="es-ES" sz="2400" b="1" dirty="0" err="1"/>
              <a:t>Backscatter</a:t>
            </a:r>
            <a:r>
              <a:rPr lang="es-ES" sz="2400" dirty="0"/>
              <a:t> (dispersión de retorno).</a:t>
            </a:r>
            <a:endParaRPr lang="en-US" sz="2400" dirty="0"/>
          </a:p>
        </p:txBody>
      </p:sp>
      <p:pic>
        <p:nvPicPr>
          <p:cNvPr id="15" name="Picture 14">
            <a:extLst>
              <a:ext uri="{FF2B5EF4-FFF2-40B4-BE49-F238E27FC236}">
                <a16:creationId xmlns:a16="http://schemas.microsoft.com/office/drawing/2014/main" id="{233BCD89-DA01-E6AD-8EC5-E4504C395E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7975" y="2442933"/>
            <a:ext cx="5513098" cy="2191541"/>
          </a:xfrm>
          <a:prstGeom prst="rect">
            <a:avLst/>
          </a:prstGeom>
        </p:spPr>
      </p:pic>
    </p:spTree>
    <p:extLst>
      <p:ext uri="{BB962C8B-B14F-4D97-AF65-F5344CB8AC3E}">
        <p14:creationId xmlns:p14="http://schemas.microsoft.com/office/powerpoint/2010/main" val="2859816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DC85-977C-0B3B-7BB8-D687D0FC193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75C5BD-1A37-5228-93F3-E57C78B81891}"/>
              </a:ext>
            </a:extLst>
          </p:cNvPr>
          <p:cNvSpPr>
            <a:spLocks noGrp="1"/>
          </p:cNvSpPr>
          <p:nvPr>
            <p:ph type="sldNum" sz="quarter" idx="12"/>
          </p:nvPr>
        </p:nvSpPr>
        <p:spPr/>
        <p:txBody>
          <a:bodyPr/>
          <a:lstStyle/>
          <a:p>
            <a:fld id="{16B7FEC2-09BE-4569-8D55-B52F6B35789D}" type="slidenum">
              <a:rPr lang="es-CO" smtClean="0"/>
              <a:t>13</a:t>
            </a:fld>
            <a:endParaRPr lang="es-CO" dirty="0"/>
          </a:p>
        </p:txBody>
      </p:sp>
      <p:sp>
        <p:nvSpPr>
          <p:cNvPr id="3" name="내용 개체 틀 2">
            <a:extLst>
              <a:ext uri="{FF2B5EF4-FFF2-40B4-BE49-F238E27FC236}">
                <a16:creationId xmlns:a16="http://schemas.microsoft.com/office/drawing/2014/main" id="{E61D637C-13E8-ECE3-D1AF-9680D0079E1D}"/>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DB6CBC00-A096-8562-B209-7DEA02F41E54}"/>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Determinación de Distancia</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FB55BAD0-E87A-0193-4299-1828DFC92D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13745243-DA70-3374-CCD6-ECEAE3A1B4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C1B2C32A-6165-ED03-50C2-DBB61D246DF9}"/>
              </a:ext>
            </a:extLst>
          </p:cNvPr>
          <p:cNvSpPr/>
          <p:nvPr/>
        </p:nvSpPr>
        <p:spPr>
          <a:xfrm>
            <a:off x="482448" y="1458054"/>
            <a:ext cx="11094263" cy="156966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ES" sz="2400" dirty="0"/>
              <a:t>La distancia se determina usando como referencias el tiempo en que la señal de alta frecuencia transmitida golpea el objetivo y la constante de propagación c</a:t>
            </a:r>
            <a:r>
              <a:rPr lang="es-ES" sz="1600" dirty="0"/>
              <a:t>0</a:t>
            </a:r>
            <a:r>
              <a:rPr lang="es-ES" sz="2400" dirty="0"/>
              <a:t> (velocidad de la luz)</a:t>
            </a:r>
            <a:r>
              <a:rPr lang="es-419" sz="2400" dirty="0"/>
              <a:t>. </a:t>
            </a:r>
            <a:r>
              <a:rPr lang="es-ES" sz="2400" dirty="0"/>
              <a:t>Una forma de medir la distancia entre el radar y un objeto es transmitir un pequeño pulso electromagnético y medir el tiempo que tarda el eco en volver.</a:t>
            </a:r>
            <a:endParaRPr lang="en-US" sz="2400" dirty="0"/>
          </a:p>
        </p:txBody>
      </p:sp>
      <p:sp>
        <p:nvSpPr>
          <p:cNvPr id="14" name="13 CuadroTexto">
            <a:extLst>
              <a:ext uri="{FF2B5EF4-FFF2-40B4-BE49-F238E27FC236}">
                <a16:creationId xmlns:a16="http://schemas.microsoft.com/office/drawing/2014/main" id="{07AEC054-4EC4-2E62-8787-6D75D114FDBB}"/>
              </a:ext>
            </a:extLst>
          </p:cNvPr>
          <p:cNvSpPr txBox="1">
            <a:spLocks noChangeArrowheads="1"/>
          </p:cNvSpPr>
          <p:nvPr/>
        </p:nvSpPr>
        <p:spPr bwMode="auto">
          <a:xfrm>
            <a:off x="3817722" y="5798145"/>
            <a:ext cx="4755945" cy="92333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419" sz="1800" b="0" i="1" dirty="0">
                <a:latin typeface="+mn-lt"/>
                <a:cs typeface="Times New Roman" pitchFamily="18" charset="0"/>
              </a:rPr>
              <a:t>d</a:t>
            </a:r>
            <a:r>
              <a:rPr lang="es-419" sz="1800" b="0" i="1" dirty="0">
                <a:cs typeface="Times New Roman" pitchFamily="18" charset="0"/>
              </a:rPr>
              <a:t> </a:t>
            </a:r>
            <a:r>
              <a:rPr lang="es-ES" sz="1800" b="0" i="1" dirty="0">
                <a:cs typeface="Times New Roman" pitchFamily="18" charset="0"/>
              </a:rPr>
              <a:t>–</a:t>
            </a:r>
            <a:r>
              <a:rPr lang="es-ES" sz="1800" b="0" dirty="0">
                <a:cs typeface="Times New Roman" pitchFamily="18" charset="0"/>
              </a:rPr>
              <a:t> </a:t>
            </a:r>
            <a:r>
              <a:rPr lang="es-419" sz="1600" b="0" dirty="0">
                <a:latin typeface="+mn-lt"/>
                <a:cs typeface="Lucida Sans" pitchFamily="34" charset="0"/>
              </a:rPr>
              <a:t>distancia de </a:t>
            </a:r>
            <a:r>
              <a:rPr lang="es-ES" sz="1600" b="0" dirty="0">
                <a:latin typeface="+mn-lt"/>
                <a:cs typeface="Lucida Sans" pitchFamily="34" charset="0"/>
              </a:rPr>
              <a:t>alcance inclinado (</a:t>
            </a:r>
            <a:r>
              <a:rPr lang="es-ES" sz="1600" b="0" dirty="0" err="1">
                <a:latin typeface="+mn-lt"/>
                <a:cs typeface="Lucida Sans" pitchFamily="34" charset="0"/>
              </a:rPr>
              <a:t>Slant</a:t>
            </a:r>
            <a:r>
              <a:rPr lang="es-ES" sz="1600" b="0" dirty="0">
                <a:latin typeface="+mn-lt"/>
                <a:cs typeface="Lucida Sans" pitchFamily="34" charset="0"/>
              </a:rPr>
              <a:t> </a:t>
            </a:r>
            <a:r>
              <a:rPr lang="es-ES" sz="1600" b="0" dirty="0" err="1">
                <a:latin typeface="+mn-lt"/>
                <a:cs typeface="Lucida Sans" pitchFamily="34" charset="0"/>
              </a:rPr>
              <a:t>Range</a:t>
            </a:r>
            <a:r>
              <a:rPr lang="es-ES" sz="1600" b="0" dirty="0">
                <a:latin typeface="+mn-lt"/>
                <a:cs typeface="Lucida Sans" pitchFamily="34" charset="0"/>
              </a:rPr>
              <a:t>)</a:t>
            </a:r>
            <a:endParaRPr lang="es-ES" sz="1600" b="0" baseline="30000" dirty="0">
              <a:latin typeface="+mn-lt"/>
              <a:cs typeface="Lucida Sans" pitchFamily="34" charset="0"/>
              <a:sym typeface="Symbol" pitchFamily="18" charset="2"/>
            </a:endParaRPr>
          </a:p>
          <a:p>
            <a:r>
              <a:rPr lang="es-ES" sz="1800" b="0" i="1" dirty="0">
                <a:latin typeface="+mn-lt"/>
                <a:cs typeface="Times New Roman" pitchFamily="18" charset="0"/>
              </a:rPr>
              <a:t>P</a:t>
            </a:r>
            <a:r>
              <a:rPr lang="es-ES" sz="1800" b="0" i="1" baseline="-25000" dirty="0">
                <a:latin typeface="+mn-lt"/>
                <a:cs typeface="Times New Roman" pitchFamily="18" charset="0"/>
              </a:rPr>
              <a:t>T</a:t>
            </a:r>
            <a:r>
              <a:rPr lang="es-419" sz="1800" b="0" i="1" dirty="0">
                <a:cs typeface="Times New Roman" pitchFamily="18" charset="0"/>
              </a:rPr>
              <a:t> </a:t>
            </a:r>
            <a:r>
              <a:rPr lang="es-ES" sz="1800" b="0" i="1" dirty="0">
                <a:cs typeface="Times New Roman" pitchFamily="18" charset="0"/>
              </a:rPr>
              <a:t>–</a:t>
            </a:r>
            <a:r>
              <a:rPr lang="es-ES" sz="1800" b="0" dirty="0">
                <a:cs typeface="Times New Roman" pitchFamily="18" charset="0"/>
              </a:rPr>
              <a:t> </a:t>
            </a:r>
            <a:r>
              <a:rPr lang="es-419" sz="1600" b="0" dirty="0">
                <a:latin typeface="+mn-lt"/>
                <a:cs typeface="Lucida Sans" pitchFamily="34" charset="0"/>
              </a:rPr>
              <a:t>velocidad de propagación de la luz</a:t>
            </a:r>
            <a:endParaRPr lang="es-ES" sz="1600" b="0" dirty="0">
              <a:latin typeface="+mn-lt"/>
              <a:cs typeface="Lucida Sans" pitchFamily="34" charset="0"/>
            </a:endParaRPr>
          </a:p>
          <a:p>
            <a:r>
              <a:rPr lang="es-419" sz="1800" b="0" i="1" dirty="0">
                <a:latin typeface="+mn-lt"/>
                <a:cs typeface="Times New Roman" pitchFamily="18" charset="0"/>
              </a:rPr>
              <a:t>t</a:t>
            </a:r>
            <a:r>
              <a:rPr lang="es-419" sz="1800" b="0" i="1" dirty="0">
                <a:cs typeface="Times New Roman" pitchFamily="18" charset="0"/>
              </a:rPr>
              <a:t> </a:t>
            </a:r>
            <a:r>
              <a:rPr lang="es-ES" sz="1800" b="0" i="1" dirty="0">
                <a:cs typeface="Times New Roman" pitchFamily="18" charset="0"/>
              </a:rPr>
              <a:t>–</a:t>
            </a:r>
            <a:r>
              <a:rPr lang="es-ES" sz="1800" b="0" dirty="0">
                <a:cs typeface="Times New Roman" pitchFamily="18" charset="0"/>
              </a:rPr>
              <a:t> </a:t>
            </a:r>
            <a:r>
              <a:rPr lang="es-ES_tradnl" sz="1600" b="0" dirty="0">
                <a:latin typeface="+mn-lt"/>
                <a:cs typeface="Lucida Sans" pitchFamily="34" charset="0"/>
              </a:rPr>
              <a:t>t</a:t>
            </a:r>
            <a:r>
              <a:rPr lang="es-419" sz="1600" b="0" dirty="0">
                <a:latin typeface="+mn-lt"/>
                <a:cs typeface="Lucida Sans" pitchFamily="34" charset="0"/>
              </a:rPr>
              <a:t>tiempo de propagación (viaje) de la señal</a:t>
            </a:r>
            <a:endParaRPr lang="es-ES" sz="1600" b="0" dirty="0">
              <a:latin typeface="+mn-lt"/>
              <a:cs typeface="Lucida Sans" pitchFamily="34" charset="0"/>
            </a:endParaRPr>
          </a:p>
        </p:txBody>
      </p:sp>
      <mc:AlternateContent xmlns:mc="http://schemas.openxmlformats.org/markup-compatibility/2006">
        <mc:Choice xmlns:a14="http://schemas.microsoft.com/office/drawing/2010/main" Requires="a14">
          <p:sp>
            <p:nvSpPr>
              <p:cNvPr id="15" name="37 Rectángulo">
                <a:extLst>
                  <a:ext uri="{FF2B5EF4-FFF2-40B4-BE49-F238E27FC236}">
                    <a16:creationId xmlns:a16="http://schemas.microsoft.com/office/drawing/2014/main" id="{025FC4A5-B8A6-E0E7-281B-77394C69935B}"/>
                  </a:ext>
                </a:extLst>
              </p:cNvPr>
              <p:cNvSpPr/>
              <p:nvPr/>
            </p:nvSpPr>
            <p:spPr>
              <a:xfrm>
                <a:off x="5263272" y="4935178"/>
                <a:ext cx="1302234" cy="757067"/>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pPr/>
                <a14:m>
                  <m:oMathPara xmlns:m="http://schemas.openxmlformats.org/officeDocument/2006/math">
                    <m:oMath>
                      <m:r>
                        <a:rPr lang="es-419" sz="2400" b="1" i="1" smtClean="0">
                          <a:ln>
                            <a:noFill/>
                          </a:ln>
                          <a:solidFill>
                            <a:schemeClr val="tx1"/>
                          </a:solidFill>
                          <a:effectLst/>
                          <a:latin typeface="Cambria Math" panose="02040503050406030204" pitchFamily="18" charset="0"/>
                        </a:rPr>
                        <m:t>𝒅</m:t>
                      </m:r>
                      <m:r>
                        <a:rPr lang="en-US" sz="2400" i="1">
                          <a:ln>
                            <a:noFill/>
                          </a:ln>
                          <a:solidFill>
                            <a:schemeClr val="tx1"/>
                          </a:solidFill>
                          <a:effectLst/>
                          <a:latin typeface="Cambria Math"/>
                        </a:rPr>
                        <m:t>=</m:t>
                      </m:r>
                      <m:f>
                        <m:fPr>
                          <m:ctrlPr>
                            <a:rPr lang="es-419" sz="2400" b="0" i="1">
                              <a:latin typeface="Cambria Math" panose="02040503050406030204" pitchFamily="18" charset="0"/>
                            </a:rPr>
                          </m:ctrlPr>
                        </m:fPr>
                        <m:num>
                          <m:r>
                            <a:rPr lang="es-419" sz="2400" b="0" i="1">
                              <a:latin typeface="Cambria Math" panose="02040503050406030204" pitchFamily="18" charset="0"/>
                            </a:rPr>
                            <m:t>𝑐</m:t>
                          </m:r>
                          <m:r>
                            <a:rPr lang="es-419" sz="2400" b="0" i="1" baseline="-25000">
                              <a:latin typeface="Cambria Math" panose="02040503050406030204" pitchFamily="18" charset="0"/>
                            </a:rPr>
                            <m:t>0</m:t>
                          </m:r>
                          <m:r>
                            <a:rPr lang="es-419" sz="2400" b="0" i="1" smtClean="0">
                              <a:ln>
                                <a:noFill/>
                              </a:ln>
                              <a:solidFill>
                                <a:schemeClr val="tx1"/>
                              </a:solidFill>
                              <a:effectLst/>
                              <a:latin typeface="Cambria Math" panose="02040503050406030204" pitchFamily="18" charset="0"/>
                            </a:rPr>
                            <m:t>𝑡</m:t>
                          </m:r>
                        </m:num>
                        <m:den>
                          <m:r>
                            <a:rPr lang="es-419" sz="2400" b="0" i="1" smtClean="0">
                              <a:ln>
                                <a:noFill/>
                              </a:ln>
                              <a:solidFill>
                                <a:schemeClr val="tx1"/>
                              </a:solidFill>
                              <a:effectLst/>
                              <a:latin typeface="Cambria Math" panose="02040503050406030204" pitchFamily="18" charset="0"/>
                            </a:rPr>
                            <m:t>2</m:t>
                          </m:r>
                        </m:den>
                      </m:f>
                    </m:oMath>
                  </m:oMathPara>
                </a14:m>
                <a:endParaRPr lang="es-BO" sz="2400" dirty="0">
                  <a:ln>
                    <a:noFill/>
                  </a:ln>
                  <a:solidFill>
                    <a:schemeClr val="tx1"/>
                  </a:solidFill>
                  <a:effectLst/>
                  <a:latin typeface="+mn-lt"/>
                </a:endParaRPr>
              </a:p>
            </p:txBody>
          </p:sp>
        </mc:Choice>
        <mc:Fallback>
          <p:sp>
            <p:nvSpPr>
              <p:cNvPr id="15" name="37 Rectángulo">
                <a:extLst>
                  <a:ext uri="{FF2B5EF4-FFF2-40B4-BE49-F238E27FC236}">
                    <a16:creationId xmlns:a16="http://schemas.microsoft.com/office/drawing/2014/main" id="{025FC4A5-B8A6-E0E7-281B-77394C69935B}"/>
                  </a:ext>
                </a:extLst>
              </p:cNvPr>
              <p:cNvSpPr>
                <a:spLocks noRot="1" noChangeAspect="1" noMove="1" noResize="1" noEditPoints="1" noAdjustHandles="1" noChangeArrowheads="1" noChangeShapeType="1" noTextEdit="1"/>
              </p:cNvSpPr>
              <p:nvPr/>
            </p:nvSpPr>
            <p:spPr>
              <a:xfrm>
                <a:off x="5263272" y="4935178"/>
                <a:ext cx="1302234" cy="757067"/>
              </a:xfrm>
              <a:prstGeom prst="rect">
                <a:avLst/>
              </a:prstGeom>
              <a:blipFill>
                <a:blip r:embed="rId4"/>
                <a:stretch>
                  <a:fillRect/>
                </a:stretch>
              </a:blipFill>
              <a:ln>
                <a:noFill/>
              </a:ln>
            </p:spPr>
            <p:txBody>
              <a:bodyPr/>
              <a:lstStyle/>
              <a:p>
                <a:r>
                  <a:rPr lang="es-CO">
                    <a:noFill/>
                  </a:rPr>
                  <a:t> </a:t>
                </a:r>
              </a:p>
            </p:txBody>
          </p:sp>
        </mc:Fallback>
      </mc:AlternateContent>
      <p:sp>
        <p:nvSpPr>
          <p:cNvPr id="9" name="Rectangle 8">
            <a:extLst>
              <a:ext uri="{FF2B5EF4-FFF2-40B4-BE49-F238E27FC236}">
                <a16:creationId xmlns:a16="http://schemas.microsoft.com/office/drawing/2014/main" id="{2AC3E287-1147-6592-602C-4D6A07F8393F}"/>
              </a:ext>
            </a:extLst>
          </p:cNvPr>
          <p:cNvSpPr/>
          <p:nvPr/>
        </p:nvSpPr>
        <p:spPr>
          <a:xfrm>
            <a:off x="482448" y="3165838"/>
            <a:ext cx="11426494" cy="1631216"/>
          </a:xfrm>
          <a:prstGeom prst="rect">
            <a:avLst/>
          </a:prstGeom>
        </p:spPr>
        <p:txBody>
          <a:bodyPr wrap="square">
            <a:spAutoFit/>
          </a:bodyPr>
          <a:lstStyle/>
          <a:p>
            <a:pPr marL="285750" indent="-285750">
              <a:buFont typeface="Wingdings" panose="05000000000000000000" pitchFamily="2" charset="2"/>
              <a:buChar char="§"/>
            </a:pPr>
            <a:r>
              <a:rPr lang="es-ES" sz="2000" dirty="0"/>
              <a:t>La distancia de un objetivo desde el radar se conoce como alcance inclinado</a:t>
            </a:r>
            <a:r>
              <a:rPr lang="es-419" sz="2000" dirty="0"/>
              <a:t> </a:t>
            </a:r>
            <a:r>
              <a:rPr lang="es-ES" sz="2000" dirty="0"/>
              <a:t>(</a:t>
            </a:r>
            <a:r>
              <a:rPr lang="es-ES" sz="2000" dirty="0" err="1"/>
              <a:t>Slant</a:t>
            </a:r>
            <a:r>
              <a:rPr lang="es-ES" sz="2000" dirty="0"/>
              <a:t> </a:t>
            </a:r>
            <a:r>
              <a:rPr lang="es-ES" sz="2000" dirty="0" err="1"/>
              <a:t>Range</a:t>
            </a:r>
            <a:r>
              <a:rPr lang="es-ES" sz="2000" dirty="0"/>
              <a:t>).</a:t>
            </a:r>
            <a:endParaRPr lang="es-419" sz="2000" dirty="0"/>
          </a:p>
          <a:p>
            <a:pPr marL="285750" indent="-285750">
              <a:buFont typeface="Wingdings" panose="05000000000000000000" pitchFamily="2" charset="2"/>
              <a:buChar char="§"/>
            </a:pPr>
            <a:r>
              <a:rPr lang="es-ES" sz="2000" dirty="0"/>
              <a:t>El alcance inclinado (</a:t>
            </a:r>
            <a:r>
              <a:rPr lang="es-ES" sz="2000" dirty="0" err="1"/>
              <a:t>slant</a:t>
            </a:r>
            <a:r>
              <a:rPr lang="es-ES" sz="2000" dirty="0"/>
              <a:t> </a:t>
            </a:r>
            <a:r>
              <a:rPr lang="es-ES" sz="2000" dirty="0" err="1"/>
              <a:t>range</a:t>
            </a:r>
            <a:r>
              <a:rPr lang="es-ES" sz="2000" dirty="0"/>
              <a:t>) es la distancia del radar hacia cada blanco medido perpendicular a la línea del vuelo.</a:t>
            </a:r>
            <a:endParaRPr lang="es-419" sz="2000" dirty="0"/>
          </a:p>
          <a:p>
            <a:pPr marL="285750" indent="-285750">
              <a:buFont typeface="Wingdings" panose="05000000000000000000" pitchFamily="2" charset="2"/>
              <a:buChar char="§"/>
            </a:pPr>
            <a:r>
              <a:rPr lang="es-419" sz="2000" dirty="0"/>
              <a:t>M</a:t>
            </a:r>
            <a:r>
              <a:rPr lang="es-ES" sz="2000" dirty="0" err="1"/>
              <a:t>ientras</a:t>
            </a:r>
            <a:r>
              <a:rPr lang="es-ES" sz="2000" dirty="0"/>
              <a:t> el alcance terrestre es la distancia horizontal entre el emisor y su objetivo y su cálculo requiere el conocimiento de la elevación del objetivo.</a:t>
            </a:r>
            <a:endParaRPr lang="en-US" sz="2000" dirty="0"/>
          </a:p>
        </p:txBody>
      </p:sp>
    </p:spTree>
    <p:extLst>
      <p:ext uri="{BB962C8B-B14F-4D97-AF65-F5344CB8AC3E}">
        <p14:creationId xmlns:p14="http://schemas.microsoft.com/office/powerpoint/2010/main" val="2552133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14</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Determinación de Distancia</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p:cNvPicPr/>
          <p:nvPr/>
        </p:nvPicPr>
        <p:blipFill>
          <a:blip r:embed="rId4">
            <a:extLst>
              <a:ext uri="{28A0092B-C50C-407E-A947-70E740481C1C}">
                <a14:useLocalDpi xmlns:a14="http://schemas.microsoft.com/office/drawing/2010/main" val="0"/>
              </a:ext>
            </a:extLst>
          </a:blip>
          <a:srcRect/>
          <a:stretch>
            <a:fillRect/>
          </a:stretch>
        </p:blipFill>
        <p:spPr bwMode="auto">
          <a:xfrm>
            <a:off x="7072795" y="2325499"/>
            <a:ext cx="3075609" cy="1314943"/>
          </a:xfrm>
          <a:prstGeom prst="rect">
            <a:avLst/>
          </a:prstGeom>
          <a:noFill/>
          <a:ln>
            <a:noFill/>
          </a:ln>
        </p:spPr>
      </p:pic>
      <p:sp>
        <p:nvSpPr>
          <p:cNvPr id="17" name="Rectangle 16"/>
          <p:cNvSpPr/>
          <p:nvPr/>
        </p:nvSpPr>
        <p:spPr>
          <a:xfrm>
            <a:off x="6983818" y="1612398"/>
            <a:ext cx="3646059" cy="523220"/>
          </a:xfrm>
          <a:prstGeom prst="rect">
            <a:avLst/>
          </a:prstGeom>
        </p:spPr>
        <p:txBody>
          <a:bodyPr wrap="square">
            <a:spAutoFit/>
          </a:bodyPr>
          <a:lstStyle/>
          <a:p>
            <a:r>
              <a:rPr lang="es-ES" sz="2800" b="1" dirty="0"/>
              <a:t>A</a:t>
            </a:r>
            <a:r>
              <a:rPr lang="es-419" sz="2800" b="1" dirty="0" err="1"/>
              <a:t>lcance</a:t>
            </a:r>
            <a:r>
              <a:rPr lang="es-419" sz="2800" b="1" dirty="0"/>
              <a:t> máximo</a:t>
            </a:r>
            <a:endParaRPr lang="en-US" sz="2800" b="1" dirty="0"/>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37462" y="4722383"/>
            <a:ext cx="6301466" cy="1444086"/>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3282" y="1602434"/>
            <a:ext cx="3974569" cy="2980926"/>
          </a:xfrm>
          <a:prstGeom prst="rect">
            <a:avLst/>
          </a:prstGeom>
        </p:spPr>
      </p:pic>
    </p:spTree>
    <p:extLst>
      <p:ext uri="{BB962C8B-B14F-4D97-AF65-F5344CB8AC3E}">
        <p14:creationId xmlns:p14="http://schemas.microsoft.com/office/powerpoint/2010/main" val="1775448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15</a:t>
            </a:fld>
            <a:endParaRPr lang="es-CO"/>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S</a:t>
            </a:r>
            <a:r>
              <a:rPr lang="en-US" sz="3600" b="1" dirty="0" err="1">
                <a:solidFill>
                  <a:schemeClr val="accent1">
                    <a:lumMod val="50000"/>
                  </a:schemeClr>
                </a:solidFill>
                <a:cs typeface="Arial" panose="020B0604020202020204" pitchFamily="34" charset="0"/>
              </a:rPr>
              <a:t>i</a:t>
            </a:r>
            <a:r>
              <a:rPr lang="x-none" sz="3600" b="1" dirty="0">
                <a:solidFill>
                  <a:schemeClr val="accent1">
                    <a:lumMod val="50000"/>
                  </a:schemeClr>
                </a:solidFill>
                <a:cs typeface="Arial" panose="020B0604020202020204" pitchFamily="34" charset="0"/>
              </a:rPr>
              <a:t>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dirty="0">
                <a:solidFill>
                  <a:schemeClr val="accent1">
                    <a:lumMod val="75000"/>
                  </a:schemeClr>
                </a:solidFill>
                <a:cs typeface="Arial" panose="020B0604020202020204" pitchFamily="34" charset="0"/>
              </a:rPr>
              <a:t>Ondas y Rangos de Frecuencia</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59538" y="1230341"/>
            <a:ext cx="11527536" cy="1569660"/>
          </a:xfrm>
          <a:prstGeom prst="rect">
            <a:avLst/>
          </a:prstGeom>
        </p:spPr>
        <p:txBody>
          <a:bodyPr wrap="square">
            <a:spAutoFit/>
          </a:bodyPr>
          <a:lstStyle/>
          <a:p>
            <a:r>
              <a:rPr lang="es-ES" sz="2400" dirty="0"/>
              <a:t>El espectro de las ondas electro-magnéticas </a:t>
            </a:r>
            <a:r>
              <a:rPr lang="es-419" sz="2400" dirty="0"/>
              <a:t>es el camino en el dominio de la frecuencia por donde viajan las señales</a:t>
            </a:r>
            <a:r>
              <a:rPr lang="es-ES" sz="2400" dirty="0"/>
              <a:t>.</a:t>
            </a:r>
          </a:p>
          <a:p>
            <a:r>
              <a:rPr lang="es-ES" sz="2400" dirty="0"/>
              <a:t>Esta extensa y completa gama es subdivida en subgrupos para tener en cuenta las propiedades físicas de las ondas que lo componen.</a:t>
            </a:r>
            <a:endParaRPr lang="en-US" sz="240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7310" y="3359540"/>
            <a:ext cx="9637379" cy="2075743"/>
          </a:xfrm>
          <a:prstGeom prst="rect">
            <a:avLst/>
          </a:prstGeom>
        </p:spPr>
      </p:pic>
    </p:spTree>
    <p:extLst>
      <p:ext uri="{BB962C8B-B14F-4D97-AF65-F5344CB8AC3E}">
        <p14:creationId xmlns:p14="http://schemas.microsoft.com/office/powerpoint/2010/main" val="111745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16</a:t>
            </a:fld>
            <a:endParaRPr lang="es-CO"/>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S</a:t>
            </a:r>
            <a:r>
              <a:rPr lang="en-US" sz="3600" b="1" dirty="0" err="1">
                <a:solidFill>
                  <a:schemeClr val="accent1">
                    <a:lumMod val="50000"/>
                  </a:schemeClr>
                </a:solidFill>
                <a:cs typeface="Arial" panose="020B0604020202020204" pitchFamily="34" charset="0"/>
              </a:rPr>
              <a:t>i</a:t>
            </a:r>
            <a:r>
              <a:rPr lang="x-none" sz="3600" b="1" dirty="0">
                <a:solidFill>
                  <a:schemeClr val="accent1">
                    <a:lumMod val="50000"/>
                  </a:schemeClr>
                </a:solidFill>
                <a:cs typeface="Arial" panose="020B0604020202020204" pitchFamily="34" charset="0"/>
              </a:rPr>
              <a:t>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dirty="0">
                <a:solidFill>
                  <a:schemeClr val="accent1">
                    <a:lumMod val="75000"/>
                  </a:schemeClr>
                </a:solidFill>
                <a:cs typeface="Arial" panose="020B0604020202020204" pitchFamily="34" charset="0"/>
              </a:rPr>
              <a:t>Ondas y Rangos de Frecuencia</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4356" y="0"/>
            <a:ext cx="5486399" cy="6858000"/>
          </a:xfrm>
          <a:prstGeom prst="rect">
            <a:avLst/>
          </a:prstGeom>
        </p:spPr>
      </p:pic>
    </p:spTree>
    <p:extLst>
      <p:ext uri="{BB962C8B-B14F-4D97-AF65-F5344CB8AC3E}">
        <p14:creationId xmlns:p14="http://schemas.microsoft.com/office/powerpoint/2010/main" val="27944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F614E772-1421-56FF-AE2A-B80454FD7400}"/>
              </a:ext>
            </a:extLst>
          </p:cNvPr>
          <p:cNvSpPr>
            <a:spLocks noGrp="1"/>
          </p:cNvSpPr>
          <p:nvPr>
            <p:ph type="sldNum" sz="quarter" idx="12"/>
          </p:nvPr>
        </p:nvSpPr>
        <p:spPr/>
        <p:txBody>
          <a:bodyPr/>
          <a:lstStyle/>
          <a:p>
            <a:fld id="{16B7FEC2-09BE-4569-8D55-B52F6B35789D}" type="slidenum">
              <a:rPr lang="es-CO" smtClean="0"/>
              <a:t>17</a:t>
            </a:fld>
            <a:endParaRPr lang="es-CO"/>
          </a:p>
        </p:txBody>
      </p:sp>
      <p:pic>
        <p:nvPicPr>
          <p:cNvPr id="4" name="Imagen 3">
            <a:extLst>
              <a:ext uri="{FF2B5EF4-FFF2-40B4-BE49-F238E27FC236}">
                <a16:creationId xmlns:a16="http://schemas.microsoft.com/office/drawing/2014/main" id="{9693D6F1-1A65-EA3F-E19B-A64BBE95A552}"/>
              </a:ext>
            </a:extLst>
          </p:cNvPr>
          <p:cNvPicPr>
            <a:picLocks noChangeAspect="1"/>
          </p:cNvPicPr>
          <p:nvPr/>
        </p:nvPicPr>
        <p:blipFill>
          <a:blip r:embed="rId2"/>
          <a:stretch>
            <a:fillRect/>
          </a:stretch>
        </p:blipFill>
        <p:spPr>
          <a:xfrm>
            <a:off x="1757739" y="1791809"/>
            <a:ext cx="8676521" cy="3274382"/>
          </a:xfrm>
          <a:prstGeom prst="rect">
            <a:avLst/>
          </a:prstGeom>
        </p:spPr>
      </p:pic>
    </p:spTree>
    <p:extLst>
      <p:ext uri="{BB962C8B-B14F-4D97-AF65-F5344CB8AC3E}">
        <p14:creationId xmlns:p14="http://schemas.microsoft.com/office/powerpoint/2010/main" val="2981942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B77D6C6-50AA-E73D-79F0-2D4354A1C7C0}"/>
              </a:ext>
            </a:extLst>
          </p:cNvPr>
          <p:cNvSpPr>
            <a:spLocks noGrp="1"/>
          </p:cNvSpPr>
          <p:nvPr>
            <p:ph type="sldNum" sz="quarter" idx="12"/>
          </p:nvPr>
        </p:nvSpPr>
        <p:spPr/>
        <p:txBody>
          <a:bodyPr/>
          <a:lstStyle/>
          <a:p>
            <a:fld id="{16B7FEC2-09BE-4569-8D55-B52F6B35789D}" type="slidenum">
              <a:rPr lang="es-CO" smtClean="0"/>
              <a:t>18</a:t>
            </a:fld>
            <a:endParaRPr lang="es-CO"/>
          </a:p>
        </p:txBody>
      </p:sp>
      <p:pic>
        <p:nvPicPr>
          <p:cNvPr id="4" name="Imagen 3">
            <a:extLst>
              <a:ext uri="{FF2B5EF4-FFF2-40B4-BE49-F238E27FC236}">
                <a16:creationId xmlns:a16="http://schemas.microsoft.com/office/drawing/2014/main" id="{76ACEEDA-2055-38A6-20CB-43C07CBEEB2E}"/>
              </a:ext>
            </a:extLst>
          </p:cNvPr>
          <p:cNvPicPr>
            <a:picLocks noChangeAspect="1"/>
          </p:cNvPicPr>
          <p:nvPr/>
        </p:nvPicPr>
        <p:blipFill>
          <a:blip r:embed="rId2"/>
          <a:stretch>
            <a:fillRect/>
          </a:stretch>
        </p:blipFill>
        <p:spPr>
          <a:xfrm>
            <a:off x="2267631" y="1465814"/>
            <a:ext cx="7656737" cy="4092148"/>
          </a:xfrm>
          <a:prstGeom prst="rect">
            <a:avLst/>
          </a:prstGeom>
        </p:spPr>
      </p:pic>
    </p:spTree>
    <p:extLst>
      <p:ext uri="{BB962C8B-B14F-4D97-AF65-F5344CB8AC3E}">
        <p14:creationId xmlns:p14="http://schemas.microsoft.com/office/powerpoint/2010/main" val="3530557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E3F743FF-A1F4-E7B4-0162-E5890924BFCC}"/>
              </a:ext>
            </a:extLst>
          </p:cNvPr>
          <p:cNvSpPr>
            <a:spLocks noGrp="1"/>
          </p:cNvSpPr>
          <p:nvPr>
            <p:ph type="sldNum" sz="quarter" idx="12"/>
          </p:nvPr>
        </p:nvSpPr>
        <p:spPr/>
        <p:txBody>
          <a:bodyPr/>
          <a:lstStyle/>
          <a:p>
            <a:fld id="{16B7FEC2-09BE-4569-8D55-B52F6B35789D}" type="slidenum">
              <a:rPr lang="es-CO" smtClean="0"/>
              <a:t>19</a:t>
            </a:fld>
            <a:endParaRPr lang="es-CO"/>
          </a:p>
        </p:txBody>
      </p:sp>
      <p:pic>
        <p:nvPicPr>
          <p:cNvPr id="3" name="1640340354492">
            <a:hlinkClick r:id="" action="ppaction://media"/>
            <a:extLst>
              <a:ext uri="{FF2B5EF4-FFF2-40B4-BE49-F238E27FC236}">
                <a16:creationId xmlns:a16="http://schemas.microsoft.com/office/drawing/2014/main" id="{86371311-0288-8675-6CEE-4900F93EF75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447800" y="333782"/>
            <a:ext cx="9103581" cy="6190435"/>
          </a:xfrm>
          <a:prstGeom prst="rect">
            <a:avLst/>
          </a:prstGeom>
        </p:spPr>
      </p:pic>
    </p:spTree>
    <p:extLst>
      <p:ext uri="{BB962C8B-B14F-4D97-AF65-F5344CB8AC3E}">
        <p14:creationId xmlns:p14="http://schemas.microsoft.com/office/powerpoint/2010/main" val="228819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1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20</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Diagrama de bloques funcional</a:t>
            </a:r>
          </a:p>
          <a:p>
            <a:pPr marL="0" indent="0">
              <a:buNone/>
            </a:pP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4"/>
          <a:stretch>
            <a:fillRect/>
          </a:stretch>
        </p:blipFill>
        <p:spPr>
          <a:xfrm>
            <a:off x="1892308" y="1545818"/>
            <a:ext cx="8407383" cy="3766364"/>
          </a:xfrm>
          <a:prstGeom prst="rect">
            <a:avLst/>
          </a:prstGeom>
        </p:spPr>
      </p:pic>
    </p:spTree>
    <p:extLst>
      <p:ext uri="{BB962C8B-B14F-4D97-AF65-F5344CB8AC3E}">
        <p14:creationId xmlns:p14="http://schemas.microsoft.com/office/powerpoint/2010/main" val="2204587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CC286-CD47-C155-714A-59CAE4EFEE6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AE3550-5D27-6C1A-C69E-5D76E0E8A7DA}"/>
              </a:ext>
            </a:extLst>
          </p:cNvPr>
          <p:cNvSpPr>
            <a:spLocks noGrp="1"/>
          </p:cNvSpPr>
          <p:nvPr>
            <p:ph type="sldNum" sz="quarter" idx="12"/>
          </p:nvPr>
        </p:nvSpPr>
        <p:spPr/>
        <p:txBody>
          <a:bodyPr/>
          <a:lstStyle/>
          <a:p>
            <a:fld id="{16B7FEC2-09BE-4569-8D55-B52F6B35789D}" type="slidenum">
              <a:rPr lang="es-CO" smtClean="0"/>
              <a:t>21</a:t>
            </a:fld>
            <a:endParaRPr lang="es-CO" dirty="0"/>
          </a:p>
        </p:txBody>
      </p:sp>
      <p:sp>
        <p:nvSpPr>
          <p:cNvPr id="3" name="내용 개체 틀 2">
            <a:extLst>
              <a:ext uri="{FF2B5EF4-FFF2-40B4-BE49-F238E27FC236}">
                <a16:creationId xmlns:a16="http://schemas.microsoft.com/office/drawing/2014/main" id="{7842B346-33CA-B655-6678-D00F80DB583A}"/>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Sistemas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828D618E-70C4-E9B3-6DD3-75ED0281612C}"/>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Diagrama de bloques funcional</a:t>
            </a:r>
          </a:p>
          <a:p>
            <a:pPr marL="0" indent="0">
              <a:buNone/>
            </a:pP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B75BA100-FF36-0F4A-DC95-A31E2E3060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101C1124-CA4F-4FF5-08AC-5B85D682F0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022A1BDA-38B8-A14D-02F4-B8E282EBFBC9}"/>
              </a:ext>
            </a:extLst>
          </p:cNvPr>
          <p:cNvPicPr>
            <a:picLocks noChangeAspect="1"/>
          </p:cNvPicPr>
          <p:nvPr/>
        </p:nvPicPr>
        <p:blipFill>
          <a:blip r:embed="rId4"/>
          <a:stretch>
            <a:fillRect/>
          </a:stretch>
        </p:blipFill>
        <p:spPr>
          <a:xfrm>
            <a:off x="5498511" y="235563"/>
            <a:ext cx="4985851" cy="6303349"/>
          </a:xfrm>
          <a:prstGeom prst="rect">
            <a:avLst/>
          </a:prstGeom>
        </p:spPr>
      </p:pic>
      <p:sp>
        <p:nvSpPr>
          <p:cNvPr id="10" name="내용 개체 틀 2">
            <a:extLst>
              <a:ext uri="{FF2B5EF4-FFF2-40B4-BE49-F238E27FC236}">
                <a16:creationId xmlns:a16="http://schemas.microsoft.com/office/drawing/2014/main" id="{061FBE93-9852-B6A0-3621-F9E109DEFC69}"/>
              </a:ext>
            </a:extLst>
          </p:cNvPr>
          <p:cNvSpPr txBox="1">
            <a:spLocks/>
          </p:cNvSpPr>
          <p:nvPr/>
        </p:nvSpPr>
        <p:spPr bwMode="auto">
          <a:xfrm>
            <a:off x="331380" y="6052668"/>
            <a:ext cx="586155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0975" indent="-18097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CO" sz="1600" b="1" dirty="0"/>
              <a:t>Radar Primario (PSR) – </a:t>
            </a:r>
            <a:r>
              <a:rPr lang="es-CO" sz="1600" dirty="0" err="1"/>
              <a:t>Primary</a:t>
            </a:r>
            <a:r>
              <a:rPr lang="es-CO" sz="1600" dirty="0"/>
              <a:t> </a:t>
            </a:r>
            <a:r>
              <a:rPr lang="es-CO" sz="1600" dirty="0" err="1"/>
              <a:t>Survelliance</a:t>
            </a:r>
            <a:r>
              <a:rPr lang="es-CO" sz="1600" dirty="0"/>
              <a:t> Radar.</a:t>
            </a:r>
            <a:endParaRPr lang="es-CO" sz="1600" b="1" dirty="0"/>
          </a:p>
          <a:p>
            <a:r>
              <a:rPr lang="es-CO" sz="1600" b="1" dirty="0"/>
              <a:t>Radar secundario (SSR) – </a:t>
            </a:r>
            <a:r>
              <a:rPr lang="es-CO" sz="1600" dirty="0" err="1"/>
              <a:t>Secondary</a:t>
            </a:r>
            <a:r>
              <a:rPr lang="es-CO" sz="1600" dirty="0"/>
              <a:t> </a:t>
            </a:r>
            <a:r>
              <a:rPr lang="es-CO" sz="1600" dirty="0" err="1"/>
              <a:t>Survelliance</a:t>
            </a:r>
            <a:r>
              <a:rPr lang="es-CO" sz="1600" dirty="0"/>
              <a:t> Radar.</a:t>
            </a:r>
          </a:p>
        </p:txBody>
      </p:sp>
    </p:spTree>
    <p:extLst>
      <p:ext uri="{BB962C8B-B14F-4D97-AF65-F5344CB8AC3E}">
        <p14:creationId xmlns:p14="http://schemas.microsoft.com/office/powerpoint/2010/main" val="1568141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22</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Tipos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Radar primario y secundario</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Imagen 16" descr="control de trafico aereo (atc)"/>
          <p:cNvPicPr/>
          <p:nvPr/>
        </p:nvPicPr>
        <p:blipFill>
          <a:blip r:embed="rId4">
            <a:extLst>
              <a:ext uri="{28A0092B-C50C-407E-A947-70E740481C1C}">
                <a14:useLocalDpi xmlns:a14="http://schemas.microsoft.com/office/drawing/2010/main" val="0"/>
              </a:ext>
            </a:extLst>
          </a:blip>
          <a:srcRect/>
          <a:stretch>
            <a:fillRect/>
          </a:stretch>
        </p:blipFill>
        <p:spPr bwMode="auto">
          <a:xfrm>
            <a:off x="8017197" y="0"/>
            <a:ext cx="4128279" cy="6841640"/>
          </a:xfrm>
          <a:prstGeom prst="rect">
            <a:avLst/>
          </a:prstGeom>
          <a:noFill/>
          <a:ln>
            <a:noFill/>
          </a:ln>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0298" y="2178042"/>
            <a:ext cx="5547926" cy="4160945"/>
          </a:xfrm>
          <a:prstGeom prst="rect">
            <a:avLst/>
          </a:prstGeom>
        </p:spPr>
      </p:pic>
      <p:sp>
        <p:nvSpPr>
          <p:cNvPr id="18" name="내용 개체 틀 2"/>
          <p:cNvSpPr txBox="1">
            <a:spLocks/>
          </p:cNvSpPr>
          <p:nvPr/>
        </p:nvSpPr>
        <p:spPr bwMode="auto">
          <a:xfrm>
            <a:off x="259538" y="1297298"/>
            <a:ext cx="88328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0975" indent="-18097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CO" sz="2000" b="1" dirty="0"/>
              <a:t>Radar Primario (PSR) – </a:t>
            </a:r>
            <a:r>
              <a:rPr lang="es-CO" sz="2000" dirty="0" err="1"/>
              <a:t>Primary</a:t>
            </a:r>
            <a:r>
              <a:rPr lang="es-CO" sz="2000" dirty="0"/>
              <a:t> </a:t>
            </a:r>
            <a:r>
              <a:rPr lang="es-CO" sz="2000" dirty="0" err="1"/>
              <a:t>Survelliance</a:t>
            </a:r>
            <a:r>
              <a:rPr lang="es-CO" sz="2000" dirty="0"/>
              <a:t> Radar.</a:t>
            </a:r>
            <a:endParaRPr lang="es-CO" sz="2000" b="1" dirty="0"/>
          </a:p>
          <a:p>
            <a:r>
              <a:rPr lang="es-CO" sz="2000" b="1" dirty="0"/>
              <a:t>Radar secundario (SSR) – </a:t>
            </a:r>
            <a:r>
              <a:rPr lang="es-CO" sz="2000" dirty="0" err="1"/>
              <a:t>Secondary</a:t>
            </a:r>
            <a:r>
              <a:rPr lang="es-CO" sz="2000" dirty="0"/>
              <a:t> </a:t>
            </a:r>
            <a:r>
              <a:rPr lang="es-CO" sz="2000" dirty="0" err="1"/>
              <a:t>Survelliance</a:t>
            </a:r>
            <a:r>
              <a:rPr lang="es-CO" sz="2000" dirty="0"/>
              <a:t> Radar.</a:t>
            </a:r>
          </a:p>
        </p:txBody>
      </p:sp>
    </p:spTree>
    <p:extLst>
      <p:ext uri="{BB962C8B-B14F-4D97-AF65-F5344CB8AC3E}">
        <p14:creationId xmlns:p14="http://schemas.microsoft.com/office/powerpoint/2010/main" val="4052689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FCDEF-0C7D-C512-F94C-EAC361970A7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739740-F5FB-01F8-E263-400C478F5327}"/>
              </a:ext>
            </a:extLst>
          </p:cNvPr>
          <p:cNvSpPr>
            <a:spLocks noGrp="1"/>
          </p:cNvSpPr>
          <p:nvPr>
            <p:ph type="sldNum" sz="quarter" idx="12"/>
          </p:nvPr>
        </p:nvSpPr>
        <p:spPr/>
        <p:txBody>
          <a:bodyPr/>
          <a:lstStyle/>
          <a:p>
            <a:fld id="{16B7FEC2-09BE-4569-8D55-B52F6B35789D}" type="slidenum">
              <a:rPr lang="es-CO" smtClean="0"/>
              <a:t>23</a:t>
            </a:fld>
            <a:endParaRPr lang="es-CO" dirty="0"/>
          </a:p>
        </p:txBody>
      </p:sp>
      <p:sp>
        <p:nvSpPr>
          <p:cNvPr id="3" name="내용 개체 틀 2">
            <a:extLst>
              <a:ext uri="{FF2B5EF4-FFF2-40B4-BE49-F238E27FC236}">
                <a16:creationId xmlns:a16="http://schemas.microsoft.com/office/drawing/2014/main" id="{223B187D-1D4A-1180-C6F1-D837375D8239}"/>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Tipos de radar</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4F5B34A9-9451-6C24-3C3C-61EB67A7C5B5}"/>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Radar primario y secundario</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532C06C7-6CB2-6D1C-0CB6-63F7510DDAA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806B57AF-95AE-4423-0724-5DBCC8AA389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Imagen 15" descr="aviacion">
            <a:extLst>
              <a:ext uri="{FF2B5EF4-FFF2-40B4-BE49-F238E27FC236}">
                <a16:creationId xmlns:a16="http://schemas.microsoft.com/office/drawing/2014/main" id="{7B2FC6AE-B139-A123-8A89-EA3F53C25E5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827324" y="2430118"/>
            <a:ext cx="5589512" cy="3828694"/>
          </a:xfrm>
          <a:prstGeom prst="rect">
            <a:avLst/>
          </a:prstGeom>
          <a:noFill/>
          <a:ln>
            <a:noFill/>
          </a:ln>
        </p:spPr>
      </p:pic>
      <p:sp>
        <p:nvSpPr>
          <p:cNvPr id="18" name="내용 개체 틀 2">
            <a:extLst>
              <a:ext uri="{FF2B5EF4-FFF2-40B4-BE49-F238E27FC236}">
                <a16:creationId xmlns:a16="http://schemas.microsoft.com/office/drawing/2014/main" id="{C01F6892-AB06-2F98-2FB7-67A57C709BFB}"/>
              </a:ext>
            </a:extLst>
          </p:cNvPr>
          <p:cNvSpPr txBox="1">
            <a:spLocks/>
          </p:cNvSpPr>
          <p:nvPr/>
        </p:nvSpPr>
        <p:spPr bwMode="auto">
          <a:xfrm>
            <a:off x="259538" y="1297298"/>
            <a:ext cx="88328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0975" indent="-180975"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CO" sz="2000" b="1" dirty="0"/>
              <a:t>Radar Primario (PSR) – </a:t>
            </a:r>
            <a:r>
              <a:rPr lang="es-CO" sz="2000" dirty="0" err="1"/>
              <a:t>Primary</a:t>
            </a:r>
            <a:r>
              <a:rPr lang="es-CO" sz="2000" dirty="0"/>
              <a:t> </a:t>
            </a:r>
            <a:r>
              <a:rPr lang="es-CO" sz="2000" dirty="0" err="1"/>
              <a:t>Survelliance</a:t>
            </a:r>
            <a:r>
              <a:rPr lang="es-CO" sz="2000" dirty="0"/>
              <a:t> Radar.</a:t>
            </a:r>
            <a:endParaRPr lang="es-CO" sz="2000" b="1" dirty="0"/>
          </a:p>
          <a:p>
            <a:r>
              <a:rPr lang="es-CO" sz="2000" b="1" dirty="0"/>
              <a:t>Radar secundario (SSR) – </a:t>
            </a:r>
            <a:r>
              <a:rPr lang="es-CO" sz="2000" dirty="0" err="1"/>
              <a:t>Secondary</a:t>
            </a:r>
            <a:r>
              <a:rPr lang="es-CO" sz="2000" dirty="0"/>
              <a:t> </a:t>
            </a:r>
            <a:r>
              <a:rPr lang="es-CO" sz="2000" dirty="0" err="1"/>
              <a:t>Survelliance</a:t>
            </a:r>
            <a:r>
              <a:rPr lang="es-CO" sz="2000" dirty="0"/>
              <a:t> Radar.</a:t>
            </a:r>
          </a:p>
        </p:txBody>
      </p:sp>
    </p:spTree>
    <p:extLst>
      <p:ext uri="{BB962C8B-B14F-4D97-AF65-F5344CB8AC3E}">
        <p14:creationId xmlns:p14="http://schemas.microsoft.com/office/powerpoint/2010/main" val="3166765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24</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3600" b="1" dirty="0">
                <a:solidFill>
                  <a:schemeClr val="accent1">
                    <a:lumMod val="50000"/>
                  </a:schemeClr>
                </a:solidFill>
                <a:cs typeface="Arial" panose="020B0604020202020204" pitchFamily="34" charset="0"/>
              </a:rPr>
              <a:t>Radar Primario (PSR)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err="1">
                <a:solidFill>
                  <a:schemeClr val="accent1">
                    <a:lumMod val="75000"/>
                  </a:schemeClr>
                </a:solidFill>
                <a:cs typeface="Arial" panose="020B0604020202020204" pitchFamily="34" charset="0"/>
              </a:rPr>
              <a:t>Primary</a:t>
            </a:r>
            <a:r>
              <a:rPr lang="es-CO" sz="2400" b="1" dirty="0">
                <a:solidFill>
                  <a:schemeClr val="accent1">
                    <a:lumMod val="75000"/>
                  </a:schemeClr>
                </a:solidFill>
                <a:cs typeface="Arial" panose="020B0604020202020204" pitchFamily="34" charset="0"/>
              </a:rPr>
              <a:t> </a:t>
            </a:r>
            <a:r>
              <a:rPr lang="es-CO" sz="2400" b="1" dirty="0" err="1">
                <a:solidFill>
                  <a:schemeClr val="accent1">
                    <a:lumMod val="75000"/>
                  </a:schemeClr>
                </a:solidFill>
                <a:cs typeface="Arial" panose="020B0604020202020204" pitchFamily="34" charset="0"/>
              </a:rPr>
              <a:t>Surveillance</a:t>
            </a:r>
            <a:r>
              <a:rPr lang="es-CO" sz="2400" b="1" dirty="0">
                <a:solidFill>
                  <a:schemeClr val="accent1">
                    <a:lumMod val="75000"/>
                  </a:schemeClr>
                </a:solidFill>
                <a:cs typeface="Arial" panose="020B0604020202020204" pitchFamily="34" charset="0"/>
              </a:rPr>
              <a:t> Radar</a:t>
            </a: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59538" y="1170037"/>
            <a:ext cx="11828830"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419" sz="2400" dirty="0"/>
              <a:t>E</a:t>
            </a:r>
            <a:r>
              <a:rPr lang="es-ES" sz="2400" dirty="0"/>
              <a:t>quipos de radar clásicos que detectan las aeronaves mediante</a:t>
            </a:r>
            <a:r>
              <a:rPr lang="es-419" sz="2400" dirty="0"/>
              <a:t> </a:t>
            </a:r>
            <a:r>
              <a:rPr lang="es-ES" sz="2400" dirty="0"/>
              <a:t>la utilización de pulsos de energía electromagnética que al golpear a las aeronaves generan un eco de</a:t>
            </a:r>
            <a:r>
              <a:rPr lang="es-419" sz="2400" dirty="0"/>
              <a:t> </a:t>
            </a:r>
            <a:r>
              <a:rPr lang="es-ES" sz="2400" dirty="0"/>
              <a:t>respuesta hacia la estación </a:t>
            </a:r>
            <a:r>
              <a:rPr lang="es-ES" sz="2400" dirty="0" err="1"/>
              <a:t>sensora</a:t>
            </a:r>
            <a:r>
              <a:rPr lang="es-ES" sz="2400" dirty="0"/>
              <a:t>.</a:t>
            </a:r>
            <a:endParaRPr lang="en-US" sz="2400" dirty="0"/>
          </a:p>
        </p:txBody>
      </p:sp>
      <p:sp>
        <p:nvSpPr>
          <p:cNvPr id="9" name="28 Rectángulo"/>
          <p:cNvSpPr>
            <a:spLocks noChangeArrowheads="1"/>
          </p:cNvSpPr>
          <p:nvPr/>
        </p:nvSpPr>
        <p:spPr bwMode="auto">
          <a:xfrm>
            <a:off x="259538" y="2453421"/>
            <a:ext cx="11563654" cy="707886"/>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pPr marL="342900" indent="-342900">
              <a:buFont typeface="Wingdings" panose="05000000000000000000" pitchFamily="2" charset="2"/>
              <a:buChar char="§"/>
            </a:pPr>
            <a:r>
              <a:rPr lang="es-ES" sz="2000" b="0" dirty="0">
                <a:latin typeface="+mn-lt"/>
                <a:cs typeface="Lucida Sans" pitchFamily="34" charset="0"/>
              </a:rPr>
              <a:t>BLANCO (aeronave) es un objeto pasivo</a:t>
            </a:r>
            <a:r>
              <a:rPr lang="es-419" sz="2000" b="0" dirty="0">
                <a:latin typeface="+mn-lt"/>
                <a:cs typeface="Lucida Sans" pitchFamily="34" charset="0"/>
              </a:rPr>
              <a:t> – solo </a:t>
            </a:r>
            <a:r>
              <a:rPr lang="es-ES" sz="2000" b="0" dirty="0">
                <a:latin typeface="+mn-lt"/>
                <a:cs typeface="Lucida Sans" pitchFamily="34" charset="0"/>
              </a:rPr>
              <a:t>presenta una superficie de reflexión</a:t>
            </a:r>
            <a:endParaRPr lang="es-419" sz="2000" b="0" dirty="0">
              <a:latin typeface="+mn-lt"/>
              <a:cs typeface="Lucida Sans" pitchFamily="34" charset="0"/>
            </a:endParaRPr>
          </a:p>
          <a:p>
            <a:pPr marL="342900" indent="-342900">
              <a:buFont typeface="Wingdings" panose="05000000000000000000" pitchFamily="2" charset="2"/>
              <a:buChar char="§"/>
            </a:pPr>
            <a:r>
              <a:rPr lang="es-419" sz="2000" b="0" dirty="0">
                <a:latin typeface="+mn-lt"/>
                <a:cs typeface="Lucida Sans" pitchFamily="34" charset="0"/>
              </a:rPr>
              <a:t>D</a:t>
            </a:r>
            <a:r>
              <a:rPr lang="es-ES" sz="2000" b="0" dirty="0" err="1">
                <a:latin typeface="+mn-lt"/>
                <a:cs typeface="Lucida Sans" pitchFamily="34" charset="0"/>
              </a:rPr>
              <a:t>esventaja</a:t>
            </a:r>
            <a:r>
              <a:rPr lang="es-419" sz="2000" b="0" dirty="0">
                <a:cs typeface="Lucida Sans" pitchFamily="34" charset="0"/>
              </a:rPr>
              <a:t> – </a:t>
            </a:r>
            <a:r>
              <a:rPr lang="es-ES" sz="2000" b="0" dirty="0">
                <a:latin typeface="+mn-lt"/>
                <a:cs typeface="Lucida Sans" pitchFamily="34" charset="0"/>
              </a:rPr>
              <a:t>no</a:t>
            </a:r>
            <a:r>
              <a:rPr lang="es-419" sz="2000" b="0" dirty="0">
                <a:latin typeface="+mn-lt"/>
                <a:cs typeface="Lucida Sans" pitchFamily="34" charset="0"/>
              </a:rPr>
              <a:t> </a:t>
            </a:r>
            <a:r>
              <a:rPr lang="es-ES" sz="2000" b="0" dirty="0">
                <a:latin typeface="+mn-lt"/>
                <a:cs typeface="Lucida Sans" pitchFamily="34" charset="0"/>
              </a:rPr>
              <a:t>permite una identificación inmediata de la aeronave en contacto radar</a:t>
            </a:r>
          </a:p>
        </p:txBody>
      </p:sp>
      <p:pic>
        <p:nvPicPr>
          <p:cNvPr id="12" name="Picture 11"/>
          <p:cNvPicPr>
            <a:picLocks noChangeAspect="1"/>
          </p:cNvPicPr>
          <p:nvPr/>
        </p:nvPicPr>
        <p:blipFill rotWithShape="1">
          <a:blip r:embed="rId4">
            <a:extLst>
              <a:ext uri="{28A0092B-C50C-407E-A947-70E740481C1C}">
                <a14:useLocalDpi xmlns:a14="http://schemas.microsoft.com/office/drawing/2010/main" val="0"/>
              </a:ext>
            </a:extLst>
          </a:blip>
          <a:srcRect l="7528" t="7810" r="5119" b="18837"/>
          <a:stretch/>
        </p:blipFill>
        <p:spPr>
          <a:xfrm>
            <a:off x="4624988" y="3262423"/>
            <a:ext cx="5877397" cy="3490637"/>
          </a:xfrm>
          <a:prstGeom prst="rect">
            <a:avLst/>
          </a:prstGeom>
        </p:spPr>
      </p:pic>
      <p:pic>
        <p:nvPicPr>
          <p:cNvPr id="15" name="Picture 14"/>
          <p:cNvPicPr>
            <a:picLocks noChangeAspect="1"/>
          </p:cNvPicPr>
          <p:nvPr/>
        </p:nvPicPr>
        <p:blipFill rotWithShape="1">
          <a:blip r:embed="rId5">
            <a:extLst>
              <a:ext uri="{28A0092B-C50C-407E-A947-70E740481C1C}">
                <a14:useLocalDpi xmlns:a14="http://schemas.microsoft.com/office/drawing/2010/main" val="0"/>
              </a:ext>
            </a:extLst>
          </a:blip>
          <a:srcRect l="29853" t="8178" r="26959" b="16059"/>
          <a:stretch/>
        </p:blipFill>
        <p:spPr>
          <a:xfrm>
            <a:off x="1181335" y="3161307"/>
            <a:ext cx="2871103" cy="3560168"/>
          </a:xfrm>
          <a:prstGeom prst="rect">
            <a:avLst/>
          </a:prstGeom>
        </p:spPr>
      </p:pic>
    </p:spTree>
    <p:extLst>
      <p:ext uri="{BB962C8B-B14F-4D97-AF65-F5344CB8AC3E}">
        <p14:creationId xmlns:p14="http://schemas.microsoft.com/office/powerpoint/2010/main" val="1490123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B9C0E68-5E37-84E1-6B03-C3ABEAF1097B}"/>
              </a:ext>
            </a:extLst>
          </p:cNvPr>
          <p:cNvSpPr>
            <a:spLocks noGrp="1"/>
          </p:cNvSpPr>
          <p:nvPr>
            <p:ph type="sldNum" sz="quarter" idx="12"/>
          </p:nvPr>
        </p:nvSpPr>
        <p:spPr/>
        <p:txBody>
          <a:bodyPr/>
          <a:lstStyle/>
          <a:p>
            <a:fld id="{16B7FEC2-09BE-4569-8D55-B52F6B35789D}" type="slidenum">
              <a:rPr lang="es-CO" smtClean="0"/>
              <a:t>25</a:t>
            </a:fld>
            <a:endParaRPr lang="es-CO"/>
          </a:p>
        </p:txBody>
      </p:sp>
      <p:pic>
        <p:nvPicPr>
          <p:cNvPr id="4" name="Imagen 3">
            <a:extLst>
              <a:ext uri="{FF2B5EF4-FFF2-40B4-BE49-F238E27FC236}">
                <a16:creationId xmlns:a16="http://schemas.microsoft.com/office/drawing/2014/main" id="{8212FCE3-B3C8-A94F-4473-C590C08BD6C2}"/>
              </a:ext>
            </a:extLst>
          </p:cNvPr>
          <p:cNvPicPr>
            <a:picLocks noChangeAspect="1"/>
          </p:cNvPicPr>
          <p:nvPr/>
        </p:nvPicPr>
        <p:blipFill>
          <a:blip r:embed="rId2"/>
          <a:stretch>
            <a:fillRect/>
          </a:stretch>
        </p:blipFill>
        <p:spPr>
          <a:xfrm>
            <a:off x="1079348" y="412928"/>
            <a:ext cx="9858375" cy="2581275"/>
          </a:xfrm>
          <a:prstGeom prst="rect">
            <a:avLst/>
          </a:prstGeom>
        </p:spPr>
      </p:pic>
      <p:pic>
        <p:nvPicPr>
          <p:cNvPr id="6" name="Imagen 5">
            <a:extLst>
              <a:ext uri="{FF2B5EF4-FFF2-40B4-BE49-F238E27FC236}">
                <a16:creationId xmlns:a16="http://schemas.microsoft.com/office/drawing/2014/main" id="{53C72607-FA84-AEAA-D572-4259B1506490}"/>
              </a:ext>
            </a:extLst>
          </p:cNvPr>
          <p:cNvPicPr>
            <a:picLocks noChangeAspect="1"/>
          </p:cNvPicPr>
          <p:nvPr/>
        </p:nvPicPr>
        <p:blipFill>
          <a:blip r:embed="rId3"/>
          <a:stretch>
            <a:fillRect/>
          </a:stretch>
        </p:blipFill>
        <p:spPr>
          <a:xfrm>
            <a:off x="720007" y="2994203"/>
            <a:ext cx="9925050" cy="3171825"/>
          </a:xfrm>
          <a:prstGeom prst="rect">
            <a:avLst/>
          </a:prstGeom>
        </p:spPr>
      </p:pic>
    </p:spTree>
    <p:extLst>
      <p:ext uri="{BB962C8B-B14F-4D97-AF65-F5344CB8AC3E}">
        <p14:creationId xmlns:p14="http://schemas.microsoft.com/office/powerpoint/2010/main" val="29666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3F693211-42BF-727B-4E0C-842569A2C561}"/>
              </a:ext>
            </a:extLst>
          </p:cNvPr>
          <p:cNvSpPr>
            <a:spLocks noGrp="1"/>
          </p:cNvSpPr>
          <p:nvPr>
            <p:ph type="sldNum" sz="quarter" idx="12"/>
          </p:nvPr>
        </p:nvSpPr>
        <p:spPr/>
        <p:txBody>
          <a:bodyPr/>
          <a:lstStyle/>
          <a:p>
            <a:fld id="{16B7FEC2-09BE-4569-8D55-B52F6B35789D}" type="slidenum">
              <a:rPr lang="es-CO" smtClean="0"/>
              <a:t>26</a:t>
            </a:fld>
            <a:endParaRPr lang="es-CO"/>
          </a:p>
        </p:txBody>
      </p:sp>
      <p:pic>
        <p:nvPicPr>
          <p:cNvPr id="7" name="Imagen 6">
            <a:extLst>
              <a:ext uri="{FF2B5EF4-FFF2-40B4-BE49-F238E27FC236}">
                <a16:creationId xmlns:a16="http://schemas.microsoft.com/office/drawing/2014/main" id="{F5DDAE5B-702E-B740-3223-2CFD5476470A}"/>
              </a:ext>
            </a:extLst>
          </p:cNvPr>
          <p:cNvPicPr>
            <a:picLocks noChangeAspect="1"/>
          </p:cNvPicPr>
          <p:nvPr/>
        </p:nvPicPr>
        <p:blipFill>
          <a:blip r:embed="rId2"/>
          <a:stretch>
            <a:fillRect/>
          </a:stretch>
        </p:blipFill>
        <p:spPr>
          <a:xfrm>
            <a:off x="1133475" y="299913"/>
            <a:ext cx="9925050" cy="2457450"/>
          </a:xfrm>
          <a:prstGeom prst="rect">
            <a:avLst/>
          </a:prstGeom>
        </p:spPr>
      </p:pic>
      <p:pic>
        <p:nvPicPr>
          <p:cNvPr id="9" name="Imagen 8">
            <a:extLst>
              <a:ext uri="{FF2B5EF4-FFF2-40B4-BE49-F238E27FC236}">
                <a16:creationId xmlns:a16="http://schemas.microsoft.com/office/drawing/2014/main" id="{F520D93E-37B5-0EFF-5FFD-4A544CBC0D02}"/>
              </a:ext>
            </a:extLst>
          </p:cNvPr>
          <p:cNvPicPr>
            <a:picLocks noChangeAspect="1"/>
          </p:cNvPicPr>
          <p:nvPr/>
        </p:nvPicPr>
        <p:blipFill>
          <a:blip r:embed="rId3"/>
          <a:stretch>
            <a:fillRect/>
          </a:stretch>
        </p:blipFill>
        <p:spPr>
          <a:xfrm>
            <a:off x="1133475" y="3446890"/>
            <a:ext cx="9925050" cy="2457450"/>
          </a:xfrm>
          <a:prstGeom prst="rect">
            <a:avLst/>
          </a:prstGeom>
        </p:spPr>
      </p:pic>
    </p:spTree>
    <p:extLst>
      <p:ext uri="{BB962C8B-B14F-4D97-AF65-F5344CB8AC3E}">
        <p14:creationId xmlns:p14="http://schemas.microsoft.com/office/powerpoint/2010/main" val="3510553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308EEAE7-CB2C-8A7B-1ECB-6AE73E99CFAD}"/>
              </a:ext>
            </a:extLst>
          </p:cNvPr>
          <p:cNvSpPr>
            <a:spLocks noGrp="1"/>
          </p:cNvSpPr>
          <p:nvPr>
            <p:ph type="sldNum" sz="quarter" idx="12"/>
          </p:nvPr>
        </p:nvSpPr>
        <p:spPr/>
        <p:txBody>
          <a:bodyPr/>
          <a:lstStyle/>
          <a:p>
            <a:fld id="{16B7FEC2-09BE-4569-8D55-B52F6B35789D}" type="slidenum">
              <a:rPr lang="es-CO" smtClean="0"/>
              <a:t>27</a:t>
            </a:fld>
            <a:endParaRPr lang="es-CO"/>
          </a:p>
        </p:txBody>
      </p:sp>
      <p:pic>
        <p:nvPicPr>
          <p:cNvPr id="4" name="Imagen 3">
            <a:extLst>
              <a:ext uri="{FF2B5EF4-FFF2-40B4-BE49-F238E27FC236}">
                <a16:creationId xmlns:a16="http://schemas.microsoft.com/office/drawing/2014/main" id="{9CBC0C55-27BC-0D7A-4843-61E0F01FB2F9}"/>
              </a:ext>
            </a:extLst>
          </p:cNvPr>
          <p:cNvPicPr>
            <a:picLocks noChangeAspect="1"/>
          </p:cNvPicPr>
          <p:nvPr/>
        </p:nvPicPr>
        <p:blipFill>
          <a:blip r:embed="rId2"/>
          <a:stretch>
            <a:fillRect/>
          </a:stretch>
        </p:blipFill>
        <p:spPr>
          <a:xfrm>
            <a:off x="1323975" y="1552575"/>
            <a:ext cx="9544050" cy="3752850"/>
          </a:xfrm>
          <a:prstGeom prst="rect">
            <a:avLst/>
          </a:prstGeom>
        </p:spPr>
      </p:pic>
    </p:spTree>
    <p:extLst>
      <p:ext uri="{BB962C8B-B14F-4D97-AF65-F5344CB8AC3E}">
        <p14:creationId xmlns:p14="http://schemas.microsoft.com/office/powerpoint/2010/main" val="1334695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28</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3600" b="1" dirty="0">
                <a:solidFill>
                  <a:schemeClr val="accent1">
                    <a:lumMod val="50000"/>
                  </a:schemeClr>
                </a:solidFill>
                <a:cs typeface="Arial" panose="020B0604020202020204" pitchFamily="34" charset="0"/>
              </a:rPr>
              <a:t>Radar Secundario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err="1">
                <a:solidFill>
                  <a:schemeClr val="accent1">
                    <a:lumMod val="75000"/>
                  </a:schemeClr>
                </a:solidFill>
                <a:cs typeface="Arial" panose="020B0604020202020204" pitchFamily="34" charset="0"/>
              </a:rPr>
              <a:t>Secondary</a:t>
            </a:r>
            <a:r>
              <a:rPr lang="es-419" sz="2400" b="1" dirty="0">
                <a:solidFill>
                  <a:schemeClr val="accent1">
                    <a:lumMod val="75000"/>
                  </a:schemeClr>
                </a:solidFill>
                <a:cs typeface="Arial" panose="020B0604020202020204" pitchFamily="34" charset="0"/>
              </a:rPr>
              <a:t> </a:t>
            </a:r>
            <a:r>
              <a:rPr lang="es-CO" sz="2400" b="1" dirty="0" err="1">
                <a:solidFill>
                  <a:schemeClr val="accent1">
                    <a:lumMod val="75000"/>
                  </a:schemeClr>
                </a:solidFill>
                <a:cs typeface="Arial" panose="020B0604020202020204" pitchFamily="34" charset="0"/>
              </a:rPr>
              <a:t>Surveillance</a:t>
            </a:r>
            <a:r>
              <a:rPr lang="es-CO" sz="2400" b="1" dirty="0">
                <a:solidFill>
                  <a:schemeClr val="accent1">
                    <a:lumMod val="75000"/>
                  </a:schemeClr>
                </a:solidFill>
                <a:cs typeface="Arial" panose="020B0604020202020204" pitchFamily="34" charset="0"/>
              </a:rPr>
              <a:t> Radar</a:t>
            </a: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424443" y="1663060"/>
            <a:ext cx="10554236" cy="181588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CO" sz="2800" dirty="0"/>
              <a:t>Permite</a:t>
            </a:r>
            <a:r>
              <a:rPr lang="es-ES" sz="2800" dirty="0"/>
              <a:t> una inmediata identificación de la aeronave en</a:t>
            </a:r>
            <a:r>
              <a:rPr lang="es-419" sz="2800" dirty="0"/>
              <a:t> </a:t>
            </a:r>
            <a:r>
              <a:rPr lang="es-ES" sz="2800" dirty="0"/>
              <a:t>contacto radar. Con tal motivo se desarrolló la técnica fundamentada en un dialogo entre los equipos de la</a:t>
            </a:r>
            <a:r>
              <a:rPr lang="es-419" sz="2800" dirty="0"/>
              <a:t> </a:t>
            </a:r>
            <a:r>
              <a:rPr lang="es-ES" sz="2800" dirty="0"/>
              <a:t>estación y un equipo especializado a bordo de la aeronave, denominado RESPONDEDOR.</a:t>
            </a:r>
            <a:endParaRPr lang="en-US" sz="2800" dirty="0"/>
          </a:p>
        </p:txBody>
      </p:sp>
      <p:sp>
        <p:nvSpPr>
          <p:cNvPr id="9" name="28 Rectángulo"/>
          <p:cNvSpPr>
            <a:spLocks noChangeArrowheads="1"/>
          </p:cNvSpPr>
          <p:nvPr/>
        </p:nvSpPr>
        <p:spPr bwMode="auto">
          <a:xfrm>
            <a:off x="424443" y="3932622"/>
            <a:ext cx="10080873" cy="156966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CO" sz="2400" b="0" dirty="0">
                <a:latin typeface="Arial" panose="020B0604020202020204" pitchFamily="34" charset="0"/>
                <a:cs typeface="Arial" panose="020B0604020202020204" pitchFamily="34" charset="0"/>
              </a:rPr>
              <a:t>Diálogo</a:t>
            </a:r>
            <a:r>
              <a:rPr lang="es-419" sz="2400" b="0" dirty="0">
                <a:latin typeface="Arial" panose="020B0604020202020204" pitchFamily="34" charset="0"/>
                <a:cs typeface="Arial" panose="020B0604020202020204" pitchFamily="34" charset="0"/>
              </a:rPr>
              <a:t> </a:t>
            </a:r>
            <a:r>
              <a:rPr lang="es-ES" sz="2400" b="0" dirty="0">
                <a:latin typeface="Arial" panose="020B0604020202020204" pitchFamily="34" charset="0"/>
                <a:cs typeface="Arial" panose="020B0604020202020204" pitchFamily="34" charset="0"/>
              </a:rPr>
              <a:t>codificado, entre la estación de RADAR SSR y el TRANSPONDER en cada</a:t>
            </a:r>
            <a:r>
              <a:rPr lang="es-419" sz="2400" b="0" dirty="0">
                <a:latin typeface="Arial" panose="020B0604020202020204" pitchFamily="34" charset="0"/>
                <a:cs typeface="Arial" panose="020B0604020202020204" pitchFamily="34" charset="0"/>
              </a:rPr>
              <a:t> </a:t>
            </a:r>
            <a:r>
              <a:rPr lang="es-ES" sz="2400" b="0" dirty="0">
                <a:latin typeface="Arial" panose="020B0604020202020204" pitchFamily="34" charset="0"/>
                <a:cs typeface="Arial" panose="020B0604020202020204" pitchFamily="34" charset="0"/>
              </a:rPr>
              <a:t>aeronave permite</a:t>
            </a:r>
            <a:r>
              <a:rPr lang="es-419" sz="2400" b="0" dirty="0">
                <a:latin typeface="Arial" panose="020B0604020202020204" pitchFamily="34" charset="0"/>
                <a:cs typeface="Arial" panose="020B0604020202020204" pitchFamily="34" charset="0"/>
              </a:rPr>
              <a:t>:</a:t>
            </a:r>
          </a:p>
          <a:p>
            <a:pPr marL="342900" indent="-342900">
              <a:buFont typeface="Arial" panose="020B0604020202020204" pitchFamily="34" charset="0"/>
              <a:buChar char="•"/>
            </a:pPr>
            <a:r>
              <a:rPr lang="es-419" sz="2400" b="0" dirty="0">
                <a:latin typeface="Arial" panose="020B0604020202020204" pitchFamily="34" charset="0"/>
                <a:cs typeface="Arial" panose="020B0604020202020204" pitchFamily="34" charset="0"/>
              </a:rPr>
              <a:t>P</a:t>
            </a:r>
            <a:r>
              <a:rPr lang="es-ES" sz="2400" b="0" dirty="0" err="1">
                <a:latin typeface="Arial" panose="020B0604020202020204" pitchFamily="34" charset="0"/>
                <a:cs typeface="Arial" panose="020B0604020202020204" pitchFamily="34" charset="0"/>
              </a:rPr>
              <a:t>reguntar</a:t>
            </a:r>
            <a:r>
              <a:rPr lang="es-419" sz="2400" b="0" dirty="0">
                <a:latin typeface="Arial" panose="020B0604020202020204" pitchFamily="34" charset="0"/>
                <a:cs typeface="Arial" panose="020B0604020202020204" pitchFamily="34" charset="0"/>
              </a:rPr>
              <a:t> </a:t>
            </a:r>
            <a:r>
              <a:rPr lang="es-ES" sz="2400" b="0" dirty="0">
                <a:latin typeface="Arial" panose="020B0604020202020204" pitchFamily="34" charset="0"/>
                <a:cs typeface="Arial" panose="020B0604020202020204" pitchFamily="34" charset="0"/>
              </a:rPr>
              <a:t>identificación,</a:t>
            </a:r>
            <a:endParaRPr lang="es-419" sz="2400" b="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s-419" sz="2400" b="0" dirty="0">
                <a:latin typeface="Arial" panose="020B0604020202020204" pitchFamily="34" charset="0"/>
                <a:cs typeface="Arial" panose="020B0604020202020204" pitchFamily="34" charset="0"/>
              </a:rPr>
              <a:t>P</a:t>
            </a:r>
            <a:r>
              <a:rPr lang="es-ES" sz="2400" b="0" dirty="0" err="1">
                <a:latin typeface="Arial" panose="020B0604020202020204" pitchFamily="34" charset="0"/>
                <a:cs typeface="Arial" panose="020B0604020202020204" pitchFamily="34" charset="0"/>
              </a:rPr>
              <a:t>reguntar</a:t>
            </a:r>
            <a:r>
              <a:rPr lang="es-419" sz="2400" b="0" dirty="0">
                <a:latin typeface="Arial" panose="020B0604020202020204" pitchFamily="34" charset="0"/>
                <a:cs typeface="Arial" panose="020B0604020202020204" pitchFamily="34" charset="0"/>
              </a:rPr>
              <a:t> </a:t>
            </a:r>
            <a:r>
              <a:rPr lang="es-ES" sz="2400" b="0" dirty="0">
                <a:latin typeface="Arial" panose="020B0604020202020204" pitchFamily="34" charset="0"/>
                <a:cs typeface="Arial" panose="020B0604020202020204" pitchFamily="34" charset="0"/>
              </a:rPr>
              <a:t>altura de vuelo de la aeronave</a:t>
            </a:r>
            <a:endParaRPr lang="es-419" sz="24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354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932BE-A887-106D-607E-A67465744E8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F6FE25-FB4E-85CC-DDF7-8D2904962351}"/>
              </a:ext>
            </a:extLst>
          </p:cNvPr>
          <p:cNvSpPr>
            <a:spLocks noGrp="1"/>
          </p:cNvSpPr>
          <p:nvPr>
            <p:ph type="sldNum" sz="quarter" idx="12"/>
          </p:nvPr>
        </p:nvSpPr>
        <p:spPr>
          <a:xfrm>
            <a:off x="8584280" y="6333957"/>
            <a:ext cx="2743200" cy="365125"/>
          </a:xfrm>
        </p:spPr>
        <p:txBody>
          <a:bodyPr/>
          <a:lstStyle/>
          <a:p>
            <a:fld id="{16B7FEC2-09BE-4569-8D55-B52F6B35789D}" type="slidenum">
              <a:rPr lang="es-CO" smtClean="0"/>
              <a:t>29</a:t>
            </a:fld>
            <a:endParaRPr lang="es-CO" dirty="0"/>
          </a:p>
        </p:txBody>
      </p:sp>
      <p:sp>
        <p:nvSpPr>
          <p:cNvPr id="3" name="내용 개체 틀 2">
            <a:extLst>
              <a:ext uri="{FF2B5EF4-FFF2-40B4-BE49-F238E27FC236}">
                <a16:creationId xmlns:a16="http://schemas.microsoft.com/office/drawing/2014/main" id="{777B3A4F-9141-6467-B218-9A0A7712B169}"/>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3600" b="1" dirty="0">
                <a:solidFill>
                  <a:schemeClr val="accent1">
                    <a:lumMod val="50000"/>
                  </a:schemeClr>
                </a:solidFill>
                <a:cs typeface="Arial" panose="020B0604020202020204" pitchFamily="34" charset="0"/>
              </a:rPr>
              <a:t>Radar Secundario (SSR)</a:t>
            </a: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EE235785-7E86-236E-8CED-7D3E45FBCB49}"/>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err="1">
                <a:solidFill>
                  <a:schemeClr val="accent1">
                    <a:lumMod val="75000"/>
                  </a:schemeClr>
                </a:solidFill>
                <a:cs typeface="Arial" panose="020B0604020202020204" pitchFamily="34" charset="0"/>
              </a:rPr>
              <a:t>Secondary</a:t>
            </a:r>
            <a:r>
              <a:rPr lang="es-419" sz="2400" b="1" dirty="0">
                <a:solidFill>
                  <a:schemeClr val="accent1">
                    <a:lumMod val="75000"/>
                  </a:schemeClr>
                </a:solidFill>
                <a:cs typeface="Arial" panose="020B0604020202020204" pitchFamily="34" charset="0"/>
              </a:rPr>
              <a:t> </a:t>
            </a:r>
            <a:r>
              <a:rPr lang="es-CO" sz="2400" b="1" dirty="0" err="1">
                <a:solidFill>
                  <a:schemeClr val="accent1">
                    <a:lumMod val="75000"/>
                  </a:schemeClr>
                </a:solidFill>
                <a:cs typeface="Arial" panose="020B0604020202020204" pitchFamily="34" charset="0"/>
              </a:rPr>
              <a:t>Surveillance</a:t>
            </a:r>
            <a:r>
              <a:rPr lang="es-CO" sz="2400" b="1" dirty="0">
                <a:solidFill>
                  <a:schemeClr val="accent1">
                    <a:lumMod val="75000"/>
                  </a:schemeClr>
                </a:solidFill>
                <a:cs typeface="Arial" panose="020B0604020202020204" pitchFamily="34" charset="0"/>
              </a:rPr>
              <a:t> Radar</a:t>
            </a: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29716E12-8FC8-BAB4-F590-AA9DF48ECC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E3A77F06-9957-D540-2DCA-38BE23B6CE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1 Título">
            <a:extLst>
              <a:ext uri="{FF2B5EF4-FFF2-40B4-BE49-F238E27FC236}">
                <a16:creationId xmlns:a16="http://schemas.microsoft.com/office/drawing/2014/main" id="{D2C6A2E4-33E9-41C5-452A-EE3631F4556D}"/>
              </a:ext>
            </a:extLst>
          </p:cNvPr>
          <p:cNvSpPr txBox="1">
            <a:spLocks/>
          </p:cNvSpPr>
          <p:nvPr/>
        </p:nvSpPr>
        <p:spPr bwMode="auto">
          <a:xfrm>
            <a:off x="5650182" y="3815297"/>
            <a:ext cx="2751660" cy="32400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pPr marL="0" marR="0" lvl="0" indent="0" defTabSz="914400" rtl="0" eaLnBrk="0" fontAlgn="base" latinLnBrk="0" hangingPunct="0">
              <a:lnSpc>
                <a:spcPct val="100000"/>
              </a:lnSpc>
              <a:spcBef>
                <a:spcPct val="0"/>
              </a:spcBef>
              <a:spcAft>
                <a:spcPct val="0"/>
              </a:spcAft>
              <a:buClr>
                <a:srgbClr val="483700"/>
              </a:buClr>
              <a:buSzPct val="80000"/>
              <a:tabLst/>
              <a:defRPr/>
            </a:pPr>
            <a:r>
              <a:rPr kumimoji="0" lang="es-ES_tradnl" sz="1800" i="0" u="none" strike="noStrike" kern="0" cap="none" spc="0" normalizeH="0" baseline="0" noProof="0" dirty="0">
                <a:solidFill>
                  <a:schemeClr val="accent1">
                    <a:lumMod val="50000"/>
                  </a:schemeClr>
                </a:solidFill>
                <a:uLnTx/>
                <a:uFillTx/>
                <a:latin typeface="+mn-lt"/>
                <a:ea typeface="+mj-ea"/>
                <a:cs typeface="Lucida Sans" pitchFamily="34" charset="0"/>
              </a:rPr>
              <a:t>El radiador isotrópico</a:t>
            </a:r>
            <a:endParaRPr kumimoji="0" lang="es-ES" sz="1800" i="0" u="none" strike="noStrike" kern="0" cap="none" spc="0" normalizeH="0" baseline="0" noProof="0" dirty="0">
              <a:solidFill>
                <a:schemeClr val="accent1">
                  <a:lumMod val="50000"/>
                </a:schemeClr>
              </a:solidFill>
              <a:uLnTx/>
              <a:uFillTx/>
              <a:latin typeface="+mn-lt"/>
              <a:ea typeface="+mj-ea"/>
              <a:cs typeface="Lucida Sans" pitchFamily="34" charset="0"/>
            </a:endParaRPr>
          </a:p>
        </p:txBody>
      </p:sp>
      <p:sp>
        <p:nvSpPr>
          <p:cNvPr id="10" name="30 Rectángulo">
            <a:extLst>
              <a:ext uri="{FF2B5EF4-FFF2-40B4-BE49-F238E27FC236}">
                <a16:creationId xmlns:a16="http://schemas.microsoft.com/office/drawing/2014/main" id="{72EA2C0D-789A-116F-089B-F790F20B37CC}"/>
              </a:ext>
            </a:extLst>
          </p:cNvPr>
          <p:cNvSpPr>
            <a:spLocks noChangeArrowheads="1"/>
          </p:cNvSpPr>
          <p:nvPr/>
        </p:nvSpPr>
        <p:spPr bwMode="auto">
          <a:xfrm>
            <a:off x="554871" y="1356144"/>
            <a:ext cx="10400889" cy="2246769"/>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800" b="0" dirty="0" err="1">
                <a:solidFill>
                  <a:schemeClr val="bg1"/>
                </a:solidFill>
                <a:latin typeface="+mn-lt"/>
                <a:cs typeface="Lucida Sans" pitchFamily="34" charset="0"/>
              </a:rPr>
              <a:t>Vapacidad</a:t>
            </a:r>
            <a:r>
              <a:rPr lang="es-ES" sz="2800" b="0" dirty="0">
                <a:solidFill>
                  <a:schemeClr val="bg1"/>
                </a:solidFill>
                <a:latin typeface="+mn-lt"/>
                <a:cs typeface="Lucida Sans" pitchFamily="34" charset="0"/>
              </a:rPr>
              <a:t> de poder recibir directamente de la aeronave mensajes de</a:t>
            </a:r>
            <a:r>
              <a:rPr lang="es-419" sz="2800" b="0" dirty="0">
                <a:solidFill>
                  <a:schemeClr val="bg1"/>
                </a:solidFill>
                <a:latin typeface="+mn-lt"/>
                <a:cs typeface="Lucida Sans" pitchFamily="34" charset="0"/>
              </a:rPr>
              <a:t> </a:t>
            </a:r>
            <a:r>
              <a:rPr lang="es-ES" sz="2800" b="0" dirty="0">
                <a:solidFill>
                  <a:schemeClr val="bg1"/>
                </a:solidFill>
                <a:latin typeface="+mn-lt"/>
                <a:cs typeface="Lucida Sans" pitchFamily="34" charset="0"/>
              </a:rPr>
              <a:t>emergencia, fallas de comunicaciones o interferencia ilícita. Por último otra gran ventaja está en que la</a:t>
            </a:r>
            <a:r>
              <a:rPr lang="es-419" sz="2800" b="0" dirty="0">
                <a:solidFill>
                  <a:schemeClr val="bg1"/>
                </a:solidFill>
                <a:latin typeface="+mn-lt"/>
                <a:cs typeface="Lucida Sans" pitchFamily="34" charset="0"/>
              </a:rPr>
              <a:t> </a:t>
            </a:r>
            <a:r>
              <a:rPr lang="es-ES" sz="2800" b="0" dirty="0">
                <a:solidFill>
                  <a:schemeClr val="bg1"/>
                </a:solidFill>
                <a:latin typeface="+mn-lt"/>
                <a:cs typeface="Lucida Sans" pitchFamily="34" charset="0"/>
              </a:rPr>
              <a:t>aeronave puede, a solicitud del controlador, accionar por un breve período de tiempo un pulso </a:t>
            </a:r>
            <a:r>
              <a:rPr lang="es-419" sz="2800" b="0" dirty="0">
                <a:solidFill>
                  <a:schemeClr val="bg1"/>
                </a:solidFill>
                <a:latin typeface="+mn-lt"/>
                <a:cs typeface="Lucida Sans" pitchFamily="34" charset="0"/>
              </a:rPr>
              <a:t> </a:t>
            </a:r>
            <a:r>
              <a:rPr lang="es-ES" sz="2800" b="0" dirty="0">
                <a:solidFill>
                  <a:schemeClr val="bg1"/>
                </a:solidFill>
                <a:latin typeface="+mn-lt"/>
                <a:cs typeface="Lucida Sans" pitchFamily="34" charset="0"/>
              </a:rPr>
              <a:t>especial de</a:t>
            </a:r>
            <a:r>
              <a:rPr lang="es-419" sz="2800" b="0" dirty="0">
                <a:solidFill>
                  <a:schemeClr val="bg1"/>
                </a:solidFill>
                <a:latin typeface="+mn-lt"/>
                <a:cs typeface="Lucida Sans" pitchFamily="34" charset="0"/>
              </a:rPr>
              <a:t> </a:t>
            </a:r>
            <a:r>
              <a:rPr lang="es-ES" sz="2800" b="0" dirty="0">
                <a:solidFill>
                  <a:schemeClr val="bg1"/>
                </a:solidFill>
                <a:latin typeface="+mn-lt"/>
                <a:cs typeface="Lucida Sans" pitchFamily="34" charset="0"/>
              </a:rPr>
              <a:t>identificación SPI.</a:t>
            </a:r>
          </a:p>
        </p:txBody>
      </p:sp>
      <p:sp>
        <p:nvSpPr>
          <p:cNvPr id="11" name="13 CuadroTexto">
            <a:extLst>
              <a:ext uri="{FF2B5EF4-FFF2-40B4-BE49-F238E27FC236}">
                <a16:creationId xmlns:a16="http://schemas.microsoft.com/office/drawing/2014/main" id="{91797568-EE8E-0E4F-3D4C-BF88E7C2DBE6}"/>
              </a:ext>
            </a:extLst>
          </p:cNvPr>
          <p:cNvSpPr txBox="1">
            <a:spLocks noChangeArrowheads="1"/>
          </p:cNvSpPr>
          <p:nvPr/>
        </p:nvSpPr>
        <p:spPr bwMode="auto">
          <a:xfrm>
            <a:off x="653725" y="4905735"/>
            <a:ext cx="4299942" cy="92333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1800" b="0" i="1" dirty="0">
                <a:latin typeface="+mn-lt"/>
                <a:cs typeface="Times New Roman" pitchFamily="18" charset="0"/>
              </a:rPr>
              <a:t>S</a:t>
            </a:r>
            <a:r>
              <a:rPr lang="es-ES" sz="1800" b="0" i="1" baseline="-25000" dirty="0">
                <a:latin typeface="+mn-lt"/>
                <a:cs typeface="Times New Roman" pitchFamily="18" charset="0"/>
              </a:rPr>
              <a:t>i </a:t>
            </a:r>
            <a:r>
              <a:rPr lang="es-ES" sz="1800" b="0" i="1" dirty="0">
                <a:latin typeface="+mn-lt"/>
                <a:cs typeface="Times New Roman" pitchFamily="18" charset="0"/>
              </a:rPr>
              <a:t>-</a:t>
            </a:r>
            <a:r>
              <a:rPr lang="es-ES" sz="1800" b="0" dirty="0">
                <a:latin typeface="+mn-lt"/>
                <a:cs typeface="Times New Roman" pitchFamily="18" charset="0"/>
              </a:rPr>
              <a:t> </a:t>
            </a:r>
            <a:r>
              <a:rPr lang="es-ES" sz="1600" b="0" dirty="0">
                <a:latin typeface="+mn-lt"/>
                <a:cs typeface="Lucida Sans" pitchFamily="34" charset="0"/>
              </a:rPr>
              <a:t>densidad de potencia isotrópica, en </a:t>
            </a:r>
            <a:r>
              <a:rPr lang="es-ES" sz="1600" b="0" dirty="0">
                <a:latin typeface="+mn-lt"/>
                <a:cs typeface="Lucida Sans" pitchFamily="34" charset="0"/>
                <a:sym typeface="Symbol" pitchFamily="18" charset="2"/>
              </a:rPr>
              <a:t>W/m</a:t>
            </a:r>
            <a:r>
              <a:rPr lang="es-ES" sz="1600" b="0" baseline="30000" dirty="0">
                <a:latin typeface="+mn-lt"/>
                <a:cs typeface="Lucida Sans" pitchFamily="34" charset="0"/>
                <a:sym typeface="Symbol" pitchFamily="18" charset="2"/>
              </a:rPr>
              <a:t>2</a:t>
            </a:r>
            <a:r>
              <a:rPr lang="es-ES" sz="1600" b="0" dirty="0">
                <a:latin typeface="+mn-lt"/>
                <a:cs typeface="Lucida Sans" pitchFamily="34" charset="0"/>
              </a:rPr>
              <a:t>.</a:t>
            </a:r>
            <a:endParaRPr lang="es-ES" sz="1600" b="0" baseline="30000" dirty="0">
              <a:latin typeface="+mn-lt"/>
              <a:cs typeface="Lucida Sans" pitchFamily="34" charset="0"/>
              <a:sym typeface="Symbol" pitchFamily="18" charset="2"/>
            </a:endParaRPr>
          </a:p>
          <a:p>
            <a:r>
              <a:rPr lang="es-ES" sz="1800" b="0" i="1" dirty="0">
                <a:latin typeface="+mn-lt"/>
                <a:cs typeface="Times New Roman" pitchFamily="18" charset="0"/>
              </a:rPr>
              <a:t>P</a:t>
            </a:r>
            <a:r>
              <a:rPr lang="es-ES" sz="1800" b="0" i="1" baseline="-25000" dirty="0">
                <a:latin typeface="+mn-lt"/>
                <a:cs typeface="Times New Roman" pitchFamily="18" charset="0"/>
              </a:rPr>
              <a:t>T</a:t>
            </a:r>
            <a:r>
              <a:rPr lang="es-ES" sz="1800" b="0" dirty="0">
                <a:latin typeface="+mn-lt"/>
                <a:cs typeface="Times New Roman" pitchFamily="18" charset="0"/>
              </a:rPr>
              <a:t> -  </a:t>
            </a:r>
            <a:r>
              <a:rPr lang="es-ES" sz="1600" b="0" dirty="0">
                <a:latin typeface="+mn-lt"/>
                <a:cs typeface="Lucida Sans" pitchFamily="34" charset="0"/>
              </a:rPr>
              <a:t>potencia radiada o transmitida, en W.</a:t>
            </a:r>
          </a:p>
          <a:p>
            <a:r>
              <a:rPr lang="es-ES_tradnl" sz="1800" b="0" i="1" dirty="0">
                <a:latin typeface="+mn-lt"/>
                <a:cs typeface="Times New Roman" pitchFamily="18" charset="0"/>
              </a:rPr>
              <a:t>r</a:t>
            </a:r>
            <a:r>
              <a:rPr lang="es-ES_tradnl" sz="1800" b="0" dirty="0">
                <a:latin typeface="+mn-lt"/>
                <a:cs typeface="Times New Roman" pitchFamily="18" charset="0"/>
              </a:rPr>
              <a:t> - </a:t>
            </a:r>
            <a:r>
              <a:rPr lang="es-ES_tradnl" sz="1600" b="0" dirty="0">
                <a:latin typeface="+mn-lt"/>
                <a:cs typeface="Lucida Sans" pitchFamily="34" charset="0"/>
              </a:rPr>
              <a:t>distancia radial desde el radiador, en </a:t>
            </a:r>
            <a:r>
              <a:rPr lang="es-ES_tradnl" sz="1600" b="0" dirty="0">
                <a:latin typeface="+mn-lt"/>
                <a:cs typeface="Lucida Sans" pitchFamily="34" charset="0"/>
                <a:sym typeface="Symbol" pitchFamily="18" charset="2"/>
              </a:rPr>
              <a:t>m</a:t>
            </a:r>
            <a:r>
              <a:rPr lang="es-ES" sz="1600" b="0" dirty="0">
                <a:latin typeface="+mn-lt"/>
                <a:cs typeface="Lucida Sans" pitchFamily="34" charset="0"/>
              </a:rPr>
              <a:t>.</a:t>
            </a:r>
          </a:p>
        </p:txBody>
      </p:sp>
      <mc:AlternateContent xmlns:mc="http://schemas.openxmlformats.org/markup-compatibility/2006">
        <mc:Choice xmlns:a14="http://schemas.microsoft.com/office/drawing/2010/main" Requires="a14">
          <p:sp>
            <p:nvSpPr>
              <p:cNvPr id="13" name="37 Rectángulo">
                <a:extLst>
                  <a:ext uri="{FF2B5EF4-FFF2-40B4-BE49-F238E27FC236}">
                    <a16:creationId xmlns:a16="http://schemas.microsoft.com/office/drawing/2014/main" id="{D285E41B-111C-3A3E-2E69-BD30B9404FA9}"/>
                  </a:ext>
                </a:extLst>
              </p:cNvPr>
              <p:cNvSpPr/>
              <p:nvPr/>
            </p:nvSpPr>
            <p:spPr>
              <a:xfrm>
                <a:off x="721879" y="3977297"/>
                <a:ext cx="1565813" cy="786049"/>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pPr/>
                <a14:m>
                  <m:oMathPara xmlns:m="http://schemas.openxmlformats.org/officeDocument/2006/math">
                    <m:oMath>
                      <m:sSub>
                        <m:sSubPr>
                          <m:ctrlPr>
                            <a:rPr lang="en-US" sz="2400" i="1">
                              <a:ln>
                                <a:noFill/>
                              </a:ln>
                              <a:solidFill>
                                <a:schemeClr val="tx1"/>
                              </a:solidFill>
                              <a:effectLst/>
                              <a:latin typeface="Cambria Math"/>
                            </a:rPr>
                          </m:ctrlPr>
                        </m:sSubPr>
                        <m:e>
                          <m:r>
                            <a:rPr lang="en-US" sz="2400" i="1">
                              <a:ln>
                                <a:noFill/>
                              </a:ln>
                              <a:solidFill>
                                <a:schemeClr val="tx1"/>
                              </a:solidFill>
                              <a:effectLst/>
                              <a:latin typeface="Cambria Math"/>
                            </a:rPr>
                            <m:t>𝑆</m:t>
                          </m:r>
                        </m:e>
                        <m:sub>
                          <m:r>
                            <a:rPr lang="en-US" sz="2400" i="1">
                              <a:ln>
                                <a:noFill/>
                              </a:ln>
                              <a:solidFill>
                                <a:schemeClr val="tx1"/>
                              </a:solidFill>
                              <a:effectLst/>
                              <a:latin typeface="Cambria Math"/>
                            </a:rPr>
                            <m:t>𝑖</m:t>
                          </m:r>
                        </m:sub>
                      </m:sSub>
                      <m:r>
                        <a:rPr lang="en-US" sz="2400" i="1">
                          <a:ln>
                            <a:noFill/>
                          </a:ln>
                          <a:solidFill>
                            <a:schemeClr val="tx1"/>
                          </a:solidFill>
                          <a:effectLst/>
                          <a:latin typeface="Cambria Math"/>
                        </a:rPr>
                        <m:t>=</m:t>
                      </m:r>
                      <m:f>
                        <m:fPr>
                          <m:ctrlPr>
                            <a:rPr lang="es-BO" sz="2400" b="0" i="1" smtClean="0">
                              <a:ln>
                                <a:noFill/>
                              </a:ln>
                              <a:solidFill>
                                <a:schemeClr val="tx1"/>
                              </a:solidFill>
                              <a:effectLst/>
                              <a:latin typeface="Cambria Math"/>
                            </a:rPr>
                          </m:ctrlPr>
                        </m:fPr>
                        <m:num>
                          <m:r>
                            <a:rPr lang="es-BO" sz="2400" b="0" i="1" smtClean="0">
                              <a:ln>
                                <a:noFill/>
                              </a:ln>
                              <a:solidFill>
                                <a:schemeClr val="tx1"/>
                              </a:solidFill>
                              <a:effectLst/>
                              <a:latin typeface="Cambria Math"/>
                            </a:rPr>
                            <m:t>𝑃</m:t>
                          </m:r>
                          <m:r>
                            <a:rPr lang="es-BO" sz="2400" b="0" i="1" baseline="-25000" smtClean="0">
                              <a:ln>
                                <a:noFill/>
                              </a:ln>
                              <a:solidFill>
                                <a:schemeClr val="tx1"/>
                              </a:solidFill>
                              <a:effectLst/>
                              <a:latin typeface="Cambria Math"/>
                            </a:rPr>
                            <m:t>𝑇</m:t>
                          </m:r>
                        </m:num>
                        <m:den>
                          <m:r>
                            <a:rPr lang="en-US" sz="2400" i="1">
                              <a:ln>
                                <a:noFill/>
                              </a:ln>
                              <a:solidFill>
                                <a:schemeClr val="tx1"/>
                              </a:solidFill>
                              <a:effectLst/>
                              <a:latin typeface="Cambria Math"/>
                            </a:rPr>
                            <m:t>4</m:t>
                          </m:r>
                          <m:r>
                            <a:rPr lang="en-US" sz="2400" i="1" smtClean="0">
                              <a:ln>
                                <a:noFill/>
                              </a:ln>
                              <a:solidFill>
                                <a:schemeClr val="tx1"/>
                              </a:solidFill>
                              <a:effectLst/>
                              <a:latin typeface="Cambria Math"/>
                              <a:sym typeface="Symbol"/>
                            </a:rPr>
                            <m:t></m:t>
                          </m:r>
                          <m:r>
                            <a:rPr lang="es-BO" sz="2400" b="1" i="1" smtClean="0">
                              <a:ln>
                                <a:noFill/>
                              </a:ln>
                              <a:solidFill>
                                <a:schemeClr val="tx1"/>
                              </a:solidFill>
                              <a:effectLst/>
                              <a:latin typeface="Cambria Math"/>
                              <a:sym typeface="Symbol"/>
                            </a:rPr>
                            <m:t> </m:t>
                          </m:r>
                          <m:r>
                            <a:rPr lang="es-BO" sz="2400" b="0" i="1" smtClean="0">
                              <a:ln>
                                <a:noFill/>
                              </a:ln>
                              <a:solidFill>
                                <a:schemeClr val="tx1"/>
                              </a:solidFill>
                              <a:effectLst/>
                              <a:latin typeface="Cambria Math"/>
                            </a:rPr>
                            <m:t>𝑟</m:t>
                          </m:r>
                          <m:r>
                            <a:rPr lang="es-BO" sz="2400" b="0" i="1" baseline="30000" smtClean="0">
                              <a:ln>
                                <a:noFill/>
                              </a:ln>
                              <a:solidFill>
                                <a:schemeClr val="tx1"/>
                              </a:solidFill>
                              <a:effectLst/>
                              <a:latin typeface="Cambria Math"/>
                            </a:rPr>
                            <m:t>2</m:t>
                          </m:r>
                        </m:den>
                      </m:f>
                    </m:oMath>
                  </m:oMathPara>
                </a14:m>
                <a:endParaRPr lang="es-BO" sz="2400" dirty="0">
                  <a:ln>
                    <a:noFill/>
                  </a:ln>
                  <a:solidFill>
                    <a:schemeClr val="tx1"/>
                  </a:solidFill>
                  <a:effectLst/>
                  <a:latin typeface="+mn-lt"/>
                </a:endParaRPr>
              </a:p>
            </p:txBody>
          </p:sp>
        </mc:Choice>
        <mc:Fallback>
          <p:sp>
            <p:nvSpPr>
              <p:cNvPr id="13" name="37 Rectángulo">
                <a:extLst>
                  <a:ext uri="{FF2B5EF4-FFF2-40B4-BE49-F238E27FC236}">
                    <a16:creationId xmlns:a16="http://schemas.microsoft.com/office/drawing/2014/main" id="{D285E41B-111C-3A3E-2E69-BD30B9404FA9}"/>
                  </a:ext>
                </a:extLst>
              </p:cNvPr>
              <p:cNvSpPr>
                <a:spLocks noRot="1" noChangeAspect="1" noMove="1" noResize="1" noEditPoints="1" noAdjustHandles="1" noChangeArrowheads="1" noChangeShapeType="1" noTextEdit="1"/>
              </p:cNvSpPr>
              <p:nvPr/>
            </p:nvSpPr>
            <p:spPr>
              <a:xfrm>
                <a:off x="721879" y="3977297"/>
                <a:ext cx="1565813" cy="786049"/>
              </a:xfrm>
              <a:prstGeom prst="rect">
                <a:avLst/>
              </a:prstGeom>
              <a:blipFill>
                <a:blip r:embed="rId4"/>
                <a:stretch>
                  <a:fillRect/>
                </a:stretch>
              </a:blipFill>
              <a:ln>
                <a:noFill/>
              </a:ln>
            </p:spPr>
            <p:txBody>
              <a:bodyPr/>
              <a:lstStyle/>
              <a:p>
                <a:r>
                  <a:rPr lang="es-CO">
                    <a:noFill/>
                  </a:rPr>
                  <a:t> </a:t>
                </a:r>
              </a:p>
            </p:txBody>
          </p:sp>
        </mc:Fallback>
      </mc:AlternateContent>
      <p:pic>
        <p:nvPicPr>
          <p:cNvPr id="12" name="Picture 11">
            <a:extLst>
              <a:ext uri="{FF2B5EF4-FFF2-40B4-BE49-F238E27FC236}">
                <a16:creationId xmlns:a16="http://schemas.microsoft.com/office/drawing/2014/main" id="{826F98E8-9BF8-566E-EAF0-AC86B56E3400}"/>
              </a:ext>
            </a:extLst>
          </p:cNvPr>
          <p:cNvPicPr>
            <a:picLocks noChangeAspect="1"/>
          </p:cNvPicPr>
          <p:nvPr/>
        </p:nvPicPr>
        <p:blipFill>
          <a:blip r:embed="rId5"/>
          <a:stretch>
            <a:fillRect/>
          </a:stretch>
        </p:blipFill>
        <p:spPr>
          <a:xfrm>
            <a:off x="5598738" y="4384463"/>
            <a:ext cx="5208595" cy="1681255"/>
          </a:xfrm>
          <a:prstGeom prst="rect">
            <a:avLst/>
          </a:prstGeom>
        </p:spPr>
      </p:pic>
    </p:spTree>
    <p:extLst>
      <p:ext uri="{BB962C8B-B14F-4D97-AF65-F5344CB8AC3E}">
        <p14:creationId xmlns:p14="http://schemas.microsoft.com/office/powerpoint/2010/main" val="259174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30</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3600" b="1" dirty="0">
                <a:solidFill>
                  <a:schemeClr val="accent1">
                    <a:lumMod val="50000"/>
                  </a:schemeClr>
                </a:solidFill>
                <a:cs typeface="Arial" panose="020B0604020202020204" pitchFamily="34" charset="0"/>
              </a:rPr>
              <a:t>Radar Secundario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err="1">
                <a:solidFill>
                  <a:schemeClr val="accent1">
                    <a:lumMod val="75000"/>
                  </a:schemeClr>
                </a:solidFill>
                <a:cs typeface="Arial" panose="020B0604020202020204" pitchFamily="34" charset="0"/>
              </a:rPr>
              <a:t>Secondary</a:t>
            </a:r>
            <a:r>
              <a:rPr lang="es-419" sz="2400" b="1" dirty="0">
                <a:solidFill>
                  <a:schemeClr val="accent1">
                    <a:lumMod val="75000"/>
                  </a:schemeClr>
                </a:solidFill>
                <a:cs typeface="Arial" panose="020B0604020202020204" pitchFamily="34" charset="0"/>
              </a:rPr>
              <a:t> </a:t>
            </a:r>
            <a:r>
              <a:rPr lang="es-CO" sz="2400" b="1" dirty="0" err="1">
                <a:solidFill>
                  <a:schemeClr val="accent1">
                    <a:lumMod val="75000"/>
                  </a:schemeClr>
                </a:solidFill>
                <a:cs typeface="Arial" panose="020B0604020202020204" pitchFamily="34" charset="0"/>
              </a:rPr>
              <a:t>Surveillance</a:t>
            </a:r>
            <a:r>
              <a:rPr lang="es-CO" sz="2400" b="1" dirty="0">
                <a:solidFill>
                  <a:schemeClr val="accent1">
                    <a:lumMod val="75000"/>
                  </a:schemeClr>
                </a:solidFill>
                <a:cs typeface="Arial" panose="020B0604020202020204" pitchFamily="34" charset="0"/>
              </a:rPr>
              <a:t> Radar</a:t>
            </a: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p:nvSpPr>
        <p:spPr>
          <a:xfrm>
            <a:off x="259538" y="1163817"/>
            <a:ext cx="7988350" cy="830997"/>
          </a:xfrm>
          <a:prstGeom prst="rect">
            <a:avLst/>
          </a:prstGeom>
        </p:spPr>
        <p:txBody>
          <a:bodyPr wrap="square">
            <a:spAutoFit/>
          </a:bodyPr>
          <a:lstStyle/>
          <a:p>
            <a:r>
              <a:rPr lang="es-ES" sz="2400" dirty="0"/>
              <a:t>Los principales parámetros que proporciona el sistema de radar secundario son los siguientes:</a:t>
            </a:r>
            <a:endParaRPr lang="en-US" sz="2400" dirty="0"/>
          </a:p>
        </p:txBody>
      </p:sp>
      <p:sp>
        <p:nvSpPr>
          <p:cNvPr id="15" name="Rectangle 14"/>
          <p:cNvSpPr/>
          <p:nvPr/>
        </p:nvSpPr>
        <p:spPr>
          <a:xfrm>
            <a:off x="259538" y="2055381"/>
            <a:ext cx="6122974" cy="2308324"/>
          </a:xfrm>
          <a:prstGeom prst="rect">
            <a:avLst/>
          </a:prstGeom>
        </p:spPr>
        <p:txBody>
          <a:bodyPr wrap="square">
            <a:spAutoFit/>
          </a:bodyPr>
          <a:lstStyle/>
          <a:p>
            <a:pPr marL="285750" indent="-285750">
              <a:buFont typeface="Wingdings" panose="05000000000000000000" pitchFamily="2" charset="2"/>
              <a:buChar char="§"/>
            </a:pPr>
            <a:r>
              <a:rPr lang="es-ES" dirty="0"/>
              <a:t>RANGO</a:t>
            </a:r>
          </a:p>
          <a:p>
            <a:pPr marL="285750" indent="-285750">
              <a:buFont typeface="Wingdings" panose="05000000000000000000" pitchFamily="2" charset="2"/>
              <a:buChar char="§"/>
            </a:pPr>
            <a:r>
              <a:rPr lang="es-ES" dirty="0"/>
              <a:t>AZIMUT</a:t>
            </a:r>
            <a:endParaRPr lang="es-419" dirty="0"/>
          </a:p>
          <a:p>
            <a:pPr marL="285750" indent="-285750">
              <a:buFont typeface="Wingdings" panose="05000000000000000000" pitchFamily="2" charset="2"/>
              <a:buChar char="§"/>
            </a:pPr>
            <a:r>
              <a:rPr lang="es-ES" dirty="0"/>
              <a:t>IDENTIFICACIÓN</a:t>
            </a:r>
            <a:endParaRPr lang="es-419" dirty="0"/>
          </a:p>
          <a:p>
            <a:pPr marL="285750" indent="-285750">
              <a:buFont typeface="Wingdings" panose="05000000000000000000" pitchFamily="2" charset="2"/>
              <a:buChar char="§"/>
            </a:pPr>
            <a:r>
              <a:rPr lang="es-ES" dirty="0"/>
              <a:t>VELOCIDAD</a:t>
            </a:r>
            <a:endParaRPr lang="es-419" dirty="0"/>
          </a:p>
          <a:p>
            <a:pPr marL="285750" indent="-285750">
              <a:buFont typeface="Wingdings" panose="05000000000000000000" pitchFamily="2" charset="2"/>
              <a:buChar char="§"/>
            </a:pPr>
            <a:r>
              <a:rPr lang="es-ES" dirty="0"/>
              <a:t>ALTURA</a:t>
            </a:r>
            <a:endParaRPr lang="es-419" dirty="0"/>
          </a:p>
          <a:p>
            <a:pPr marL="285750" indent="-285750">
              <a:buFont typeface="Wingdings" panose="05000000000000000000" pitchFamily="2" charset="2"/>
              <a:buChar char="§"/>
            </a:pPr>
            <a:r>
              <a:rPr lang="es-ES" dirty="0"/>
              <a:t>PROCEDENCIA</a:t>
            </a:r>
            <a:endParaRPr lang="es-419" dirty="0"/>
          </a:p>
          <a:p>
            <a:pPr marL="285750" indent="-285750">
              <a:buFont typeface="Wingdings" panose="05000000000000000000" pitchFamily="2" charset="2"/>
              <a:buChar char="§"/>
            </a:pPr>
            <a:r>
              <a:rPr lang="es-ES" dirty="0"/>
              <a:t>DESTINO</a:t>
            </a:r>
            <a:endParaRPr lang="es-419" dirty="0"/>
          </a:p>
          <a:p>
            <a:pPr marL="285750" indent="-285750">
              <a:buFont typeface="Wingdings" panose="05000000000000000000" pitchFamily="2" charset="2"/>
              <a:buChar char="§"/>
            </a:pPr>
            <a:r>
              <a:rPr lang="es-ES" dirty="0"/>
              <a:t>TIPO DE AERONAVE</a:t>
            </a:r>
          </a:p>
        </p:txBody>
      </p:sp>
      <p:pic>
        <p:nvPicPr>
          <p:cNvPr id="1026" name="Picture 2" descr="antena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10600" y="1131966"/>
            <a:ext cx="3108325"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antena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2598" y="4494332"/>
            <a:ext cx="2269289" cy="209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45756" y="4076553"/>
            <a:ext cx="3900488" cy="2644922"/>
          </a:xfrm>
          <a:prstGeom prst="rect">
            <a:avLst/>
          </a:prstGeom>
        </p:spPr>
      </p:pic>
      <p:pic>
        <p:nvPicPr>
          <p:cNvPr id="13" name="Imagen 13" descr="avionica"/>
          <p:cNvPicPr/>
          <p:nvPr/>
        </p:nvPicPr>
        <p:blipFill>
          <a:blip r:embed="rId7">
            <a:extLst>
              <a:ext uri="{28A0092B-C50C-407E-A947-70E740481C1C}">
                <a14:useLocalDpi xmlns:a14="http://schemas.microsoft.com/office/drawing/2010/main" val="0"/>
              </a:ext>
            </a:extLst>
          </a:blip>
          <a:srcRect/>
          <a:stretch>
            <a:fillRect/>
          </a:stretch>
        </p:blipFill>
        <p:spPr bwMode="auto">
          <a:xfrm>
            <a:off x="4378763" y="2044691"/>
            <a:ext cx="2854325" cy="1916430"/>
          </a:xfrm>
          <a:prstGeom prst="rect">
            <a:avLst/>
          </a:prstGeom>
          <a:noFill/>
          <a:ln>
            <a:noFill/>
          </a:ln>
        </p:spPr>
      </p:pic>
    </p:spTree>
    <p:extLst>
      <p:ext uri="{BB962C8B-B14F-4D97-AF65-F5344CB8AC3E}">
        <p14:creationId xmlns:p14="http://schemas.microsoft.com/office/powerpoint/2010/main" val="11767585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F612212-BCD7-4FCF-B981-0BC2A65D1991}"/>
              </a:ext>
            </a:extLst>
          </p:cNvPr>
          <p:cNvSpPr>
            <a:spLocks noGrp="1"/>
          </p:cNvSpPr>
          <p:nvPr>
            <p:ph type="sldNum" sz="quarter" idx="12"/>
          </p:nvPr>
        </p:nvSpPr>
        <p:spPr/>
        <p:txBody>
          <a:bodyPr/>
          <a:lstStyle/>
          <a:p>
            <a:fld id="{16B7FEC2-09BE-4569-8D55-B52F6B35789D}" type="slidenum">
              <a:rPr lang="es-CO" smtClean="0"/>
              <a:t>31</a:t>
            </a:fld>
            <a:endParaRPr lang="es-CO"/>
          </a:p>
        </p:txBody>
      </p:sp>
      <p:pic>
        <p:nvPicPr>
          <p:cNvPr id="4" name="Imagen 3">
            <a:extLst>
              <a:ext uri="{FF2B5EF4-FFF2-40B4-BE49-F238E27FC236}">
                <a16:creationId xmlns:a16="http://schemas.microsoft.com/office/drawing/2014/main" id="{F79C3E75-7DAE-670E-A939-E8EC4BA1149B}"/>
              </a:ext>
            </a:extLst>
          </p:cNvPr>
          <p:cNvPicPr>
            <a:picLocks noChangeAspect="1"/>
          </p:cNvPicPr>
          <p:nvPr/>
        </p:nvPicPr>
        <p:blipFill>
          <a:blip r:embed="rId2"/>
          <a:stretch>
            <a:fillRect/>
          </a:stretch>
        </p:blipFill>
        <p:spPr>
          <a:xfrm>
            <a:off x="0" y="0"/>
            <a:ext cx="12192000" cy="6949440"/>
          </a:xfrm>
          <a:prstGeom prst="rect">
            <a:avLst/>
          </a:prstGeom>
        </p:spPr>
      </p:pic>
    </p:spTree>
    <p:extLst>
      <p:ext uri="{BB962C8B-B14F-4D97-AF65-F5344CB8AC3E}">
        <p14:creationId xmlns:p14="http://schemas.microsoft.com/office/powerpoint/2010/main" val="115675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62D47421-DF79-48A8-2AC6-40EEB0518AD9}"/>
              </a:ext>
            </a:extLst>
          </p:cNvPr>
          <p:cNvSpPr>
            <a:spLocks noGrp="1"/>
          </p:cNvSpPr>
          <p:nvPr>
            <p:ph type="sldNum" sz="quarter" idx="12"/>
          </p:nvPr>
        </p:nvSpPr>
        <p:spPr/>
        <p:txBody>
          <a:bodyPr/>
          <a:lstStyle/>
          <a:p>
            <a:fld id="{16B7FEC2-09BE-4569-8D55-B52F6B35789D}" type="slidenum">
              <a:rPr lang="es-CO" smtClean="0"/>
              <a:t>32</a:t>
            </a:fld>
            <a:endParaRPr lang="es-CO"/>
          </a:p>
        </p:txBody>
      </p:sp>
      <p:pic>
        <p:nvPicPr>
          <p:cNvPr id="4" name="Imagen 3">
            <a:extLst>
              <a:ext uri="{FF2B5EF4-FFF2-40B4-BE49-F238E27FC236}">
                <a16:creationId xmlns:a16="http://schemas.microsoft.com/office/drawing/2014/main" id="{0982A9C6-90CA-8610-53ED-FAEAF6774439}"/>
              </a:ext>
            </a:extLst>
          </p:cNvPr>
          <p:cNvPicPr>
            <a:picLocks noChangeAspect="1"/>
          </p:cNvPicPr>
          <p:nvPr/>
        </p:nvPicPr>
        <p:blipFill>
          <a:blip r:embed="rId2"/>
          <a:stretch>
            <a:fillRect/>
          </a:stretch>
        </p:blipFill>
        <p:spPr>
          <a:xfrm>
            <a:off x="3400425" y="719137"/>
            <a:ext cx="5391150" cy="5419725"/>
          </a:xfrm>
          <a:prstGeom prst="rect">
            <a:avLst/>
          </a:prstGeom>
        </p:spPr>
      </p:pic>
    </p:spTree>
    <p:extLst>
      <p:ext uri="{BB962C8B-B14F-4D97-AF65-F5344CB8AC3E}">
        <p14:creationId xmlns:p14="http://schemas.microsoft.com/office/powerpoint/2010/main" val="2444121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33</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3600" b="1" dirty="0">
                <a:solidFill>
                  <a:schemeClr val="accent1">
                    <a:lumMod val="50000"/>
                  </a:schemeClr>
                </a:solidFill>
                <a:cs typeface="Arial" panose="020B0604020202020204" pitchFamily="34" charset="0"/>
              </a:rPr>
              <a:t>Radar Secundario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err="1">
                <a:solidFill>
                  <a:schemeClr val="accent1">
                    <a:lumMod val="75000"/>
                  </a:schemeClr>
                </a:solidFill>
                <a:cs typeface="Arial" panose="020B0604020202020204" pitchFamily="34" charset="0"/>
              </a:rPr>
              <a:t>Secondary</a:t>
            </a:r>
            <a:r>
              <a:rPr lang="es-419" sz="2400" b="1" dirty="0">
                <a:solidFill>
                  <a:schemeClr val="accent1">
                    <a:lumMod val="75000"/>
                  </a:schemeClr>
                </a:solidFill>
                <a:cs typeface="Arial" panose="020B0604020202020204" pitchFamily="34" charset="0"/>
              </a:rPr>
              <a:t> </a:t>
            </a:r>
            <a:r>
              <a:rPr lang="es-CO" sz="2400" b="1" dirty="0" err="1">
                <a:solidFill>
                  <a:schemeClr val="accent1">
                    <a:lumMod val="75000"/>
                  </a:schemeClr>
                </a:solidFill>
                <a:cs typeface="Arial" panose="020B0604020202020204" pitchFamily="34" charset="0"/>
              </a:rPr>
              <a:t>Surveillance</a:t>
            </a:r>
            <a:r>
              <a:rPr lang="es-CO" sz="2400" b="1" dirty="0">
                <a:solidFill>
                  <a:schemeClr val="accent1">
                    <a:lumMod val="75000"/>
                  </a:schemeClr>
                </a:solidFill>
                <a:cs typeface="Arial" panose="020B0604020202020204" pitchFamily="34" charset="0"/>
              </a:rPr>
              <a:t> Radar</a:t>
            </a: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a:blip r:embed="rId4"/>
          <a:stretch>
            <a:fillRect/>
          </a:stretch>
        </p:blipFill>
        <p:spPr>
          <a:xfrm>
            <a:off x="1407789" y="1654809"/>
            <a:ext cx="8822589" cy="4573477"/>
          </a:xfrm>
          <a:prstGeom prst="rect">
            <a:avLst/>
          </a:prstGeom>
        </p:spPr>
      </p:pic>
    </p:spTree>
    <p:extLst>
      <p:ext uri="{BB962C8B-B14F-4D97-AF65-F5344CB8AC3E}">
        <p14:creationId xmlns:p14="http://schemas.microsoft.com/office/powerpoint/2010/main" val="1385803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34</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Técnicas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a:solidFill>
                  <a:schemeClr val="accent1">
                    <a:lumMod val="75000"/>
                  </a:schemeClr>
                </a:solidFill>
                <a:cs typeface="Arial" panose="020B0604020202020204" pitchFamily="34" charset="0"/>
              </a:rPr>
              <a:t>Técnica de impulsos</a:t>
            </a:r>
            <a:r>
              <a:rPr lang="es-419" sz="2400" b="1" dirty="0">
                <a:solidFill>
                  <a:schemeClr val="accent1">
                    <a:lumMod val="75000"/>
                  </a:schemeClr>
                </a:solidFill>
                <a:cs typeface="Arial" panose="020B0604020202020204" pitchFamily="34" charset="0"/>
              </a:rPr>
              <a:t>  </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33371" y="3567646"/>
            <a:ext cx="11243614" cy="181588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ES" sz="2800" dirty="0"/>
              <a:t>Esta técnica implica la transmisión de energía en descargas muy breves. Cada descarga consiste de</a:t>
            </a:r>
            <a:r>
              <a:rPr lang="es-419" sz="2800" dirty="0"/>
              <a:t> </a:t>
            </a:r>
            <a:r>
              <a:rPr lang="es-ES" sz="2800" dirty="0"/>
              <a:t>un impulso de radiofrecuencia con unos microsegundos de duración y con una potencia adecuada al</a:t>
            </a:r>
            <a:r>
              <a:rPr lang="es-419" sz="2800" dirty="0"/>
              <a:t> </a:t>
            </a:r>
            <a:r>
              <a:rPr lang="es-ES" sz="2800" dirty="0"/>
              <a:t>propósito de detección.</a:t>
            </a:r>
            <a:endParaRPr lang="en-US" sz="2800" dirty="0"/>
          </a:p>
        </p:txBody>
      </p:sp>
      <p:sp>
        <p:nvSpPr>
          <p:cNvPr id="15" name="28 Rectángulo"/>
          <p:cNvSpPr>
            <a:spLocks noChangeArrowheads="1"/>
          </p:cNvSpPr>
          <p:nvPr/>
        </p:nvSpPr>
        <p:spPr bwMode="auto">
          <a:xfrm>
            <a:off x="333371" y="1905360"/>
            <a:ext cx="10080873" cy="1384995"/>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800" b="0" dirty="0">
                <a:latin typeface="+mn-lt"/>
                <a:cs typeface="Lucida Sans" pitchFamily="34" charset="0"/>
              </a:rPr>
              <a:t>Los sistemas de radar funcionan según dos técnicas como son:</a:t>
            </a:r>
          </a:p>
          <a:p>
            <a:pPr marL="285750" indent="-285750">
              <a:buFont typeface="Wingdings" panose="05000000000000000000" pitchFamily="2" charset="2"/>
              <a:buChar char="§"/>
            </a:pPr>
            <a:r>
              <a:rPr lang="es-ES" sz="2800" b="0" dirty="0">
                <a:latin typeface="+mn-lt"/>
                <a:cs typeface="Lucida Sans" pitchFamily="34" charset="0"/>
              </a:rPr>
              <a:t>La técnica de impulsos</a:t>
            </a:r>
          </a:p>
          <a:p>
            <a:pPr marL="285750" indent="-285750">
              <a:buFont typeface="Wingdings" panose="05000000000000000000" pitchFamily="2" charset="2"/>
              <a:buChar char="§"/>
            </a:pPr>
            <a:r>
              <a:rPr lang="es-ES" sz="2800" b="0" dirty="0">
                <a:latin typeface="+mn-lt"/>
                <a:cs typeface="Lucida Sans" pitchFamily="34" charset="0"/>
              </a:rPr>
              <a:t>La técnica de onda continua</a:t>
            </a:r>
            <a:endParaRPr lang="es-419" sz="2800" b="0" dirty="0">
              <a:latin typeface="+mn-lt"/>
              <a:cs typeface="Lucida Sans" pitchFamily="34" charset="0"/>
            </a:endParaRPr>
          </a:p>
        </p:txBody>
      </p:sp>
    </p:spTree>
    <p:extLst>
      <p:ext uri="{BB962C8B-B14F-4D97-AF65-F5344CB8AC3E}">
        <p14:creationId xmlns:p14="http://schemas.microsoft.com/office/powerpoint/2010/main" val="2668226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B809-0D02-7D34-4450-6EEF66199F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F7FA75-4E02-4CC3-6981-3CA079EBB6BE}"/>
              </a:ext>
            </a:extLst>
          </p:cNvPr>
          <p:cNvSpPr>
            <a:spLocks noGrp="1"/>
          </p:cNvSpPr>
          <p:nvPr>
            <p:ph type="sldNum" sz="quarter" idx="12"/>
          </p:nvPr>
        </p:nvSpPr>
        <p:spPr/>
        <p:txBody>
          <a:bodyPr/>
          <a:lstStyle/>
          <a:p>
            <a:fld id="{16B7FEC2-09BE-4569-8D55-B52F6B35789D}" type="slidenum">
              <a:rPr lang="es-CO" smtClean="0"/>
              <a:t>35</a:t>
            </a:fld>
            <a:endParaRPr lang="es-CO" dirty="0"/>
          </a:p>
        </p:txBody>
      </p:sp>
      <p:sp>
        <p:nvSpPr>
          <p:cNvPr id="3" name="내용 개체 틀 2">
            <a:extLst>
              <a:ext uri="{FF2B5EF4-FFF2-40B4-BE49-F238E27FC236}">
                <a16:creationId xmlns:a16="http://schemas.microsoft.com/office/drawing/2014/main" id="{DB3014B9-23CB-6FEA-19D3-F8E3A3BB84F1}"/>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Técnicas SSR</a:t>
            </a: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B501F356-D4CB-7294-B4E5-4283E7A1C0C2}"/>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400" b="1" dirty="0">
                <a:solidFill>
                  <a:schemeClr val="accent1">
                    <a:lumMod val="75000"/>
                  </a:schemeClr>
                </a:solidFill>
                <a:cs typeface="Arial" panose="020B0604020202020204" pitchFamily="34" charset="0"/>
              </a:rPr>
              <a:t>Técnica de impulsos</a:t>
            </a:r>
            <a:r>
              <a:rPr lang="es-419" sz="2400" b="1" dirty="0">
                <a:solidFill>
                  <a:schemeClr val="accent1">
                    <a:lumMod val="75000"/>
                  </a:schemeClr>
                </a:solidFill>
                <a:cs typeface="Arial" panose="020B0604020202020204" pitchFamily="34" charset="0"/>
              </a:rPr>
              <a:t>  </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397E04AA-3C2C-0886-88FA-3DB3571FBE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F31CB098-FAD3-3AEA-DF2E-681ABB86AED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28 Rectángulo">
            <a:extLst>
              <a:ext uri="{FF2B5EF4-FFF2-40B4-BE49-F238E27FC236}">
                <a16:creationId xmlns:a16="http://schemas.microsoft.com/office/drawing/2014/main" id="{64DC7886-5020-A083-2DDD-BBB91179490C}"/>
              </a:ext>
            </a:extLst>
          </p:cNvPr>
          <p:cNvSpPr>
            <a:spLocks noChangeArrowheads="1"/>
          </p:cNvSpPr>
          <p:nvPr/>
        </p:nvSpPr>
        <p:spPr bwMode="auto">
          <a:xfrm>
            <a:off x="310652" y="1827197"/>
            <a:ext cx="10843892" cy="1815882"/>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419" sz="2800" b="0" dirty="0">
                <a:latin typeface="+mn-lt"/>
                <a:cs typeface="Lucida Sans" pitchFamily="34" charset="0"/>
              </a:rPr>
              <a:t>D</a:t>
            </a:r>
            <a:r>
              <a:rPr lang="es-ES" sz="2800" b="0" dirty="0" err="1">
                <a:latin typeface="+mn-lt"/>
                <a:cs typeface="Lucida Sans" pitchFamily="34" charset="0"/>
              </a:rPr>
              <a:t>ialogo</a:t>
            </a:r>
            <a:r>
              <a:rPr lang="es-419" sz="2800" b="0" dirty="0">
                <a:latin typeface="+mn-lt"/>
                <a:cs typeface="Lucida Sans" pitchFamily="34" charset="0"/>
              </a:rPr>
              <a:t> </a:t>
            </a:r>
            <a:r>
              <a:rPr lang="es-ES" sz="2800" b="0" dirty="0">
                <a:latin typeface="+mn-lt"/>
                <a:cs typeface="Lucida Sans" pitchFamily="34" charset="0"/>
              </a:rPr>
              <a:t>codificado, entre la estación de RADAR SSR y el TRANSPONDER en cada</a:t>
            </a:r>
            <a:r>
              <a:rPr lang="es-419" sz="2800" b="0" dirty="0">
                <a:latin typeface="+mn-lt"/>
                <a:cs typeface="Lucida Sans" pitchFamily="34" charset="0"/>
              </a:rPr>
              <a:t> </a:t>
            </a:r>
            <a:r>
              <a:rPr lang="es-ES" sz="2800" b="0" dirty="0">
                <a:latin typeface="+mn-lt"/>
                <a:cs typeface="Lucida Sans" pitchFamily="34" charset="0"/>
              </a:rPr>
              <a:t>aeronave permite</a:t>
            </a:r>
            <a:r>
              <a:rPr lang="es-419" sz="2800" b="0" dirty="0">
                <a:latin typeface="+mn-lt"/>
                <a:cs typeface="Lucida Sans" pitchFamily="34" charset="0"/>
              </a:rPr>
              <a:t>:</a:t>
            </a:r>
          </a:p>
          <a:p>
            <a:pPr marL="285750" indent="-285750">
              <a:buFont typeface="Wingdings" panose="05000000000000000000" pitchFamily="2" charset="2"/>
              <a:buChar char="§"/>
            </a:pPr>
            <a:r>
              <a:rPr lang="es-419" sz="2800" b="0" dirty="0">
                <a:latin typeface="+mn-lt"/>
                <a:cs typeface="Lucida Sans" pitchFamily="34" charset="0"/>
              </a:rPr>
              <a:t>P</a:t>
            </a:r>
            <a:r>
              <a:rPr lang="es-ES" sz="2800" b="0" dirty="0" err="1">
                <a:latin typeface="+mn-lt"/>
                <a:cs typeface="Lucida Sans" pitchFamily="34" charset="0"/>
              </a:rPr>
              <a:t>reguntar</a:t>
            </a:r>
            <a:r>
              <a:rPr lang="es-419" sz="2800" b="0" dirty="0">
                <a:latin typeface="+mn-lt"/>
                <a:cs typeface="Lucida Sans" pitchFamily="34" charset="0"/>
              </a:rPr>
              <a:t> </a:t>
            </a:r>
            <a:r>
              <a:rPr lang="es-ES" sz="2800" b="0" dirty="0">
                <a:latin typeface="+mn-lt"/>
                <a:cs typeface="Lucida Sans" pitchFamily="34" charset="0"/>
              </a:rPr>
              <a:t>identificación,</a:t>
            </a:r>
            <a:endParaRPr lang="es-419" sz="2800" b="0" dirty="0">
              <a:latin typeface="+mn-lt"/>
              <a:cs typeface="Lucida Sans" pitchFamily="34" charset="0"/>
            </a:endParaRPr>
          </a:p>
          <a:p>
            <a:pPr marL="285750" indent="-285750">
              <a:buFont typeface="Wingdings" panose="05000000000000000000" pitchFamily="2" charset="2"/>
              <a:buChar char="§"/>
            </a:pPr>
            <a:r>
              <a:rPr lang="es-419" sz="2800" b="0" dirty="0">
                <a:latin typeface="+mn-lt"/>
                <a:cs typeface="Lucida Sans" pitchFamily="34" charset="0"/>
              </a:rPr>
              <a:t>P</a:t>
            </a:r>
            <a:r>
              <a:rPr lang="es-ES" sz="2800" b="0" dirty="0" err="1">
                <a:latin typeface="+mn-lt"/>
                <a:cs typeface="Lucida Sans" pitchFamily="34" charset="0"/>
              </a:rPr>
              <a:t>reguntar</a:t>
            </a:r>
            <a:r>
              <a:rPr lang="es-419" sz="2800" b="0" dirty="0">
                <a:latin typeface="+mn-lt"/>
                <a:cs typeface="Lucida Sans" pitchFamily="34" charset="0"/>
              </a:rPr>
              <a:t> </a:t>
            </a:r>
            <a:r>
              <a:rPr lang="es-ES" sz="2800" b="0" dirty="0">
                <a:latin typeface="+mn-lt"/>
                <a:cs typeface="Lucida Sans" pitchFamily="34" charset="0"/>
              </a:rPr>
              <a:t>altura de vuelo de la aeronave</a:t>
            </a:r>
            <a:endParaRPr lang="es-419" sz="2800" b="0" dirty="0">
              <a:latin typeface="+mn-lt"/>
              <a:cs typeface="Lucida Sans" pitchFamily="34" charset="0"/>
            </a:endParaRPr>
          </a:p>
        </p:txBody>
      </p:sp>
      <p:sp>
        <p:nvSpPr>
          <p:cNvPr id="10" name="30 Rectángulo">
            <a:extLst>
              <a:ext uri="{FF2B5EF4-FFF2-40B4-BE49-F238E27FC236}">
                <a16:creationId xmlns:a16="http://schemas.microsoft.com/office/drawing/2014/main" id="{8C3F5AD4-49C6-7851-B1AB-9171C502DF68}"/>
              </a:ext>
            </a:extLst>
          </p:cNvPr>
          <p:cNvSpPr>
            <a:spLocks noChangeArrowheads="1"/>
          </p:cNvSpPr>
          <p:nvPr/>
        </p:nvSpPr>
        <p:spPr bwMode="auto">
          <a:xfrm>
            <a:off x="359671" y="4168717"/>
            <a:ext cx="10994129" cy="830997"/>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400" b="0" dirty="0">
                <a:solidFill>
                  <a:schemeClr val="bg1"/>
                </a:solidFill>
                <a:latin typeface="+mn-lt"/>
                <a:cs typeface="Lucida Sans" pitchFamily="34" charset="0"/>
              </a:rPr>
              <a:t>Usada en los sistemas de radar implementados con fines de Control</a:t>
            </a:r>
            <a:r>
              <a:rPr lang="es-419" sz="2400" b="0" dirty="0">
                <a:solidFill>
                  <a:schemeClr val="bg1"/>
                </a:solidFill>
                <a:latin typeface="+mn-lt"/>
                <a:cs typeface="Lucida Sans" pitchFamily="34" charset="0"/>
              </a:rPr>
              <a:t> </a:t>
            </a:r>
            <a:r>
              <a:rPr lang="es-ES" sz="2400" b="0" dirty="0">
                <a:solidFill>
                  <a:schemeClr val="bg1"/>
                </a:solidFill>
                <a:latin typeface="+mn-lt"/>
                <a:cs typeface="Lucida Sans" pitchFamily="34" charset="0"/>
              </a:rPr>
              <a:t>de Tránsito Aéreo (primario y secundario).</a:t>
            </a:r>
          </a:p>
        </p:txBody>
      </p:sp>
    </p:spTree>
    <p:extLst>
      <p:ext uri="{BB962C8B-B14F-4D97-AF65-F5344CB8AC3E}">
        <p14:creationId xmlns:p14="http://schemas.microsoft.com/office/powerpoint/2010/main" val="193376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A74B5-E652-48FE-97C4-A45BD36D36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6634DC-F666-5F2B-2DA1-D33BA966F44B}"/>
              </a:ext>
            </a:extLst>
          </p:cNvPr>
          <p:cNvSpPr>
            <a:spLocks noGrp="1"/>
          </p:cNvSpPr>
          <p:nvPr>
            <p:ph type="sldNum" sz="quarter" idx="12"/>
          </p:nvPr>
        </p:nvSpPr>
        <p:spPr/>
        <p:txBody>
          <a:bodyPr/>
          <a:lstStyle/>
          <a:p>
            <a:fld id="{16B7FEC2-09BE-4569-8D55-B52F6B35789D}" type="slidenum">
              <a:rPr lang="es-CO" smtClean="0"/>
              <a:t>36</a:t>
            </a:fld>
            <a:endParaRPr lang="es-CO" dirty="0"/>
          </a:p>
        </p:txBody>
      </p:sp>
      <p:sp>
        <p:nvSpPr>
          <p:cNvPr id="3" name="내용 개체 틀 2">
            <a:extLst>
              <a:ext uri="{FF2B5EF4-FFF2-40B4-BE49-F238E27FC236}">
                <a16:creationId xmlns:a16="http://schemas.microsoft.com/office/drawing/2014/main" id="{772DAE85-F32E-FB68-76DA-325E4CDB4050}"/>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Modos del SSR</a:t>
            </a: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E3620B57-AB79-9C78-F653-50346FC16545}"/>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Modo S</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3500AFCA-A4CE-D268-DDFA-A97F6A52F3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037AF1D7-894A-D0B5-5F46-2BD7805355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590F2CFD-2CBC-43C7-E58E-390E7FC20F8D}"/>
              </a:ext>
            </a:extLst>
          </p:cNvPr>
          <p:cNvSpPr/>
          <p:nvPr/>
        </p:nvSpPr>
        <p:spPr>
          <a:xfrm>
            <a:off x="259538" y="1539792"/>
            <a:ext cx="11261902" cy="1200329"/>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ES" sz="2400" dirty="0"/>
              <a:t>Sistema de comunicaciones y vigilancia independiente cooperativa, que</a:t>
            </a:r>
            <a:r>
              <a:rPr lang="es-419" sz="2400" dirty="0"/>
              <a:t> </a:t>
            </a:r>
            <a:r>
              <a:rPr lang="es-ES" sz="2400" dirty="0"/>
              <a:t>utiliza la técnica del </a:t>
            </a:r>
            <a:r>
              <a:rPr lang="es-ES" sz="2400" dirty="0" err="1"/>
              <a:t>monoimpulso</a:t>
            </a:r>
            <a:r>
              <a:rPr lang="es-ES" sz="2400" dirty="0"/>
              <a:t>, común en el SSR existente modificándola mediante la adición de la</a:t>
            </a:r>
            <a:r>
              <a:rPr lang="es-419" sz="2400" dirty="0"/>
              <a:t> </a:t>
            </a:r>
            <a:r>
              <a:rPr lang="es-ES" sz="2400" dirty="0"/>
              <a:t>característica de interrogación selectiva.</a:t>
            </a:r>
            <a:endParaRPr lang="en-US" sz="2400" dirty="0"/>
          </a:p>
        </p:txBody>
      </p:sp>
      <p:sp>
        <p:nvSpPr>
          <p:cNvPr id="9" name="28 Rectángulo">
            <a:extLst>
              <a:ext uri="{FF2B5EF4-FFF2-40B4-BE49-F238E27FC236}">
                <a16:creationId xmlns:a16="http://schemas.microsoft.com/office/drawing/2014/main" id="{751B0288-4A7E-B889-38FC-8F2C2FDA6E8F}"/>
              </a:ext>
            </a:extLst>
          </p:cNvPr>
          <p:cNvSpPr>
            <a:spLocks noChangeArrowheads="1"/>
          </p:cNvSpPr>
          <p:nvPr/>
        </p:nvSpPr>
        <p:spPr bwMode="auto">
          <a:xfrm>
            <a:off x="259538" y="2973508"/>
            <a:ext cx="11261902" cy="3693319"/>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pPr marL="285750" indent="-285750">
              <a:buFont typeface="Wingdings" panose="05000000000000000000" pitchFamily="2" charset="2"/>
              <a:buChar char="§"/>
            </a:pPr>
            <a:r>
              <a:rPr lang="es-ES" sz="1800" b="0" dirty="0">
                <a:latin typeface="+mn-lt"/>
                <a:cs typeface="Lucida Sans" pitchFamily="34" charset="0"/>
              </a:rPr>
              <a:t>En el SSR Modos A y C, cada aeronave que se encuentra dentro de la cobertura del radar</a:t>
            </a:r>
            <a:r>
              <a:rPr lang="es-419" sz="1800" b="0" dirty="0">
                <a:latin typeface="+mn-lt"/>
                <a:cs typeface="Lucida Sans" pitchFamily="34" charset="0"/>
              </a:rPr>
              <a:t> </a:t>
            </a:r>
            <a:r>
              <a:rPr lang="es-ES" sz="1800" b="0" dirty="0">
                <a:latin typeface="+mn-lt"/>
                <a:cs typeface="Lucida Sans" pitchFamily="34" charset="0"/>
              </a:rPr>
              <a:t>secundario recibe y responde a cada interrogación. </a:t>
            </a:r>
            <a:endParaRPr lang="es-419" sz="1800" b="0" dirty="0">
              <a:latin typeface="+mn-lt"/>
              <a:cs typeface="Lucida Sans" pitchFamily="34" charset="0"/>
            </a:endParaRPr>
          </a:p>
          <a:p>
            <a:pPr marL="285750" indent="-285750">
              <a:buFont typeface="Wingdings" panose="05000000000000000000" pitchFamily="2" charset="2"/>
              <a:buChar char="§"/>
            </a:pPr>
            <a:r>
              <a:rPr lang="es-ES" sz="1800" b="0" dirty="0">
                <a:latin typeface="+mn-lt"/>
                <a:cs typeface="Lucida Sans" pitchFamily="34" charset="0"/>
              </a:rPr>
              <a:t>En el Modo S la capacidad de seleccionar las</a:t>
            </a:r>
            <a:r>
              <a:rPr lang="es-419" sz="1800" b="0" dirty="0">
                <a:latin typeface="+mn-lt"/>
                <a:cs typeface="Lucida Sans" pitchFamily="34" charset="0"/>
              </a:rPr>
              <a:t> </a:t>
            </a:r>
            <a:r>
              <a:rPr lang="es-ES" sz="1800" b="0" dirty="0">
                <a:latin typeface="+mn-lt"/>
                <a:cs typeface="Lucida Sans" pitchFamily="34" charset="0"/>
              </a:rPr>
              <a:t>aeronaves impide que se produzca una interrogación indiscriminada y un exceso de respuestas.</a:t>
            </a:r>
            <a:r>
              <a:rPr lang="es-419" sz="1800" b="0" dirty="0">
                <a:latin typeface="+mn-lt"/>
                <a:cs typeface="Lucida Sans" pitchFamily="34" charset="0"/>
              </a:rPr>
              <a:t> </a:t>
            </a:r>
            <a:endParaRPr lang="es-ES" sz="1800" b="0" dirty="0">
              <a:latin typeface="+mn-lt"/>
              <a:cs typeface="Lucida Sans" pitchFamily="34" charset="0"/>
            </a:endParaRPr>
          </a:p>
          <a:p>
            <a:pPr marL="285750" indent="-285750">
              <a:buFont typeface="Wingdings" panose="05000000000000000000" pitchFamily="2" charset="2"/>
              <a:buChar char="§"/>
            </a:pPr>
            <a:r>
              <a:rPr lang="es-ES" sz="1800" b="0" dirty="0">
                <a:latin typeface="+mn-lt"/>
                <a:cs typeface="Lucida Sans" pitchFamily="34" charset="0"/>
              </a:rPr>
              <a:t>Para su funcionamiento a efectos de vigilancia, el Modo S realiza una primera interrogación por</a:t>
            </a:r>
            <a:r>
              <a:rPr lang="es-419" sz="1800" b="0" dirty="0">
                <a:latin typeface="+mn-lt"/>
                <a:cs typeface="Lucida Sans" pitchFamily="34" charset="0"/>
              </a:rPr>
              <a:t> </a:t>
            </a:r>
            <a:r>
              <a:rPr lang="es-ES" sz="1800" b="0" dirty="0">
                <a:latin typeface="+mn-lt"/>
                <a:cs typeface="Lucida Sans" pitchFamily="34" charset="0"/>
              </a:rPr>
              <a:t>aeronave por cada barrido de la antena, repitiéndola sucesivas veces si no se recibe una respuesta valida.</a:t>
            </a:r>
            <a:endParaRPr lang="es-419" sz="1800" b="0" dirty="0">
              <a:latin typeface="+mn-lt"/>
              <a:cs typeface="Lucida Sans" pitchFamily="34" charset="0"/>
            </a:endParaRPr>
          </a:p>
          <a:p>
            <a:pPr marL="285750" indent="-285750">
              <a:buFont typeface="Wingdings" panose="05000000000000000000" pitchFamily="2" charset="2"/>
              <a:buChar char="§"/>
            </a:pPr>
            <a:r>
              <a:rPr lang="es-ES" sz="1800" b="0" dirty="0">
                <a:latin typeface="+mn-lt"/>
                <a:cs typeface="Lucida Sans" pitchFamily="34" charset="0"/>
              </a:rPr>
              <a:t>Para adquirir nuevas aeronaves, el Modo S envía una llamada general a todas las aeronaves que en</a:t>
            </a:r>
            <a:r>
              <a:rPr lang="es-419" sz="1800" b="0" dirty="0">
                <a:latin typeface="+mn-lt"/>
                <a:cs typeface="Lucida Sans" pitchFamily="34" charset="0"/>
              </a:rPr>
              <a:t> </a:t>
            </a:r>
            <a:r>
              <a:rPr lang="es-ES" sz="1800" b="0" dirty="0">
                <a:latin typeface="+mn-lt"/>
                <a:cs typeface="Lucida Sans" pitchFamily="34" charset="0"/>
              </a:rPr>
              <a:t>ese momento se encuentran dentro de la zona de cobertura. De esta forma se logra que las aeronaves, que todavía no han sido interrogadas, respondan a dichas interrogaciones con una respuesta general, cuyo contenido incluirá la dirección exclusiva de la aeronave.</a:t>
            </a:r>
          </a:p>
          <a:p>
            <a:pPr marL="285750" indent="-285750">
              <a:buFont typeface="Wingdings" panose="05000000000000000000" pitchFamily="2" charset="2"/>
              <a:buChar char="§"/>
            </a:pPr>
            <a:r>
              <a:rPr lang="es-ES" sz="1800" b="0" dirty="0">
                <a:latin typeface="+mn-lt"/>
                <a:cs typeface="Lucida Sans" pitchFamily="34" charset="0"/>
              </a:rPr>
              <a:t>A partir de aquí las nuevas aeronaves, que ya han sido incluidas en el proceso, pueden ser</a:t>
            </a:r>
            <a:r>
              <a:rPr lang="es-419" sz="1800" b="0" dirty="0">
                <a:latin typeface="+mn-lt"/>
                <a:cs typeface="Lucida Sans" pitchFamily="34" charset="0"/>
              </a:rPr>
              <a:t> </a:t>
            </a:r>
            <a:r>
              <a:rPr lang="es-ES" sz="1800" b="0" dirty="0">
                <a:latin typeface="+mn-lt"/>
                <a:cs typeface="Lucida Sans" pitchFamily="34" charset="0"/>
              </a:rPr>
              <a:t>interrogadas individualmente</a:t>
            </a:r>
            <a:endParaRPr lang="es-419" sz="1800" b="0" dirty="0">
              <a:latin typeface="+mn-lt"/>
              <a:cs typeface="Lucida Sans" pitchFamily="34" charset="0"/>
            </a:endParaRPr>
          </a:p>
          <a:p>
            <a:endParaRPr lang="es-419" sz="1800" b="0" dirty="0">
              <a:latin typeface="+mn-lt"/>
              <a:cs typeface="Lucida Sans" pitchFamily="34" charset="0"/>
            </a:endParaRPr>
          </a:p>
        </p:txBody>
      </p:sp>
    </p:spTree>
    <p:extLst>
      <p:ext uri="{BB962C8B-B14F-4D97-AF65-F5344CB8AC3E}">
        <p14:creationId xmlns:p14="http://schemas.microsoft.com/office/powerpoint/2010/main" val="1246745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37</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Modos del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Modo S</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30 Rectángulo"/>
          <p:cNvSpPr>
            <a:spLocks noChangeArrowheads="1"/>
          </p:cNvSpPr>
          <p:nvPr/>
        </p:nvSpPr>
        <p:spPr bwMode="auto">
          <a:xfrm>
            <a:off x="285858" y="3031589"/>
            <a:ext cx="11067942" cy="954107"/>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800" b="0" dirty="0">
                <a:solidFill>
                  <a:schemeClr val="bg1"/>
                </a:solidFill>
                <a:latin typeface="+mn-lt"/>
                <a:cs typeface="Lucida Sans" pitchFamily="34" charset="0"/>
              </a:rPr>
              <a:t>Modo S permite la identificación de la aeronave y su posición en tres dimensiones, mientras reducen el número de interrogaciones necesarias.</a:t>
            </a:r>
          </a:p>
        </p:txBody>
      </p:sp>
    </p:spTree>
    <p:extLst>
      <p:ext uri="{BB962C8B-B14F-4D97-AF65-F5344CB8AC3E}">
        <p14:creationId xmlns:p14="http://schemas.microsoft.com/office/powerpoint/2010/main" val="40095819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38</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3600" b="1" dirty="0">
                <a:solidFill>
                  <a:schemeClr val="accent1">
                    <a:lumMod val="50000"/>
                  </a:schemeClr>
                </a:solidFill>
                <a:cs typeface="Arial" panose="020B0604020202020204" pitchFamily="34" charset="0"/>
              </a:rPr>
              <a:t>Interrogación del SSR</a:t>
            </a: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Modo S</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259538" y="1245852"/>
            <a:ext cx="10103653" cy="70788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s-419" sz="2000" dirty="0"/>
              <a:t>E</a:t>
            </a:r>
            <a:r>
              <a:rPr lang="es-ES" sz="2000" dirty="0"/>
              <a:t>l radar secundario realiza una primera interrogación</a:t>
            </a:r>
            <a:r>
              <a:rPr lang="es-419" sz="2000" dirty="0"/>
              <a:t> </a:t>
            </a:r>
            <a:r>
              <a:rPr lang="es-ES" sz="2000" dirty="0"/>
              <a:t>por aeronave por cada barrido de antena </a:t>
            </a:r>
            <a:r>
              <a:rPr lang="es-419" sz="2000" dirty="0"/>
              <a:t>(</a:t>
            </a:r>
            <a:r>
              <a:rPr lang="es-ES" sz="2000" dirty="0"/>
              <a:t>por cada giro de antena</a:t>
            </a:r>
            <a:r>
              <a:rPr lang="es-419" sz="2000" dirty="0"/>
              <a:t>).</a:t>
            </a:r>
            <a:endParaRPr lang="en-US" sz="2000" dirty="0"/>
          </a:p>
        </p:txBody>
      </p:sp>
      <p:sp>
        <p:nvSpPr>
          <p:cNvPr id="9" name="28 Rectángulo"/>
          <p:cNvSpPr>
            <a:spLocks noChangeArrowheads="1"/>
          </p:cNvSpPr>
          <p:nvPr/>
        </p:nvSpPr>
        <p:spPr bwMode="auto">
          <a:xfrm>
            <a:off x="173736" y="2075150"/>
            <a:ext cx="10080873" cy="92333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1800" b="0" dirty="0">
                <a:latin typeface="+mn-lt"/>
                <a:cs typeface="Lucida Sans" pitchFamily="34" charset="0"/>
              </a:rPr>
              <a:t>Este proceso de interrogación se</a:t>
            </a:r>
            <a:r>
              <a:rPr lang="es-419" sz="1800" b="0" dirty="0">
                <a:latin typeface="+mn-lt"/>
                <a:cs typeface="Lucida Sans" pitchFamily="34" charset="0"/>
              </a:rPr>
              <a:t> </a:t>
            </a:r>
            <a:r>
              <a:rPr lang="es-ES" sz="1800" b="0" dirty="0">
                <a:latin typeface="+mn-lt"/>
                <a:cs typeface="Lucida Sans" pitchFamily="34" charset="0"/>
              </a:rPr>
              <a:t>realiza por medio de tres pulsos los cuales se modulan en la onda portadora</a:t>
            </a:r>
            <a:r>
              <a:rPr lang="es-419" sz="1800" b="0" dirty="0">
                <a:latin typeface="+mn-lt"/>
                <a:cs typeface="Lucida Sans" pitchFamily="34" charset="0"/>
              </a:rPr>
              <a:t> </a:t>
            </a:r>
            <a:r>
              <a:rPr lang="es-ES" sz="1800" b="0" dirty="0">
                <a:latin typeface="+mn-lt"/>
                <a:cs typeface="Lucida Sans" pitchFamily="34" charset="0"/>
              </a:rPr>
              <a:t>estos pulsos son P1, P2 y P3 los cuales tienen las funciones de generar el</a:t>
            </a:r>
            <a:r>
              <a:rPr lang="es-419" sz="1800" b="0" dirty="0">
                <a:latin typeface="+mn-lt"/>
                <a:cs typeface="Lucida Sans" pitchFamily="34" charset="0"/>
              </a:rPr>
              <a:t> </a:t>
            </a:r>
            <a:r>
              <a:rPr lang="es-ES" sz="1800" b="0" dirty="0">
                <a:latin typeface="+mn-lt"/>
                <a:cs typeface="Lucida Sans" pitchFamily="34" charset="0"/>
              </a:rPr>
              <a:t>Modo de interrogación y suprimir interrogaciones aleatorias.</a:t>
            </a:r>
            <a:endParaRPr lang="es-419" sz="1800" b="0" dirty="0">
              <a:latin typeface="+mn-lt"/>
              <a:cs typeface="Lucida Sans" pitchFamily="34" charset="0"/>
            </a:endParaRPr>
          </a:p>
        </p:txBody>
      </p:sp>
      <p:sp>
        <p:nvSpPr>
          <p:cNvPr id="10" name="30 Rectángulo"/>
          <p:cNvSpPr>
            <a:spLocks noChangeArrowheads="1"/>
          </p:cNvSpPr>
          <p:nvPr/>
        </p:nvSpPr>
        <p:spPr bwMode="auto">
          <a:xfrm>
            <a:off x="259538" y="6027003"/>
            <a:ext cx="10237774" cy="584775"/>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1600" b="0" dirty="0">
                <a:solidFill>
                  <a:schemeClr val="bg1"/>
                </a:solidFill>
                <a:latin typeface="+mn-lt"/>
                <a:cs typeface="Lucida Sans" pitchFamily="34" charset="0"/>
              </a:rPr>
              <a:t>Para definir el Modo de interrogación se fija un intervalo de tiempo T1 entre</a:t>
            </a:r>
            <a:r>
              <a:rPr lang="es-419" sz="1600" b="0" dirty="0">
                <a:solidFill>
                  <a:schemeClr val="bg1"/>
                </a:solidFill>
                <a:latin typeface="+mn-lt"/>
                <a:cs typeface="Lucida Sans" pitchFamily="34" charset="0"/>
              </a:rPr>
              <a:t> </a:t>
            </a:r>
            <a:r>
              <a:rPr lang="es-ES" sz="1600" b="0" dirty="0">
                <a:solidFill>
                  <a:schemeClr val="bg1"/>
                </a:solidFill>
                <a:latin typeface="+mn-lt"/>
                <a:cs typeface="Lucida Sans" pitchFamily="34" charset="0"/>
              </a:rPr>
              <a:t>los pulsos P1 y P3, el pulso P2 se emite entre P1 Y P3 para realizar la</a:t>
            </a:r>
            <a:r>
              <a:rPr lang="es-419" sz="1600" b="0" dirty="0">
                <a:solidFill>
                  <a:schemeClr val="bg1"/>
                </a:solidFill>
                <a:latin typeface="+mn-lt"/>
                <a:cs typeface="Lucida Sans" pitchFamily="34" charset="0"/>
              </a:rPr>
              <a:t> </a:t>
            </a:r>
            <a:r>
              <a:rPr lang="es-ES" sz="1600" b="0" dirty="0">
                <a:solidFill>
                  <a:schemeClr val="bg1"/>
                </a:solidFill>
                <a:latin typeface="+mn-lt"/>
                <a:cs typeface="Lucida Sans" pitchFamily="34" charset="0"/>
              </a:rPr>
              <a:t>supresión de interrogaciones por lóbulos laterales.</a:t>
            </a:r>
          </a:p>
        </p:txBody>
      </p:sp>
      <p:pic>
        <p:nvPicPr>
          <p:cNvPr id="7" name="Picture 6"/>
          <p:cNvPicPr>
            <a:picLocks noChangeAspect="1"/>
          </p:cNvPicPr>
          <p:nvPr/>
        </p:nvPicPr>
        <p:blipFill>
          <a:blip r:embed="rId4"/>
          <a:stretch>
            <a:fillRect/>
          </a:stretch>
        </p:blipFill>
        <p:spPr>
          <a:xfrm>
            <a:off x="259538" y="3282972"/>
            <a:ext cx="4539660" cy="2275695"/>
          </a:xfrm>
          <a:prstGeom prst="rect">
            <a:avLst/>
          </a:prstGeom>
        </p:spPr>
      </p:pic>
      <p:pic>
        <p:nvPicPr>
          <p:cNvPr id="11" name="Picture 10"/>
          <p:cNvPicPr>
            <a:picLocks noChangeAspect="1"/>
          </p:cNvPicPr>
          <p:nvPr/>
        </p:nvPicPr>
        <p:blipFill>
          <a:blip r:embed="rId5"/>
          <a:stretch>
            <a:fillRect/>
          </a:stretch>
        </p:blipFill>
        <p:spPr>
          <a:xfrm>
            <a:off x="5402630" y="2904447"/>
            <a:ext cx="5094682" cy="2903179"/>
          </a:xfrm>
          <a:prstGeom prst="rect">
            <a:avLst/>
          </a:prstGeom>
        </p:spPr>
      </p:pic>
    </p:spTree>
    <p:extLst>
      <p:ext uri="{BB962C8B-B14F-4D97-AF65-F5344CB8AC3E}">
        <p14:creationId xmlns:p14="http://schemas.microsoft.com/office/powerpoint/2010/main" val="2194471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39</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Extractor de video</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Procesamiento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20 Rectángulo"/>
          <p:cNvSpPr>
            <a:spLocks noChangeArrowheads="1"/>
          </p:cNvSpPr>
          <p:nvPr/>
        </p:nvSpPr>
        <p:spPr bwMode="auto">
          <a:xfrm>
            <a:off x="419684" y="3731771"/>
            <a:ext cx="10627804" cy="15696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400" b="0" dirty="0">
                <a:solidFill>
                  <a:schemeClr val="bg1"/>
                </a:solidFill>
                <a:latin typeface="+mn-lt"/>
                <a:cs typeface="Lucida Sans" pitchFamily="34" charset="0"/>
              </a:rPr>
              <a:t>El papel del extractor de video es efectuar en tiempo real el análisis de la información radar y para ello se diseñan equipos especiales o se utilizan computadoras de propósito general con programas especiales para analizar la información radar.</a:t>
            </a:r>
          </a:p>
        </p:txBody>
      </p:sp>
      <p:sp>
        <p:nvSpPr>
          <p:cNvPr id="7" name="Rectangle 6"/>
          <p:cNvSpPr/>
          <p:nvPr/>
        </p:nvSpPr>
        <p:spPr>
          <a:xfrm>
            <a:off x="350875" y="1684987"/>
            <a:ext cx="10765422" cy="1815882"/>
          </a:xfrm>
          <a:prstGeom prst="rect">
            <a:avLst/>
          </a:prstGeom>
        </p:spPr>
        <p:txBody>
          <a:bodyPr wrap="square">
            <a:spAutoFit/>
          </a:bodyPr>
          <a:lstStyle/>
          <a:p>
            <a:r>
              <a:rPr lang="es-ES" sz="2800" dirty="0"/>
              <a:t>La información proporcionada por el receptor puede ser visualizada directamente en las unidades de visualización sin embargo tal visualización no corresponde a las necesidades de control de tránsito aéreo ya que es necesario presentar la información clara y completa.</a:t>
            </a:r>
          </a:p>
        </p:txBody>
      </p:sp>
    </p:spTree>
    <p:extLst>
      <p:ext uri="{BB962C8B-B14F-4D97-AF65-F5344CB8AC3E}">
        <p14:creationId xmlns:p14="http://schemas.microsoft.com/office/powerpoint/2010/main" val="2743594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883E8E3-9983-1114-0248-0F8CBC591272}"/>
              </a:ext>
            </a:extLst>
          </p:cNvPr>
          <p:cNvSpPr>
            <a:spLocks noGrp="1"/>
          </p:cNvSpPr>
          <p:nvPr>
            <p:ph type="sldNum" sz="quarter" idx="12"/>
          </p:nvPr>
        </p:nvSpPr>
        <p:spPr/>
        <p:txBody>
          <a:bodyPr/>
          <a:lstStyle/>
          <a:p>
            <a:fld id="{16B7FEC2-09BE-4569-8D55-B52F6B35789D}" type="slidenum">
              <a:rPr lang="es-CO" smtClean="0"/>
              <a:t>40</a:t>
            </a:fld>
            <a:endParaRPr lang="es-CO"/>
          </a:p>
        </p:txBody>
      </p:sp>
      <p:pic>
        <p:nvPicPr>
          <p:cNvPr id="4" name="Imagen 3">
            <a:extLst>
              <a:ext uri="{FF2B5EF4-FFF2-40B4-BE49-F238E27FC236}">
                <a16:creationId xmlns:a16="http://schemas.microsoft.com/office/drawing/2014/main" id="{9238E039-4B47-8CB8-2563-900CE9F7FBDA}"/>
              </a:ext>
            </a:extLst>
          </p:cNvPr>
          <p:cNvPicPr>
            <a:picLocks noChangeAspect="1"/>
          </p:cNvPicPr>
          <p:nvPr/>
        </p:nvPicPr>
        <p:blipFill>
          <a:blip r:embed="rId2"/>
          <a:stretch>
            <a:fillRect/>
          </a:stretch>
        </p:blipFill>
        <p:spPr>
          <a:xfrm>
            <a:off x="2485748" y="1682549"/>
            <a:ext cx="7220503" cy="3492901"/>
          </a:xfrm>
          <a:prstGeom prst="rect">
            <a:avLst/>
          </a:prstGeom>
        </p:spPr>
      </p:pic>
    </p:spTree>
    <p:extLst>
      <p:ext uri="{BB962C8B-B14F-4D97-AF65-F5344CB8AC3E}">
        <p14:creationId xmlns:p14="http://schemas.microsoft.com/office/powerpoint/2010/main" val="41329294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C8158-9BDF-DD4A-6B84-DE98038CF9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4E3342-EE3A-7840-F75E-8A0B0FE6BF7F}"/>
              </a:ext>
            </a:extLst>
          </p:cNvPr>
          <p:cNvSpPr>
            <a:spLocks noGrp="1"/>
          </p:cNvSpPr>
          <p:nvPr>
            <p:ph type="sldNum" sz="quarter" idx="12"/>
          </p:nvPr>
        </p:nvSpPr>
        <p:spPr/>
        <p:txBody>
          <a:bodyPr/>
          <a:lstStyle/>
          <a:p>
            <a:fld id="{16B7FEC2-09BE-4569-8D55-B52F6B35789D}" type="slidenum">
              <a:rPr lang="es-CO" smtClean="0"/>
              <a:t>41</a:t>
            </a:fld>
            <a:endParaRPr lang="es-CO" dirty="0"/>
          </a:p>
        </p:txBody>
      </p:sp>
      <p:sp>
        <p:nvSpPr>
          <p:cNvPr id="3" name="내용 개체 틀 2">
            <a:extLst>
              <a:ext uri="{FF2B5EF4-FFF2-40B4-BE49-F238E27FC236}">
                <a16:creationId xmlns:a16="http://schemas.microsoft.com/office/drawing/2014/main" id="{5E1175B4-AAB4-7328-5558-0F3BAC5AC85E}"/>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Extractor de video</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4A13C806-0EFE-5EFE-8B8B-577A9854C9DD}"/>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Procesamiento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25E63317-433B-F0B3-C1F1-861FDC000B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FF3380DA-7149-7D84-2B30-9A34C6B6D5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32BAEE92-15F4-515C-2D11-C67235E4BA1A}"/>
              </a:ext>
            </a:extLst>
          </p:cNvPr>
          <p:cNvSpPr/>
          <p:nvPr/>
        </p:nvSpPr>
        <p:spPr>
          <a:xfrm>
            <a:off x="325256" y="1478237"/>
            <a:ext cx="9735312" cy="4524315"/>
          </a:xfrm>
          <a:prstGeom prst="rect">
            <a:avLst/>
          </a:prstGeom>
        </p:spPr>
        <p:txBody>
          <a:bodyPr wrap="square">
            <a:spAutoFit/>
          </a:bodyPr>
          <a:lstStyle/>
          <a:p>
            <a:r>
              <a:rPr lang="es-ES" sz="2400" dirty="0"/>
              <a:t>Funciones principales que realiza el extractor de video:</a:t>
            </a:r>
          </a:p>
          <a:p>
            <a:pPr marL="285750" indent="-285750">
              <a:buFont typeface="Arial" panose="020B0604020202020204" pitchFamily="34" charset="0"/>
              <a:buChar char="•"/>
            </a:pPr>
            <a:r>
              <a:rPr lang="es-ES" sz="2400" dirty="0"/>
              <a:t>Checa el período entre F1 y F2.</a:t>
            </a:r>
          </a:p>
          <a:p>
            <a:pPr marL="285750" indent="-285750">
              <a:buFont typeface="Arial" panose="020B0604020202020204" pitchFamily="34" charset="0"/>
              <a:buChar char="•"/>
            </a:pPr>
            <a:r>
              <a:rPr lang="es-ES" sz="2400" dirty="0"/>
              <a:t>Checa el ancho de los pulsos</a:t>
            </a:r>
          </a:p>
          <a:p>
            <a:pPr marL="285750" indent="-285750">
              <a:buFont typeface="Arial" panose="020B0604020202020204" pitchFamily="34" charset="0"/>
              <a:buChar char="•"/>
            </a:pPr>
            <a:r>
              <a:rPr lang="es-ES" sz="2400" dirty="0"/>
              <a:t>La presencia o ausencia de lo pulsos A1, A2, A4, B1, B2, B4, C1, C2, C4, D1, D2 y    D4.</a:t>
            </a:r>
          </a:p>
          <a:p>
            <a:pPr marL="285750" indent="-285750">
              <a:buFont typeface="Arial" panose="020B0604020202020204" pitchFamily="34" charset="0"/>
              <a:buChar char="•"/>
            </a:pPr>
            <a:r>
              <a:rPr lang="es-ES" sz="2400" dirty="0"/>
              <a:t>Revisa que el espacio X no este presente.</a:t>
            </a:r>
          </a:p>
          <a:p>
            <a:pPr marL="285750" indent="-285750">
              <a:buFont typeface="Arial" panose="020B0604020202020204" pitchFamily="34" charset="0"/>
              <a:buChar char="•"/>
            </a:pPr>
            <a:r>
              <a:rPr lang="es-ES" sz="2400" dirty="0"/>
              <a:t>Checa sí esta presente el pulso S.P.I. (</a:t>
            </a:r>
            <a:r>
              <a:rPr lang="es-ES" sz="2400" dirty="0" err="1"/>
              <a:t>Special</a:t>
            </a:r>
            <a:r>
              <a:rPr lang="es-ES" sz="2400" dirty="0"/>
              <a:t> Position  </a:t>
            </a:r>
            <a:r>
              <a:rPr lang="es-ES" sz="2400" dirty="0" err="1"/>
              <a:t>Indication</a:t>
            </a:r>
            <a:r>
              <a:rPr lang="es-ES" sz="2400" dirty="0"/>
              <a:t>).</a:t>
            </a:r>
          </a:p>
          <a:p>
            <a:pPr marL="285750" indent="-285750">
              <a:buFont typeface="Arial" panose="020B0604020202020204" pitchFamily="34" charset="0"/>
              <a:buChar char="•"/>
            </a:pPr>
            <a:r>
              <a:rPr lang="es-ES" sz="2400" dirty="0"/>
              <a:t>Calcula el rango.</a:t>
            </a:r>
          </a:p>
          <a:p>
            <a:pPr marL="285750" indent="-285750">
              <a:buFont typeface="Arial" panose="020B0604020202020204" pitchFamily="34" charset="0"/>
              <a:buChar char="•"/>
            </a:pPr>
            <a:r>
              <a:rPr lang="es-ES" sz="2400" dirty="0"/>
              <a:t>Calcula el azimut.</a:t>
            </a:r>
          </a:p>
          <a:p>
            <a:pPr marL="285750" indent="-285750">
              <a:buFont typeface="Arial" panose="020B0604020202020204" pitchFamily="34" charset="0"/>
              <a:buChar char="•"/>
            </a:pPr>
            <a:r>
              <a:rPr lang="es-ES" sz="2400" dirty="0"/>
              <a:t>Revisa si hay códigos de emergencia.</a:t>
            </a:r>
          </a:p>
          <a:p>
            <a:pPr marL="285750" indent="-285750">
              <a:buFont typeface="Arial" panose="020B0604020202020204" pitchFamily="34" charset="0"/>
              <a:buChar char="•"/>
            </a:pPr>
            <a:r>
              <a:rPr lang="es-ES" sz="2400" dirty="0"/>
              <a:t>Realiza conversión de coordenadas. </a:t>
            </a:r>
          </a:p>
          <a:p>
            <a:pPr marL="285750" indent="-285750">
              <a:buFont typeface="Arial" panose="020B0604020202020204" pitchFamily="34" charset="0"/>
              <a:buChar char="•"/>
            </a:pPr>
            <a:r>
              <a:rPr lang="es-ES" sz="2400" dirty="0"/>
              <a:t>Adapta el mensaje al tipo de línea de transmisión.</a:t>
            </a:r>
          </a:p>
        </p:txBody>
      </p:sp>
    </p:spTree>
    <p:extLst>
      <p:ext uri="{BB962C8B-B14F-4D97-AF65-F5344CB8AC3E}">
        <p14:creationId xmlns:p14="http://schemas.microsoft.com/office/powerpoint/2010/main" val="34607100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42</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Procesamiento de datos</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Procesamiento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20 Rectángulo"/>
          <p:cNvSpPr>
            <a:spLocks noChangeArrowheads="1"/>
          </p:cNvSpPr>
          <p:nvPr/>
        </p:nvSpPr>
        <p:spPr bwMode="auto">
          <a:xfrm>
            <a:off x="350875" y="1304287"/>
            <a:ext cx="10627804" cy="156966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400" b="0" dirty="0">
                <a:solidFill>
                  <a:schemeClr val="bg1"/>
                </a:solidFill>
                <a:latin typeface="+mn-lt"/>
                <a:cs typeface="Lucida Sans" pitchFamily="34" charset="0"/>
              </a:rPr>
              <a:t>El equipo de procesamiento esta compuesto generalmente por computadoras de propósito general o propósito específico. Cuando las computadoras son de propósito general, son programadas para realizar funciones específicas exclusivas para procesar la información del radar.</a:t>
            </a:r>
          </a:p>
        </p:txBody>
      </p:sp>
      <p:sp>
        <p:nvSpPr>
          <p:cNvPr id="8" name="Rectangle 7"/>
          <p:cNvSpPr/>
          <p:nvPr/>
        </p:nvSpPr>
        <p:spPr>
          <a:xfrm>
            <a:off x="401817" y="3129515"/>
            <a:ext cx="9735312" cy="3046988"/>
          </a:xfrm>
          <a:prstGeom prst="rect">
            <a:avLst/>
          </a:prstGeom>
        </p:spPr>
        <p:txBody>
          <a:bodyPr wrap="square">
            <a:spAutoFit/>
          </a:bodyPr>
          <a:lstStyle/>
          <a:p>
            <a:pPr marL="342900" indent="-342900">
              <a:buFont typeface="Arial" panose="020B0604020202020204" pitchFamily="34" charset="0"/>
              <a:buChar char="•"/>
            </a:pPr>
            <a:r>
              <a:rPr lang="es-ES" sz="2400" dirty="0"/>
              <a:t>Checa el código</a:t>
            </a:r>
          </a:p>
          <a:p>
            <a:pPr marL="342900" indent="-342900">
              <a:buFont typeface="Arial" panose="020B0604020202020204" pitchFamily="34" charset="0"/>
              <a:buChar char="•"/>
            </a:pPr>
            <a:r>
              <a:rPr lang="es-ES" sz="2400" dirty="0"/>
              <a:t>Realizar cambio de código</a:t>
            </a:r>
          </a:p>
          <a:p>
            <a:pPr marL="342900" indent="-342900">
              <a:buFont typeface="Arial" panose="020B0604020202020204" pitchFamily="34" charset="0"/>
              <a:buChar char="•"/>
            </a:pPr>
            <a:r>
              <a:rPr lang="es-ES" sz="2400" dirty="0"/>
              <a:t>Calcular velocidad</a:t>
            </a:r>
          </a:p>
          <a:p>
            <a:pPr marL="342900" indent="-342900">
              <a:buFont typeface="Arial" panose="020B0604020202020204" pitchFamily="34" charset="0"/>
              <a:buChar char="•"/>
            </a:pPr>
            <a:r>
              <a:rPr lang="es-ES" sz="2400" dirty="0"/>
              <a:t>Calcular altura</a:t>
            </a:r>
          </a:p>
          <a:p>
            <a:pPr marL="342900" indent="-342900">
              <a:buFont typeface="Arial" panose="020B0604020202020204" pitchFamily="34" charset="0"/>
              <a:buChar char="•"/>
            </a:pPr>
            <a:r>
              <a:rPr lang="es-ES" sz="2400" dirty="0"/>
              <a:t>Generar vector de posición</a:t>
            </a:r>
          </a:p>
          <a:p>
            <a:pPr marL="342900" indent="-342900">
              <a:buFont typeface="Arial" panose="020B0604020202020204" pitchFamily="34" charset="0"/>
              <a:buChar char="•"/>
            </a:pPr>
            <a:r>
              <a:rPr lang="es-ES" sz="2400" dirty="0"/>
              <a:t>Agregar </a:t>
            </a:r>
            <a:r>
              <a:rPr lang="es-ES" sz="2400" dirty="0" err="1"/>
              <a:t>videomapas</a:t>
            </a:r>
            <a:endParaRPr lang="es-ES" sz="2400" dirty="0"/>
          </a:p>
          <a:p>
            <a:pPr marL="342900" indent="-342900">
              <a:buFont typeface="Arial" panose="020B0604020202020204" pitchFamily="34" charset="0"/>
              <a:buChar char="•"/>
            </a:pPr>
            <a:r>
              <a:rPr lang="es-ES" sz="2400" dirty="0"/>
              <a:t>Agregar planes de vuelo</a:t>
            </a:r>
          </a:p>
          <a:p>
            <a:pPr marL="342900" indent="-342900">
              <a:buFont typeface="Arial" panose="020B0604020202020204" pitchFamily="34" charset="0"/>
              <a:buChar char="•"/>
            </a:pPr>
            <a:r>
              <a:rPr lang="es-ES" sz="2400" dirty="0"/>
              <a:t>Proporcionar alarmas de conflicto</a:t>
            </a:r>
          </a:p>
        </p:txBody>
      </p:sp>
    </p:spTree>
    <p:extLst>
      <p:ext uri="{BB962C8B-B14F-4D97-AF65-F5344CB8AC3E}">
        <p14:creationId xmlns:p14="http://schemas.microsoft.com/office/powerpoint/2010/main" val="1600918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43</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Visualización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Presentación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20 Rectángulo"/>
          <p:cNvSpPr>
            <a:spLocks noChangeArrowheads="1"/>
          </p:cNvSpPr>
          <p:nvPr/>
        </p:nvSpPr>
        <p:spPr bwMode="auto">
          <a:xfrm>
            <a:off x="259538" y="1195341"/>
            <a:ext cx="10627804" cy="1200329"/>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square">
            <a:spAutoFit/>
          </a:bodyPr>
          <a:lstStyle>
            <a:defPPr>
              <a:defRPr lang="es-ES"/>
            </a:defPPr>
            <a:lvl1pPr algn="l" rtl="0" fontAlgn="base">
              <a:spcBef>
                <a:spcPct val="0"/>
              </a:spcBef>
              <a:spcAft>
                <a:spcPct val="0"/>
              </a:spcAft>
              <a:defRPr sz="1400" b="1" kern="1200">
                <a:solidFill>
                  <a:schemeClr val="tx1"/>
                </a:solidFill>
                <a:latin typeface="Times New Roman" pitchFamily="18" charset="0"/>
                <a:ea typeface="+mn-ea"/>
                <a:cs typeface="+mn-cs"/>
              </a:defRPr>
            </a:lvl1pPr>
            <a:lvl2pPr marL="457200" algn="l" rtl="0" fontAlgn="base">
              <a:spcBef>
                <a:spcPct val="0"/>
              </a:spcBef>
              <a:spcAft>
                <a:spcPct val="0"/>
              </a:spcAft>
              <a:defRPr sz="1400" b="1" kern="1200">
                <a:solidFill>
                  <a:schemeClr val="tx1"/>
                </a:solidFill>
                <a:latin typeface="Times New Roman" pitchFamily="18" charset="0"/>
                <a:ea typeface="+mn-ea"/>
                <a:cs typeface="+mn-cs"/>
              </a:defRPr>
            </a:lvl2pPr>
            <a:lvl3pPr marL="914400" algn="l" rtl="0" fontAlgn="base">
              <a:spcBef>
                <a:spcPct val="0"/>
              </a:spcBef>
              <a:spcAft>
                <a:spcPct val="0"/>
              </a:spcAft>
              <a:defRPr sz="1400" b="1" kern="1200">
                <a:solidFill>
                  <a:schemeClr val="tx1"/>
                </a:solidFill>
                <a:latin typeface="Times New Roman" pitchFamily="18" charset="0"/>
                <a:ea typeface="+mn-ea"/>
                <a:cs typeface="+mn-cs"/>
              </a:defRPr>
            </a:lvl3pPr>
            <a:lvl4pPr marL="1371600" algn="l" rtl="0" fontAlgn="base">
              <a:spcBef>
                <a:spcPct val="0"/>
              </a:spcBef>
              <a:spcAft>
                <a:spcPct val="0"/>
              </a:spcAft>
              <a:defRPr sz="1400" b="1" kern="1200">
                <a:solidFill>
                  <a:schemeClr val="tx1"/>
                </a:solidFill>
                <a:latin typeface="Times New Roman" pitchFamily="18" charset="0"/>
                <a:ea typeface="+mn-ea"/>
                <a:cs typeface="+mn-cs"/>
              </a:defRPr>
            </a:lvl4pPr>
            <a:lvl5pPr marL="1828800" algn="l" rtl="0" fontAlgn="base">
              <a:spcBef>
                <a:spcPct val="0"/>
              </a:spcBef>
              <a:spcAft>
                <a:spcPct val="0"/>
              </a:spcAft>
              <a:defRPr sz="1400" b="1" kern="1200">
                <a:solidFill>
                  <a:schemeClr val="tx1"/>
                </a:solidFill>
                <a:latin typeface="Times New Roman" pitchFamily="18" charset="0"/>
                <a:ea typeface="+mn-ea"/>
                <a:cs typeface="+mn-cs"/>
              </a:defRPr>
            </a:lvl5pPr>
            <a:lvl6pPr marL="2286000" algn="l" defTabSz="914400" rtl="0" eaLnBrk="1" latinLnBrk="0" hangingPunct="1">
              <a:defRPr sz="1400" b="1" kern="1200">
                <a:solidFill>
                  <a:schemeClr val="tx1"/>
                </a:solidFill>
                <a:latin typeface="Times New Roman" pitchFamily="18" charset="0"/>
                <a:ea typeface="+mn-ea"/>
                <a:cs typeface="+mn-cs"/>
              </a:defRPr>
            </a:lvl6pPr>
            <a:lvl7pPr marL="2743200" algn="l" defTabSz="914400" rtl="0" eaLnBrk="1" latinLnBrk="0" hangingPunct="1">
              <a:defRPr sz="1400" b="1" kern="1200">
                <a:solidFill>
                  <a:schemeClr val="tx1"/>
                </a:solidFill>
                <a:latin typeface="Times New Roman" pitchFamily="18" charset="0"/>
                <a:ea typeface="+mn-ea"/>
                <a:cs typeface="+mn-cs"/>
              </a:defRPr>
            </a:lvl7pPr>
            <a:lvl8pPr marL="3200400" algn="l" defTabSz="914400" rtl="0" eaLnBrk="1" latinLnBrk="0" hangingPunct="1">
              <a:defRPr sz="1400" b="1" kern="1200">
                <a:solidFill>
                  <a:schemeClr val="tx1"/>
                </a:solidFill>
                <a:latin typeface="Times New Roman" pitchFamily="18" charset="0"/>
                <a:ea typeface="+mn-ea"/>
                <a:cs typeface="+mn-cs"/>
              </a:defRPr>
            </a:lvl8pPr>
            <a:lvl9pPr marL="3657600" algn="l" defTabSz="914400" rtl="0" eaLnBrk="1" latinLnBrk="0" hangingPunct="1">
              <a:defRPr sz="1400" b="1" kern="1200">
                <a:solidFill>
                  <a:schemeClr val="tx1"/>
                </a:solidFill>
                <a:latin typeface="Times New Roman" pitchFamily="18" charset="0"/>
                <a:ea typeface="+mn-ea"/>
                <a:cs typeface="+mn-cs"/>
              </a:defRPr>
            </a:lvl9pPr>
          </a:lstStyle>
          <a:p>
            <a:r>
              <a:rPr lang="es-ES" sz="2400" b="0" dirty="0">
                <a:solidFill>
                  <a:schemeClr val="bg1"/>
                </a:solidFill>
                <a:latin typeface="+mn-lt"/>
                <a:cs typeface="Lucida Sans" pitchFamily="34" charset="0"/>
              </a:rPr>
              <a:t>Las pantallas más utilizadas son las PPI, Plan Position </a:t>
            </a:r>
            <a:r>
              <a:rPr lang="es-ES" sz="2400" b="0" dirty="0" err="1">
                <a:solidFill>
                  <a:schemeClr val="bg1"/>
                </a:solidFill>
                <a:latin typeface="+mn-lt"/>
                <a:cs typeface="Lucida Sans" pitchFamily="34" charset="0"/>
              </a:rPr>
              <a:t>Indicator</a:t>
            </a:r>
            <a:r>
              <a:rPr lang="es-ES" sz="2400" b="0" dirty="0">
                <a:solidFill>
                  <a:schemeClr val="bg1"/>
                </a:solidFill>
                <a:latin typeface="+mn-lt"/>
                <a:cs typeface="Lucida Sans" pitchFamily="34" charset="0"/>
              </a:rPr>
              <a:t>.</a:t>
            </a:r>
          </a:p>
          <a:p>
            <a:pPr marL="342900" indent="-342900">
              <a:buFont typeface="Arial" panose="020B0604020202020204" pitchFamily="34" charset="0"/>
              <a:buChar char="•"/>
            </a:pPr>
            <a:r>
              <a:rPr lang="es-ES" sz="2400" b="0" dirty="0">
                <a:solidFill>
                  <a:schemeClr val="bg1"/>
                </a:solidFill>
                <a:latin typeface="+mn-lt"/>
                <a:cs typeface="Lucida Sans" pitchFamily="34" charset="0"/>
              </a:rPr>
              <a:t>Dan información de </a:t>
            </a:r>
            <a:r>
              <a:rPr lang="es-ES" sz="2400" b="0" dirty="0" err="1">
                <a:solidFill>
                  <a:schemeClr val="bg1"/>
                </a:solidFill>
                <a:latin typeface="+mn-lt"/>
                <a:cs typeface="Lucida Sans" pitchFamily="34" charset="0"/>
              </a:rPr>
              <a:t>azimuth</a:t>
            </a:r>
            <a:r>
              <a:rPr lang="es-ES" sz="2400" b="0" dirty="0">
                <a:solidFill>
                  <a:schemeClr val="bg1"/>
                </a:solidFill>
                <a:latin typeface="+mn-lt"/>
                <a:cs typeface="Lucida Sans" pitchFamily="34" charset="0"/>
              </a:rPr>
              <a:t> y distancia.</a:t>
            </a:r>
          </a:p>
          <a:p>
            <a:pPr marL="342900" indent="-342900">
              <a:buFont typeface="Arial" panose="020B0604020202020204" pitchFamily="34" charset="0"/>
              <a:buChar char="•"/>
            </a:pPr>
            <a:r>
              <a:rPr lang="es-ES" sz="2400" b="0" dirty="0">
                <a:solidFill>
                  <a:schemeClr val="bg1"/>
                </a:solidFill>
                <a:latin typeface="+mn-lt"/>
                <a:cs typeface="Lucida Sans" pitchFamily="34" charset="0"/>
              </a:rPr>
              <a:t>El tamaño del eco presentado no corresponde con el tamaño del</a:t>
            </a:r>
            <a:r>
              <a:rPr lang="es-419" sz="2400" b="0" dirty="0">
                <a:solidFill>
                  <a:schemeClr val="bg1"/>
                </a:solidFill>
                <a:latin typeface="+mn-lt"/>
                <a:cs typeface="Lucida Sans" pitchFamily="34" charset="0"/>
              </a:rPr>
              <a:t> </a:t>
            </a:r>
            <a:r>
              <a:rPr lang="es-ES" sz="2400" b="0" dirty="0">
                <a:solidFill>
                  <a:schemeClr val="bg1"/>
                </a:solidFill>
                <a:latin typeface="+mn-lt"/>
                <a:cs typeface="Lucida Sans" pitchFamily="34" charset="0"/>
              </a:rPr>
              <a:t>blanco.</a:t>
            </a:r>
          </a:p>
        </p:txBody>
      </p:sp>
      <p:pic>
        <p:nvPicPr>
          <p:cNvPr id="7" name="Picture 6"/>
          <p:cNvPicPr>
            <a:picLocks noChangeAspect="1"/>
          </p:cNvPicPr>
          <p:nvPr/>
        </p:nvPicPr>
        <p:blipFill>
          <a:blip r:embed="rId5"/>
          <a:stretch>
            <a:fillRect/>
          </a:stretch>
        </p:blipFill>
        <p:spPr>
          <a:xfrm>
            <a:off x="259538" y="3020778"/>
            <a:ext cx="2127348" cy="2085095"/>
          </a:xfrm>
          <a:prstGeom prst="rect">
            <a:avLst/>
          </a:prstGeom>
        </p:spPr>
      </p:pic>
      <p:pic>
        <p:nvPicPr>
          <p:cNvPr id="9" name="Picture 8"/>
          <p:cNvPicPr>
            <a:picLocks noChangeAspect="1"/>
          </p:cNvPicPr>
          <p:nvPr/>
        </p:nvPicPr>
        <p:blipFill>
          <a:blip r:embed="rId6"/>
          <a:stretch>
            <a:fillRect/>
          </a:stretch>
        </p:blipFill>
        <p:spPr>
          <a:xfrm>
            <a:off x="2787460" y="3121136"/>
            <a:ext cx="2568311" cy="1914491"/>
          </a:xfrm>
          <a:prstGeom prst="rect">
            <a:avLst/>
          </a:prstGeom>
        </p:spPr>
      </p:pic>
      <p:pic>
        <p:nvPicPr>
          <p:cNvPr id="10" name="Picture 9"/>
          <p:cNvPicPr>
            <a:picLocks noChangeAspect="1"/>
          </p:cNvPicPr>
          <p:nvPr/>
        </p:nvPicPr>
        <p:blipFill>
          <a:blip r:embed="rId7"/>
          <a:stretch>
            <a:fillRect/>
          </a:stretch>
        </p:blipFill>
        <p:spPr>
          <a:xfrm>
            <a:off x="6343193" y="2538472"/>
            <a:ext cx="3953745" cy="4000440"/>
          </a:xfrm>
          <a:prstGeom prst="rect">
            <a:avLst/>
          </a:prstGeom>
        </p:spPr>
      </p:pic>
    </p:spTree>
    <p:extLst>
      <p:ext uri="{BB962C8B-B14F-4D97-AF65-F5344CB8AC3E}">
        <p14:creationId xmlns:p14="http://schemas.microsoft.com/office/powerpoint/2010/main" val="10839602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8F0E6E5-B4BC-05B8-CCC9-FF99AFC097A4}"/>
              </a:ext>
            </a:extLst>
          </p:cNvPr>
          <p:cNvSpPr>
            <a:spLocks noGrp="1"/>
          </p:cNvSpPr>
          <p:nvPr>
            <p:ph type="sldNum" sz="quarter" idx="12"/>
          </p:nvPr>
        </p:nvSpPr>
        <p:spPr/>
        <p:txBody>
          <a:bodyPr/>
          <a:lstStyle/>
          <a:p>
            <a:fld id="{16B7FEC2-09BE-4569-8D55-B52F6B35789D}" type="slidenum">
              <a:rPr lang="es-CO" smtClean="0"/>
              <a:t>44</a:t>
            </a:fld>
            <a:endParaRPr lang="es-CO"/>
          </a:p>
        </p:txBody>
      </p:sp>
      <p:pic>
        <p:nvPicPr>
          <p:cNvPr id="4" name="Imagen 3">
            <a:extLst>
              <a:ext uri="{FF2B5EF4-FFF2-40B4-BE49-F238E27FC236}">
                <a16:creationId xmlns:a16="http://schemas.microsoft.com/office/drawing/2014/main" id="{D0D809AE-07F4-4140-5874-C8A657D80816}"/>
              </a:ext>
            </a:extLst>
          </p:cNvPr>
          <p:cNvPicPr>
            <a:picLocks noChangeAspect="1"/>
          </p:cNvPicPr>
          <p:nvPr/>
        </p:nvPicPr>
        <p:blipFill>
          <a:blip r:embed="rId2"/>
          <a:stretch>
            <a:fillRect/>
          </a:stretch>
        </p:blipFill>
        <p:spPr>
          <a:xfrm>
            <a:off x="0" y="949898"/>
            <a:ext cx="12192000" cy="4958203"/>
          </a:xfrm>
          <a:prstGeom prst="rect">
            <a:avLst/>
          </a:prstGeom>
        </p:spPr>
      </p:pic>
    </p:spTree>
    <p:extLst>
      <p:ext uri="{BB962C8B-B14F-4D97-AF65-F5344CB8AC3E}">
        <p14:creationId xmlns:p14="http://schemas.microsoft.com/office/powerpoint/2010/main" val="4403769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E82A904-9711-2D4E-7E9A-D7B26219A35A}"/>
              </a:ext>
            </a:extLst>
          </p:cNvPr>
          <p:cNvSpPr>
            <a:spLocks noGrp="1"/>
          </p:cNvSpPr>
          <p:nvPr>
            <p:ph type="sldNum" sz="quarter" idx="12"/>
          </p:nvPr>
        </p:nvSpPr>
        <p:spPr/>
        <p:txBody>
          <a:bodyPr/>
          <a:lstStyle/>
          <a:p>
            <a:fld id="{16B7FEC2-09BE-4569-8D55-B52F6B35789D}" type="slidenum">
              <a:rPr lang="es-CO" smtClean="0"/>
              <a:t>45</a:t>
            </a:fld>
            <a:endParaRPr lang="es-CO"/>
          </a:p>
        </p:txBody>
      </p:sp>
      <p:pic>
        <p:nvPicPr>
          <p:cNvPr id="4" name="Imagen 3">
            <a:extLst>
              <a:ext uri="{FF2B5EF4-FFF2-40B4-BE49-F238E27FC236}">
                <a16:creationId xmlns:a16="http://schemas.microsoft.com/office/drawing/2014/main" id="{F725EC94-0E7E-4AC9-B6D5-399C76E83C08}"/>
              </a:ext>
            </a:extLst>
          </p:cNvPr>
          <p:cNvPicPr>
            <a:picLocks noChangeAspect="1"/>
          </p:cNvPicPr>
          <p:nvPr/>
        </p:nvPicPr>
        <p:blipFill>
          <a:blip r:embed="rId2"/>
          <a:stretch>
            <a:fillRect/>
          </a:stretch>
        </p:blipFill>
        <p:spPr>
          <a:xfrm>
            <a:off x="3165530" y="1487208"/>
            <a:ext cx="5860940" cy="3883584"/>
          </a:xfrm>
          <a:prstGeom prst="rect">
            <a:avLst/>
          </a:prstGeom>
        </p:spPr>
      </p:pic>
    </p:spTree>
    <p:extLst>
      <p:ext uri="{BB962C8B-B14F-4D97-AF65-F5344CB8AC3E}">
        <p14:creationId xmlns:p14="http://schemas.microsoft.com/office/powerpoint/2010/main" val="15611939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46</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Visualización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Presentación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554871" y="2477151"/>
            <a:ext cx="10474039" cy="1815882"/>
          </a:xfrm>
          <a:prstGeom prst="rect">
            <a:avLst/>
          </a:prstGeom>
        </p:spPr>
        <p:txBody>
          <a:bodyPr wrap="square">
            <a:spAutoFit/>
          </a:bodyPr>
          <a:lstStyle/>
          <a:p>
            <a:r>
              <a:rPr lang="es-ES" sz="2800" dirty="0"/>
              <a:t>El tamaño del blanco depende del ancho del haz y longitud del</a:t>
            </a:r>
            <a:r>
              <a:rPr lang="es-419" sz="2800" dirty="0"/>
              <a:t> </a:t>
            </a:r>
            <a:r>
              <a:rPr lang="es-ES" sz="2800" dirty="0"/>
              <a:t>impulso.</a:t>
            </a:r>
          </a:p>
          <a:p>
            <a:r>
              <a:rPr lang="es-ES" sz="2800" dirty="0"/>
              <a:t>• Para mejorar la interpretación, se añade información.</a:t>
            </a:r>
          </a:p>
          <a:p>
            <a:r>
              <a:rPr lang="es-ES" sz="2800" dirty="0"/>
              <a:t>• Para mejorar la presentación se utiliza un circuito electrónico</a:t>
            </a:r>
          </a:p>
        </p:txBody>
      </p:sp>
    </p:spTree>
    <p:extLst>
      <p:ext uri="{BB962C8B-B14F-4D97-AF65-F5344CB8AC3E}">
        <p14:creationId xmlns:p14="http://schemas.microsoft.com/office/powerpoint/2010/main" val="3568570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CDB0B-7281-4EF2-4860-0E7C96A096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DBFAC3-945D-358E-D939-A14A47B6F9E6}"/>
              </a:ext>
            </a:extLst>
          </p:cNvPr>
          <p:cNvSpPr>
            <a:spLocks noGrp="1"/>
          </p:cNvSpPr>
          <p:nvPr>
            <p:ph type="sldNum" sz="quarter" idx="12"/>
          </p:nvPr>
        </p:nvSpPr>
        <p:spPr/>
        <p:txBody>
          <a:bodyPr/>
          <a:lstStyle/>
          <a:p>
            <a:fld id="{16B7FEC2-09BE-4569-8D55-B52F6B35789D}" type="slidenum">
              <a:rPr lang="es-CO" smtClean="0"/>
              <a:t>47</a:t>
            </a:fld>
            <a:endParaRPr lang="es-CO" dirty="0"/>
          </a:p>
        </p:txBody>
      </p:sp>
      <p:sp>
        <p:nvSpPr>
          <p:cNvPr id="3" name="내용 개체 틀 2">
            <a:extLst>
              <a:ext uri="{FF2B5EF4-FFF2-40B4-BE49-F238E27FC236}">
                <a16:creationId xmlns:a16="http://schemas.microsoft.com/office/drawing/2014/main" id="{E4880869-2B2B-4937-C153-3A37DF58C146}"/>
              </a:ext>
            </a:extLst>
          </p:cNvPr>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Visualización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a:extLst>
              <a:ext uri="{FF2B5EF4-FFF2-40B4-BE49-F238E27FC236}">
                <a16:creationId xmlns:a16="http://schemas.microsoft.com/office/drawing/2014/main" id="{6C78E666-E429-1481-6AF7-47C2FBA578F6}"/>
              </a:ext>
            </a:extLst>
          </p:cNvPr>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Presentación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a:extLst>
              <a:ext uri="{FF2B5EF4-FFF2-40B4-BE49-F238E27FC236}">
                <a16:creationId xmlns:a16="http://schemas.microsoft.com/office/drawing/2014/main" id="{B4048185-40DE-4573-AC9B-F921B52800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a:extLst>
              <a:ext uri="{FF2B5EF4-FFF2-40B4-BE49-F238E27FC236}">
                <a16:creationId xmlns:a16="http://schemas.microsoft.com/office/drawing/2014/main" id="{D1A4804C-C7D0-1000-1CC6-349951DF70A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3A47C270-5223-DDA4-99CA-9ED1C3C64154}"/>
              </a:ext>
            </a:extLst>
          </p:cNvPr>
          <p:cNvSpPr/>
          <p:nvPr/>
        </p:nvSpPr>
        <p:spPr>
          <a:xfrm>
            <a:off x="425092" y="2485455"/>
            <a:ext cx="10474040" cy="2677656"/>
          </a:xfrm>
          <a:prstGeom prst="rect">
            <a:avLst/>
          </a:prstGeom>
        </p:spPr>
        <p:txBody>
          <a:bodyPr wrap="square">
            <a:spAutoFit/>
          </a:bodyPr>
          <a:lstStyle/>
          <a:p>
            <a:r>
              <a:rPr lang="es-ES" sz="2400" b="1" dirty="0" err="1"/>
              <a:t>Moving</a:t>
            </a:r>
            <a:r>
              <a:rPr lang="es-ES" sz="2400" b="1" dirty="0"/>
              <a:t> Target </a:t>
            </a:r>
            <a:r>
              <a:rPr lang="es-ES" sz="2400" b="1" dirty="0" err="1"/>
              <a:t>Indicator</a:t>
            </a:r>
            <a:r>
              <a:rPr lang="es-ES" sz="2400" b="1" dirty="0"/>
              <a:t> (MTI)</a:t>
            </a:r>
          </a:p>
          <a:p>
            <a:pPr marL="285750" indent="-285750">
              <a:buFont typeface="Wingdings" panose="05000000000000000000" pitchFamily="2" charset="2"/>
              <a:buChar char="§"/>
            </a:pPr>
            <a:r>
              <a:rPr lang="es-ES" sz="2400" dirty="0"/>
              <a:t> Los receptores radar incorporan circuitos electrónicos para descartar</a:t>
            </a:r>
            <a:r>
              <a:rPr lang="es-419" sz="2400" dirty="0"/>
              <a:t> </a:t>
            </a:r>
            <a:r>
              <a:rPr lang="es-ES" sz="2400" dirty="0"/>
              <a:t>retornos de blancos fijos (terreno, nubes, edificios...) que enmascararían los retornos de la aeronaves</a:t>
            </a:r>
          </a:p>
          <a:p>
            <a:pPr marL="285750" indent="-285750">
              <a:buFont typeface="Wingdings" panose="05000000000000000000" pitchFamily="2" charset="2"/>
              <a:buChar char="§"/>
            </a:pPr>
            <a:r>
              <a:rPr lang="es-ES" sz="2400" dirty="0"/>
              <a:t>También eliminan los blancos falsos causados por los llamados “</a:t>
            </a:r>
            <a:r>
              <a:rPr lang="es-ES" sz="2400" dirty="0" err="1"/>
              <a:t>second</a:t>
            </a:r>
            <a:r>
              <a:rPr lang="es-ES" sz="2400" dirty="0"/>
              <a:t> trace </a:t>
            </a:r>
            <a:r>
              <a:rPr lang="es-ES" sz="2400" dirty="0" err="1"/>
              <a:t>returns</a:t>
            </a:r>
            <a:r>
              <a:rPr lang="es-ES" sz="2400" dirty="0"/>
              <a:t>”, causados objetos situados más allá del alcance máximo no ambiguo. Este efecto se corrige cambiando la PRI para pulsos consecutivos</a:t>
            </a:r>
          </a:p>
        </p:txBody>
      </p:sp>
    </p:spTree>
    <p:extLst>
      <p:ext uri="{BB962C8B-B14F-4D97-AF65-F5344CB8AC3E}">
        <p14:creationId xmlns:p14="http://schemas.microsoft.com/office/powerpoint/2010/main" val="24252314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48</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Visualización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Presentación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59538" y="1163817"/>
            <a:ext cx="8601456" cy="2492990"/>
          </a:xfrm>
          <a:prstGeom prst="rect">
            <a:avLst/>
          </a:prstGeom>
        </p:spPr>
        <p:txBody>
          <a:bodyPr wrap="square">
            <a:spAutoFit/>
          </a:bodyPr>
          <a:lstStyle/>
          <a:p>
            <a:pPr>
              <a:lnSpc>
                <a:spcPct val="150000"/>
              </a:lnSpc>
              <a:spcAft>
                <a:spcPts val="0"/>
              </a:spcAft>
            </a:pPr>
            <a:r>
              <a:rPr lang="es-CO" sz="2400" b="1" dirty="0">
                <a:solidFill>
                  <a:srgbClr val="343399"/>
                </a:solidFill>
                <a:ea typeface="Calibri" panose="020F0502020204030204" pitchFamily="34" charset="0"/>
                <a:cs typeface="Times New Roman" panose="02020603050405020304" pitchFamily="18" charset="0"/>
              </a:rPr>
              <a:t>Procesador de Datos Radar (Radar </a:t>
            </a:r>
            <a:r>
              <a:rPr lang="es-CO" sz="2400" b="1" dirty="0" err="1">
                <a:solidFill>
                  <a:srgbClr val="343399"/>
                </a:solidFill>
                <a:ea typeface="Calibri" panose="020F0502020204030204" pitchFamily="34" charset="0"/>
                <a:cs typeface="Times New Roman" panose="02020603050405020304" pitchFamily="18" charset="0"/>
              </a:rPr>
              <a:t>Track</a:t>
            </a:r>
            <a:r>
              <a:rPr lang="es-CO" sz="2400" b="1" dirty="0">
                <a:solidFill>
                  <a:srgbClr val="343399"/>
                </a:solidFill>
                <a:ea typeface="Calibri" panose="020F0502020204030204" pitchFamily="34" charset="0"/>
                <a:cs typeface="Times New Roman" panose="02020603050405020304" pitchFamily="18" charset="0"/>
              </a:rPr>
              <a:t> </a:t>
            </a:r>
            <a:r>
              <a:rPr lang="es-CO" sz="2400" b="1" dirty="0" err="1">
                <a:solidFill>
                  <a:srgbClr val="343399"/>
                </a:solidFill>
                <a:ea typeface="Calibri" panose="020F0502020204030204" pitchFamily="34" charset="0"/>
                <a:cs typeface="Times New Roman" panose="02020603050405020304" pitchFamily="18" charset="0"/>
              </a:rPr>
              <a:t>Processor</a:t>
            </a:r>
            <a:r>
              <a:rPr lang="es-CO" sz="2400" b="1" dirty="0">
                <a:solidFill>
                  <a:srgbClr val="343399"/>
                </a:solidFill>
                <a:ea typeface="Calibri" panose="020F0502020204030204" pitchFamily="34" charset="0"/>
                <a:cs typeface="Times New Roman" panose="02020603050405020304" pitchFamily="18" charset="0"/>
              </a:rPr>
              <a:t> RTP)</a:t>
            </a:r>
          </a:p>
          <a:p>
            <a:pPr marL="285750" indent="-285750">
              <a:spcAft>
                <a:spcPts val="0"/>
              </a:spcAft>
              <a:buClr>
                <a:srgbClr val="343399"/>
              </a:buClr>
              <a:buFont typeface="Wingdings" panose="05000000000000000000" pitchFamily="2" charset="2"/>
              <a:buChar char="§"/>
            </a:pPr>
            <a:r>
              <a:rPr lang="es-CO" sz="2400" dirty="0">
                <a:ea typeface="Calibri" panose="020F0502020204030204" pitchFamily="34" charset="0"/>
                <a:cs typeface="Times New Roman" panose="02020603050405020304" pitchFamily="18" charset="0"/>
              </a:rPr>
              <a:t>Digitalización del video bruto del radar</a:t>
            </a:r>
          </a:p>
          <a:p>
            <a:pPr marL="285750" indent="-285750">
              <a:spcAft>
                <a:spcPts val="0"/>
              </a:spcAft>
              <a:buClr>
                <a:srgbClr val="343399"/>
              </a:buClr>
              <a:buFont typeface="Wingdings" panose="05000000000000000000" pitchFamily="2" charset="2"/>
              <a:buChar char="§"/>
            </a:pPr>
            <a:r>
              <a:rPr lang="es-CO" sz="2400" dirty="0">
                <a:ea typeface="Calibri" panose="020F0502020204030204" pitchFamily="34" charset="0"/>
                <a:cs typeface="Times New Roman" panose="02020603050405020304" pitchFamily="18" charset="0"/>
              </a:rPr>
              <a:t>Detección de blancos radar</a:t>
            </a:r>
          </a:p>
          <a:p>
            <a:pPr marL="285750" indent="-285750">
              <a:spcAft>
                <a:spcPts val="0"/>
              </a:spcAft>
              <a:buClr>
                <a:srgbClr val="343399"/>
              </a:buClr>
              <a:buFont typeface="Wingdings" panose="05000000000000000000" pitchFamily="2" charset="2"/>
              <a:buChar char="§"/>
            </a:pPr>
            <a:r>
              <a:rPr lang="es-CO" sz="2400" dirty="0">
                <a:ea typeface="Calibri" panose="020F0502020204030204" pitchFamily="34" charset="0"/>
                <a:cs typeface="Times New Roman" panose="02020603050405020304" pitchFamily="18" charset="0"/>
              </a:rPr>
              <a:t>Cálculo de su Posición geográfica</a:t>
            </a:r>
          </a:p>
          <a:p>
            <a:pPr marL="285750" indent="-285750">
              <a:spcAft>
                <a:spcPts val="0"/>
              </a:spcAft>
              <a:buClr>
                <a:srgbClr val="343399"/>
              </a:buClr>
              <a:buFont typeface="Wingdings" panose="05000000000000000000" pitchFamily="2" charset="2"/>
              <a:buChar char="§"/>
            </a:pPr>
            <a:r>
              <a:rPr lang="es-CO" sz="2400" dirty="0">
                <a:ea typeface="Calibri" panose="020F0502020204030204" pitchFamily="34" charset="0"/>
                <a:cs typeface="Times New Roman" panose="02020603050405020304" pitchFamily="18" charset="0"/>
              </a:rPr>
              <a:t>Cálculo del rumbo y velocidad del blanco</a:t>
            </a:r>
          </a:p>
          <a:p>
            <a:pPr marL="285750" indent="-285750">
              <a:spcAft>
                <a:spcPts val="0"/>
              </a:spcAft>
              <a:buClr>
                <a:srgbClr val="343399"/>
              </a:buClr>
              <a:buFont typeface="Wingdings" panose="05000000000000000000" pitchFamily="2" charset="2"/>
              <a:buChar char="§"/>
            </a:pPr>
            <a:r>
              <a:rPr lang="es-CO" sz="2400" dirty="0">
                <a:ea typeface="Calibri" panose="020F0502020204030204" pitchFamily="34" charset="0"/>
                <a:cs typeface="Times New Roman" panose="02020603050405020304" pitchFamily="18" charset="0"/>
              </a:rPr>
              <a:t>Transmisión de video bruto digitalizado al CDC</a:t>
            </a:r>
          </a:p>
        </p:txBody>
      </p:sp>
      <p:pic>
        <p:nvPicPr>
          <p:cNvPr id="9" name="Imagen 9" descr="http://www.magisternavis.com/Proyec22.jpg"/>
          <p:cNvPicPr/>
          <p:nvPr/>
        </p:nvPicPr>
        <p:blipFill>
          <a:blip r:embed="rId5">
            <a:extLst>
              <a:ext uri="{28A0092B-C50C-407E-A947-70E740481C1C}">
                <a14:useLocalDpi xmlns:a14="http://schemas.microsoft.com/office/drawing/2010/main" val="0"/>
              </a:ext>
            </a:extLst>
          </a:blip>
          <a:srcRect/>
          <a:stretch>
            <a:fillRect/>
          </a:stretch>
        </p:blipFill>
        <p:spPr bwMode="auto">
          <a:xfrm>
            <a:off x="6806803" y="1768036"/>
            <a:ext cx="5138762" cy="4145993"/>
          </a:xfrm>
          <a:prstGeom prst="rect">
            <a:avLst/>
          </a:prstGeom>
          <a:noFill/>
          <a:ln>
            <a:noFill/>
          </a:ln>
        </p:spPr>
      </p:pic>
    </p:spTree>
    <p:extLst>
      <p:ext uri="{BB962C8B-B14F-4D97-AF65-F5344CB8AC3E}">
        <p14:creationId xmlns:p14="http://schemas.microsoft.com/office/powerpoint/2010/main" val="24318477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16B7FEC2-09BE-4569-8D55-B52F6B35789D}" type="slidenum">
              <a:rPr lang="es-CO" smtClean="0"/>
              <a:t>49</a:t>
            </a:fld>
            <a:endParaRPr lang="es-CO" dirty="0"/>
          </a:p>
        </p:txBody>
      </p:sp>
      <p:sp>
        <p:nvSpPr>
          <p:cNvPr id="3" name="내용 개체 틀 2"/>
          <p:cNvSpPr txBox="1">
            <a:spLocks/>
          </p:cNvSpPr>
          <p:nvPr/>
        </p:nvSpPr>
        <p:spPr>
          <a:xfrm>
            <a:off x="259538" y="220557"/>
            <a:ext cx="11686027" cy="432253"/>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3600" b="1" dirty="0">
                <a:solidFill>
                  <a:schemeClr val="accent1">
                    <a:lumMod val="50000"/>
                  </a:schemeClr>
                </a:solidFill>
                <a:cs typeface="Arial" panose="020B0604020202020204" pitchFamily="34" charset="0"/>
              </a:rPr>
              <a:t>Visualización</a:t>
            </a:r>
            <a:endParaRPr lang="es-ES" sz="3600" b="1" dirty="0">
              <a:solidFill>
                <a:schemeClr val="accent1">
                  <a:lumMod val="50000"/>
                </a:schemeClr>
              </a:solidFill>
              <a:cs typeface="Arial" panose="020B0604020202020204" pitchFamily="34" charset="0"/>
            </a:endParaRPr>
          </a:p>
          <a:p>
            <a:pPr marL="0" indent="0">
              <a:buFont typeface="Arial" panose="020B0604020202020204" pitchFamily="34" charset="0"/>
              <a:buNone/>
            </a:pPr>
            <a:endParaRPr lang="es-CO" sz="3600" b="1" dirty="0">
              <a:solidFill>
                <a:schemeClr val="accent1">
                  <a:lumMod val="50000"/>
                </a:schemeClr>
              </a:solidFill>
              <a:cs typeface="Arial" panose="020B0604020202020204" pitchFamily="34" charset="0"/>
            </a:endParaRPr>
          </a:p>
        </p:txBody>
      </p:sp>
      <p:sp>
        <p:nvSpPr>
          <p:cNvPr id="4"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x-none" sz="2400" b="1" dirty="0">
                <a:solidFill>
                  <a:schemeClr val="accent1">
                    <a:lumMod val="75000"/>
                  </a:schemeClr>
                </a:solidFill>
                <a:cs typeface="Arial" panose="020B0604020202020204" pitchFamily="34" charset="0"/>
              </a:rPr>
              <a:t>Presentación Radar</a:t>
            </a:r>
            <a:endParaRPr lang="es-CO" sz="2400" b="1" dirty="0">
              <a:solidFill>
                <a:schemeClr val="accent1">
                  <a:lumMod val="75000"/>
                </a:schemeClr>
              </a:solidFill>
              <a:cs typeface="Arial" panose="020B0604020202020204" pitchFamily="34" charset="0"/>
            </a:endParaRPr>
          </a:p>
        </p:txBody>
      </p:sp>
      <p:pic>
        <p:nvPicPr>
          <p:cNvPr id="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p:nvPr/>
        </p:nvPicPr>
        <p:blipFill>
          <a:blip r:embed="rId5">
            <a:extLst>
              <a:ext uri="{28A0092B-C50C-407E-A947-70E740481C1C}">
                <a14:useLocalDpi xmlns:a14="http://schemas.microsoft.com/office/drawing/2010/main" val="0"/>
              </a:ext>
            </a:extLst>
          </a:blip>
          <a:srcRect/>
          <a:stretch>
            <a:fillRect/>
          </a:stretch>
        </p:blipFill>
        <p:spPr bwMode="auto">
          <a:xfrm>
            <a:off x="251587" y="1241267"/>
            <a:ext cx="5844413" cy="4992895"/>
          </a:xfrm>
          <a:prstGeom prst="rect">
            <a:avLst/>
          </a:prstGeom>
          <a:noFill/>
          <a:ln>
            <a:noFill/>
          </a:ln>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14894" y="1038078"/>
            <a:ext cx="3455674" cy="2229467"/>
          </a:xfrm>
          <a:prstGeom prst="rect">
            <a:avLst/>
          </a:prstGeom>
        </p:spPr>
      </p:pic>
      <p:sp>
        <p:nvSpPr>
          <p:cNvPr id="11" name="Rectangle 10"/>
          <p:cNvSpPr/>
          <p:nvPr/>
        </p:nvSpPr>
        <p:spPr>
          <a:xfrm>
            <a:off x="6661244" y="3590455"/>
            <a:ext cx="5407700" cy="3046988"/>
          </a:xfrm>
          <a:prstGeom prst="rect">
            <a:avLst/>
          </a:prstGeom>
        </p:spPr>
        <p:txBody>
          <a:bodyPr wrap="square">
            <a:spAutoFit/>
          </a:bodyPr>
          <a:lstStyle/>
          <a:p>
            <a:pPr marL="342900" indent="-342900">
              <a:buFont typeface="Wingdings" panose="05000000000000000000" pitchFamily="2" charset="2"/>
              <a:buChar char="§"/>
            </a:pPr>
            <a:r>
              <a:rPr lang="es-CO" sz="2400" b="1" dirty="0" err="1"/>
              <a:t>Plots</a:t>
            </a:r>
            <a:r>
              <a:rPr lang="es-CO" sz="2400" dirty="0"/>
              <a:t> - contienen información de azimut, distancia y código Modo 3A y/o C (si fuera un </a:t>
            </a:r>
            <a:r>
              <a:rPr lang="es-CO" sz="2400" dirty="0" err="1"/>
              <a:t>plot</a:t>
            </a:r>
            <a:r>
              <a:rPr lang="es-CO" sz="2400" dirty="0"/>
              <a:t> SSR).</a:t>
            </a:r>
          </a:p>
          <a:p>
            <a:pPr marL="342900" indent="-342900">
              <a:buFont typeface="Wingdings" panose="05000000000000000000" pitchFamily="2" charset="2"/>
              <a:buChar char="§"/>
            </a:pPr>
            <a:r>
              <a:rPr lang="es-CO" sz="2400" b="1" dirty="0" err="1"/>
              <a:t>Tracks</a:t>
            </a:r>
            <a:r>
              <a:rPr lang="es-CO" sz="2400" dirty="0"/>
              <a:t> - información de </a:t>
            </a:r>
            <a:r>
              <a:rPr lang="es-CO" sz="2400" dirty="0" err="1"/>
              <a:t>posicion</a:t>
            </a:r>
            <a:r>
              <a:rPr lang="es-CO" sz="2400" dirty="0"/>
              <a:t> (X,Y), velocidad, rumbo, y código Modo 3A y C (si fuera un </a:t>
            </a:r>
            <a:r>
              <a:rPr lang="es-CO" sz="2400" dirty="0" err="1"/>
              <a:t>track</a:t>
            </a:r>
            <a:r>
              <a:rPr lang="es-CO" sz="2400" dirty="0"/>
              <a:t> SSR) requieren que el centro de centro tenga un MRT (</a:t>
            </a:r>
            <a:r>
              <a:rPr lang="es-CO" sz="2400" dirty="0" err="1"/>
              <a:t>Multi</a:t>
            </a:r>
            <a:r>
              <a:rPr lang="es-CO" sz="2400" dirty="0"/>
              <a:t> Radar Tracking)</a:t>
            </a:r>
            <a:endParaRPr lang="en-US" sz="2400" dirty="0"/>
          </a:p>
        </p:txBody>
      </p:sp>
    </p:spTree>
    <p:extLst>
      <p:ext uri="{BB962C8B-B14F-4D97-AF65-F5344CB8AC3E}">
        <p14:creationId xmlns:p14="http://schemas.microsoft.com/office/powerpoint/2010/main" val="34413537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2"/>
          <p:cNvSpPr>
            <a:spLocks noGrp="1"/>
          </p:cNvSpPr>
          <p:nvPr>
            <p:ph idx="1"/>
          </p:nvPr>
        </p:nvSpPr>
        <p:spPr>
          <a:xfrm>
            <a:off x="259538" y="220557"/>
            <a:ext cx="11686027" cy="432253"/>
          </a:xfrm>
        </p:spPr>
        <p:txBody>
          <a:bodyPr>
            <a:noAutofit/>
          </a:bodyPr>
          <a:lstStyle/>
          <a:p>
            <a:pPr marL="0" indent="0">
              <a:buNone/>
            </a:pPr>
            <a:r>
              <a:rPr lang="es-CO" sz="3600" b="1" dirty="0">
                <a:solidFill>
                  <a:schemeClr val="accent1">
                    <a:lumMod val="50000"/>
                  </a:schemeClr>
                </a:solidFill>
                <a:cs typeface="Arial" panose="020B0604020202020204" pitchFamily="34" charset="0"/>
              </a:rPr>
              <a:t>Sistema de Vigilancia Dependiente Automática</a:t>
            </a:r>
          </a:p>
        </p:txBody>
      </p:sp>
      <p:sp>
        <p:nvSpPr>
          <p:cNvPr id="2" name="Номер слайда 1"/>
          <p:cNvSpPr>
            <a:spLocks noGrp="1"/>
          </p:cNvSpPr>
          <p:nvPr>
            <p:ph type="sldNum" sz="quarter" idx="12"/>
          </p:nvPr>
        </p:nvSpPr>
        <p:spPr/>
        <p:txBody>
          <a:bodyPr/>
          <a:lstStyle/>
          <a:p>
            <a:fld id="{16B7FEC2-09BE-4569-8D55-B52F6B35789D}" type="slidenum">
              <a:rPr lang="es-CO" smtClean="0"/>
              <a:t>50</a:t>
            </a:fld>
            <a:endParaRPr lang="es-CO" dirty="0"/>
          </a:p>
        </p:txBody>
      </p:sp>
      <p:sp>
        <p:nvSpPr>
          <p:cNvPr id="7"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err="1">
                <a:solidFill>
                  <a:schemeClr val="accent1">
                    <a:lumMod val="75000"/>
                  </a:schemeClr>
                </a:solidFill>
                <a:cs typeface="Arial" panose="020B0604020202020204" pitchFamily="34" charset="0"/>
              </a:rPr>
              <a:t>Automatic</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dependent</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surveillance</a:t>
            </a:r>
            <a:r>
              <a:rPr lang="es-419" sz="2400" b="1" dirty="0">
                <a:solidFill>
                  <a:schemeClr val="accent1">
                    <a:lumMod val="75000"/>
                  </a:schemeClr>
                </a:solidFill>
                <a:cs typeface="Arial" panose="020B0604020202020204" pitchFamily="34" charset="0"/>
              </a:rPr>
              <a:t> (ADS)</a:t>
            </a:r>
            <a:endParaRPr lang="es-CO" sz="2400" b="1" dirty="0">
              <a:solidFill>
                <a:schemeClr val="accent1">
                  <a:lumMod val="75000"/>
                </a:schemeClr>
              </a:solidFill>
              <a:cs typeface="Arial" panose="020B0604020202020204" pitchFamily="34" charset="0"/>
            </a:endParaRPr>
          </a:p>
        </p:txBody>
      </p:sp>
      <p:sp>
        <p:nvSpPr>
          <p:cNvPr id="10" name="TextBox 9"/>
          <p:cNvSpPr txBox="1"/>
          <p:nvPr/>
        </p:nvSpPr>
        <p:spPr>
          <a:xfrm>
            <a:off x="259538" y="1268897"/>
            <a:ext cx="1898650" cy="523220"/>
          </a:xfrm>
          <a:prstGeom prst="rect">
            <a:avLst/>
          </a:prstGeom>
          <a:noFill/>
        </p:spPr>
        <p:txBody>
          <a:bodyPr wrap="square" rtlCol="0">
            <a:spAutoFit/>
          </a:bodyPr>
          <a:lstStyle/>
          <a:p>
            <a:r>
              <a:rPr lang="es-419" sz="2800" b="1" dirty="0">
                <a:solidFill>
                  <a:schemeClr val="accent1">
                    <a:lumMod val="50000"/>
                  </a:schemeClr>
                </a:solidFill>
                <a:ea typeface="CMU Sans Serif Demi Condensed" panose="02000706000000000000" pitchFamily="2" charset="0"/>
                <a:cs typeface="CMU Sans Serif Demi Condensed" panose="02000706000000000000" pitchFamily="2" charset="0"/>
              </a:rPr>
              <a:t>ADS</a:t>
            </a:r>
            <a:endParaRPr lang="en-US" sz="2800" b="1" dirty="0">
              <a:solidFill>
                <a:schemeClr val="accent1">
                  <a:lumMod val="50000"/>
                </a:schemeClr>
              </a:solidFill>
              <a:ea typeface="CMU Sans Serif Demi Condensed" panose="02000706000000000000" pitchFamily="2" charset="0"/>
              <a:cs typeface="CMU Sans Serif Demi Condensed" panose="02000706000000000000" pitchFamily="2" charset="0"/>
            </a:endParaRPr>
          </a:p>
        </p:txBody>
      </p:sp>
      <p:sp>
        <p:nvSpPr>
          <p:cNvPr id="11" name="TextBox 10"/>
          <p:cNvSpPr txBox="1"/>
          <p:nvPr/>
        </p:nvSpPr>
        <p:spPr>
          <a:xfrm>
            <a:off x="259539" y="1718034"/>
            <a:ext cx="7606168" cy="175432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lvl="0"/>
            <a:r>
              <a:rPr lang="es-ES" dirty="0">
                <a:ea typeface="CMU Concrete" panose="02000603000000000000" pitchFamily="2" charset="0"/>
                <a:cs typeface="CMU Concrete" panose="02000603000000000000" pitchFamily="2" charset="0"/>
              </a:rPr>
              <a:t>Tecnología de </a:t>
            </a:r>
            <a:r>
              <a:rPr lang="es-ES" b="1" dirty="0">
                <a:ea typeface="CMU Concrete" panose="02000603000000000000" pitchFamily="2" charset="0"/>
                <a:cs typeface="CMU Concrete" panose="02000603000000000000" pitchFamily="2" charset="0"/>
              </a:rPr>
              <a:t>vigilancia cooperativa </a:t>
            </a:r>
            <a:r>
              <a:rPr lang="es-ES" dirty="0">
                <a:ea typeface="CMU Concrete" panose="02000603000000000000" pitchFamily="2" charset="0"/>
                <a:cs typeface="CMU Concrete" panose="02000603000000000000" pitchFamily="2" charset="0"/>
              </a:rPr>
              <a:t>en la que un avión determina su posición a través de la navegación por satélite (</a:t>
            </a:r>
            <a:r>
              <a:rPr lang="es-ES" b="1" dirty="0">
                <a:ea typeface="CMU Concrete" panose="02000603000000000000" pitchFamily="2" charset="0"/>
                <a:cs typeface="CMU Concrete" panose="02000603000000000000" pitchFamily="2" charset="0"/>
              </a:rPr>
              <a:t>GNSS</a:t>
            </a:r>
            <a:r>
              <a:rPr lang="es-ES" dirty="0">
                <a:ea typeface="CMU Concrete" panose="02000603000000000000" pitchFamily="2" charset="0"/>
                <a:cs typeface="CMU Concrete" panose="02000603000000000000" pitchFamily="2" charset="0"/>
              </a:rPr>
              <a:t>) y difunde </a:t>
            </a:r>
            <a:r>
              <a:rPr lang="es-ES" i="1" dirty="0">
                <a:ea typeface="CMU Concrete" panose="02000603000000000000" pitchFamily="2" charset="0"/>
                <a:cs typeface="CMU Concrete" panose="02000603000000000000" pitchFamily="2" charset="0"/>
              </a:rPr>
              <a:t>periódicamente</a:t>
            </a:r>
            <a:r>
              <a:rPr lang="es-ES" dirty="0">
                <a:ea typeface="CMU Concrete" panose="02000603000000000000" pitchFamily="2" charset="0"/>
                <a:cs typeface="CMU Concrete" panose="02000603000000000000" pitchFamily="2" charset="0"/>
              </a:rPr>
              <a:t>, lo que permite realizar un seguimiento.</a:t>
            </a:r>
          </a:p>
          <a:p>
            <a:pPr lvl="0"/>
            <a:r>
              <a:rPr lang="es-ES" dirty="0">
                <a:ea typeface="CMU Concrete" panose="02000603000000000000" pitchFamily="2" charset="0"/>
                <a:cs typeface="CMU Concrete" panose="02000603000000000000" pitchFamily="2" charset="0"/>
              </a:rPr>
              <a:t>La información puede ser recibida por las estaciones terrestres de control de tráfico aéreo (reemplazo para el radar secundario) y por otras aeronaves próximas (conocimiento de la situación y permitir la auto-separación).</a:t>
            </a:r>
          </a:p>
        </p:txBody>
      </p:sp>
      <p:sp>
        <p:nvSpPr>
          <p:cNvPr id="14" name="TextBox 13"/>
          <p:cNvSpPr txBox="1"/>
          <p:nvPr/>
        </p:nvSpPr>
        <p:spPr>
          <a:xfrm>
            <a:off x="259537" y="4119398"/>
            <a:ext cx="6109731" cy="2031325"/>
          </a:xfrm>
          <a:prstGeom prst="rect">
            <a:avLst/>
          </a:prstGeom>
          <a:noFill/>
        </p:spPr>
        <p:txBody>
          <a:bodyPr wrap="square" rtlCol="0">
            <a:spAutoFit/>
          </a:bodyPr>
          <a:lstStyle/>
          <a:p>
            <a:pPr marL="285750" lvl="0" indent="-285750">
              <a:buFont typeface="Wingdings" panose="05000000000000000000" pitchFamily="2" charset="2"/>
              <a:buChar char="§"/>
            </a:pPr>
            <a:r>
              <a:rPr lang="es-ES" dirty="0">
                <a:ea typeface="CMU Concrete" panose="02000603000000000000" pitchFamily="2" charset="0"/>
                <a:cs typeface="CMU Concrete" panose="02000603000000000000" pitchFamily="2" charset="0"/>
              </a:rPr>
              <a:t>El avión determina su posición mediante un sistema de posicionamiento por satélite (</a:t>
            </a:r>
            <a:r>
              <a:rPr lang="es-ES" b="1" dirty="0">
                <a:ea typeface="CMU Concrete" panose="02000603000000000000" pitchFamily="2" charset="0"/>
                <a:cs typeface="CMU Concrete" panose="02000603000000000000" pitchFamily="2" charset="0"/>
              </a:rPr>
              <a:t>GNSS</a:t>
            </a:r>
            <a:r>
              <a:rPr lang="es-ES" dirty="0">
                <a:ea typeface="CMU Concrete" panose="02000603000000000000" pitchFamily="2" charset="0"/>
                <a:cs typeface="CMU Concrete" panose="02000603000000000000" pitchFamily="2" charset="0"/>
              </a:rPr>
              <a:t>) y por medio del ADS</a:t>
            </a:r>
            <a:r>
              <a:rPr lang="es-419" dirty="0">
                <a:ea typeface="CMU Concrete" panose="02000603000000000000" pitchFamily="2" charset="0"/>
                <a:cs typeface="CMU Concrete" panose="02000603000000000000" pitchFamily="2" charset="0"/>
              </a:rPr>
              <a:t> </a:t>
            </a:r>
            <a:r>
              <a:rPr lang="es-ES" dirty="0">
                <a:ea typeface="CMU Concrete" panose="02000603000000000000" pitchFamily="2" charset="0"/>
                <a:cs typeface="CMU Concrete" panose="02000603000000000000" pitchFamily="2" charset="0"/>
              </a:rPr>
              <a:t>envía periódicamente dicha posición a</a:t>
            </a:r>
            <a:r>
              <a:rPr lang="es-ES" b="1" dirty="0">
                <a:ea typeface="CMU Concrete" panose="02000603000000000000" pitchFamily="2" charset="0"/>
                <a:cs typeface="CMU Concrete" panose="02000603000000000000" pitchFamily="2" charset="0"/>
              </a:rPr>
              <a:t> otras aeronaves próximas y a las estaciones de tierra</a:t>
            </a:r>
            <a:r>
              <a:rPr lang="es-ES" dirty="0">
                <a:ea typeface="CMU Concrete" panose="02000603000000000000" pitchFamily="2" charset="0"/>
                <a:cs typeface="CMU Concrete" panose="02000603000000000000" pitchFamily="2" charset="0"/>
              </a:rPr>
              <a:t>.</a:t>
            </a:r>
          </a:p>
          <a:p>
            <a:pPr marL="285750" lvl="0" indent="-285750">
              <a:buFont typeface="Wingdings" panose="05000000000000000000" pitchFamily="2" charset="2"/>
              <a:buChar char="§"/>
            </a:pPr>
            <a:r>
              <a:rPr lang="es-ES" dirty="0">
                <a:ea typeface="CMU Concrete" panose="02000603000000000000" pitchFamily="2" charset="0"/>
                <a:cs typeface="CMU Concrete" panose="02000603000000000000" pitchFamily="2" charset="0"/>
              </a:rPr>
              <a:t>Las medidas de posición se realizan </a:t>
            </a:r>
            <a:r>
              <a:rPr lang="es-ES" b="1" dirty="0">
                <a:ea typeface="CMU Concrete" panose="02000603000000000000" pitchFamily="2" charset="0"/>
                <a:cs typeface="CMU Concrete" panose="02000603000000000000" pitchFamily="2" charset="0"/>
              </a:rPr>
              <a:t>a bordo</a:t>
            </a:r>
            <a:r>
              <a:rPr lang="es-ES" dirty="0">
                <a:ea typeface="CMU Concrete" panose="02000603000000000000" pitchFamily="2" charset="0"/>
                <a:cs typeface="CMU Concrete" panose="02000603000000000000" pitchFamily="2" charset="0"/>
              </a:rPr>
              <a:t>, con la información de navegación, y posteriormente se envían a los centros de vigilancia.</a:t>
            </a:r>
          </a:p>
        </p:txBody>
      </p:sp>
      <p:sp>
        <p:nvSpPr>
          <p:cNvPr id="15" name="TextBox 14"/>
          <p:cNvSpPr txBox="1"/>
          <p:nvPr/>
        </p:nvSpPr>
        <p:spPr>
          <a:xfrm>
            <a:off x="265240" y="3736831"/>
            <a:ext cx="4486616" cy="369332"/>
          </a:xfrm>
          <a:prstGeom prst="rect">
            <a:avLst/>
          </a:prstGeom>
          <a:noFill/>
        </p:spPr>
        <p:txBody>
          <a:bodyPr wrap="square" rtlCol="0">
            <a:spAutoFit/>
          </a:bodyPr>
          <a:lstStyle/>
          <a:p>
            <a:r>
              <a:rPr lang="es-419" b="1" dirty="0">
                <a:solidFill>
                  <a:schemeClr val="accent1">
                    <a:lumMod val="50000"/>
                  </a:schemeClr>
                </a:solidFill>
                <a:ea typeface="CMU Sans Serif Demi Condensed" panose="02000706000000000000" pitchFamily="2" charset="0"/>
                <a:cs typeface="CMU Sans Serif Demi Condensed" panose="02000706000000000000" pitchFamily="2" charset="0"/>
              </a:rPr>
              <a:t>Características</a:t>
            </a:r>
            <a:endParaRPr lang="en-US" b="1" dirty="0">
              <a:solidFill>
                <a:schemeClr val="accent1">
                  <a:lumMod val="50000"/>
                </a:schemeClr>
              </a:solidFill>
              <a:ea typeface="CMU Sans Serif Demi Condensed" panose="02000706000000000000" pitchFamily="2" charset="0"/>
              <a:cs typeface="CMU Sans Serif Demi Condensed" panose="02000706000000000000" pitchFamily="2" charset="0"/>
            </a:endParaRPr>
          </a:p>
        </p:txBody>
      </p:sp>
      <p:sp>
        <p:nvSpPr>
          <p:cNvPr id="24" name="TextBox 23"/>
          <p:cNvSpPr txBox="1"/>
          <p:nvPr/>
        </p:nvSpPr>
        <p:spPr>
          <a:xfrm>
            <a:off x="7865708" y="2133532"/>
            <a:ext cx="4079857" cy="92333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lvl="0"/>
            <a:r>
              <a:rPr lang="es-419" dirty="0"/>
              <a:t>Conjunto de dispositivos y procedimientos de vigilancia cooperativa para el control del tráfico aéreo.</a:t>
            </a:r>
            <a:endParaRPr lang="es-CO" dirty="0">
              <a:ea typeface="CMU Concrete" panose="02000603000000000000" pitchFamily="2" charset="0"/>
              <a:cs typeface="CMU Concrete" panose="02000603000000000000" pitchFamily="2" charset="0"/>
            </a:endParaRPr>
          </a:p>
        </p:txBody>
      </p:sp>
      <p:pic>
        <p:nvPicPr>
          <p:cNvPr id="2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63" y="3652274"/>
            <a:ext cx="4236458" cy="2826070"/>
          </a:xfrm>
          <a:prstGeom prst="rect">
            <a:avLst/>
          </a:prstGeom>
        </p:spPr>
      </p:pic>
    </p:spTree>
    <p:extLst>
      <p:ext uri="{BB962C8B-B14F-4D97-AF65-F5344CB8AC3E}">
        <p14:creationId xmlns:p14="http://schemas.microsoft.com/office/powerpoint/2010/main" val="39952433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2"/>
          <p:cNvSpPr>
            <a:spLocks noGrp="1"/>
          </p:cNvSpPr>
          <p:nvPr>
            <p:ph idx="1"/>
          </p:nvPr>
        </p:nvSpPr>
        <p:spPr>
          <a:xfrm>
            <a:off x="259538" y="220557"/>
            <a:ext cx="11686027" cy="432253"/>
          </a:xfrm>
        </p:spPr>
        <p:txBody>
          <a:bodyPr>
            <a:noAutofit/>
          </a:bodyPr>
          <a:lstStyle/>
          <a:p>
            <a:pPr marL="0" indent="0">
              <a:buNone/>
            </a:pPr>
            <a:r>
              <a:rPr lang="es-CO" sz="3600" b="1" dirty="0">
                <a:solidFill>
                  <a:schemeClr val="accent1">
                    <a:lumMod val="50000"/>
                  </a:schemeClr>
                </a:solidFill>
                <a:cs typeface="Arial" panose="020B0604020202020204" pitchFamily="34" charset="0"/>
              </a:rPr>
              <a:t>Sistema de Vigilancia Dependiente Automática</a:t>
            </a:r>
          </a:p>
        </p:txBody>
      </p:sp>
      <p:sp>
        <p:nvSpPr>
          <p:cNvPr id="2" name="Номер слайда 1"/>
          <p:cNvSpPr>
            <a:spLocks noGrp="1"/>
          </p:cNvSpPr>
          <p:nvPr>
            <p:ph type="sldNum" sz="quarter" idx="12"/>
          </p:nvPr>
        </p:nvSpPr>
        <p:spPr/>
        <p:txBody>
          <a:bodyPr/>
          <a:lstStyle/>
          <a:p>
            <a:fld id="{16B7FEC2-09BE-4569-8D55-B52F6B35789D}" type="slidenum">
              <a:rPr lang="es-CO" smtClean="0"/>
              <a:t>51</a:t>
            </a:fld>
            <a:endParaRPr lang="es-CO" dirty="0"/>
          </a:p>
        </p:txBody>
      </p:sp>
      <p:sp>
        <p:nvSpPr>
          <p:cNvPr id="7"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err="1">
                <a:solidFill>
                  <a:schemeClr val="accent1">
                    <a:lumMod val="75000"/>
                  </a:schemeClr>
                </a:solidFill>
                <a:cs typeface="Arial" panose="020B0604020202020204" pitchFamily="34" charset="0"/>
              </a:rPr>
              <a:t>Automatic</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dependent</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surveillance</a:t>
            </a:r>
            <a:r>
              <a:rPr lang="es-419" sz="2400" b="1" dirty="0">
                <a:solidFill>
                  <a:schemeClr val="accent1">
                    <a:lumMod val="75000"/>
                  </a:schemeClr>
                </a:solidFill>
                <a:cs typeface="Arial" panose="020B0604020202020204" pitchFamily="34" charset="0"/>
              </a:rPr>
              <a:t> (ADS)</a:t>
            </a:r>
            <a:endParaRPr lang="es-CO" sz="2400" b="1" dirty="0">
              <a:solidFill>
                <a:schemeClr val="accent1">
                  <a:lumMod val="75000"/>
                </a:schemeClr>
              </a:solidFill>
              <a:cs typeface="Arial" panose="020B0604020202020204" pitchFamily="34" charset="0"/>
            </a:endParaRPr>
          </a:p>
        </p:txBody>
      </p:sp>
      <p:sp>
        <p:nvSpPr>
          <p:cNvPr id="10" name="TextBox 9"/>
          <p:cNvSpPr txBox="1"/>
          <p:nvPr/>
        </p:nvSpPr>
        <p:spPr>
          <a:xfrm>
            <a:off x="259538" y="1365552"/>
            <a:ext cx="1898650" cy="646331"/>
          </a:xfrm>
          <a:prstGeom prst="rect">
            <a:avLst/>
          </a:prstGeom>
          <a:noFill/>
        </p:spPr>
        <p:txBody>
          <a:bodyPr wrap="square" rtlCol="0">
            <a:spAutoFit/>
          </a:bodyPr>
          <a:lstStyle/>
          <a:p>
            <a:r>
              <a:rPr lang="es-419" sz="3600" b="1" dirty="0">
                <a:solidFill>
                  <a:schemeClr val="accent1">
                    <a:lumMod val="50000"/>
                  </a:schemeClr>
                </a:solidFill>
                <a:ea typeface="CMU Sans Serif Demi Condensed" panose="02000706000000000000" pitchFamily="2" charset="0"/>
                <a:cs typeface="CMU Sans Serif Demi Condensed" panose="02000706000000000000" pitchFamily="2" charset="0"/>
              </a:rPr>
              <a:t>OACI</a:t>
            </a:r>
            <a:endParaRPr lang="en-US" sz="3600" b="1" dirty="0">
              <a:solidFill>
                <a:schemeClr val="accent1">
                  <a:lumMod val="50000"/>
                </a:schemeClr>
              </a:solidFill>
              <a:ea typeface="CMU Sans Serif Demi Condensed" panose="02000706000000000000" pitchFamily="2" charset="0"/>
              <a:cs typeface="CMU Sans Serif Demi Condensed" panose="02000706000000000000" pitchFamily="2" charset="0"/>
            </a:endParaRPr>
          </a:p>
        </p:txBody>
      </p:sp>
      <p:sp>
        <p:nvSpPr>
          <p:cNvPr id="11" name="TextBox 10"/>
          <p:cNvSpPr txBox="1"/>
          <p:nvPr/>
        </p:nvSpPr>
        <p:spPr>
          <a:xfrm>
            <a:off x="259538" y="2011883"/>
            <a:ext cx="8802166" cy="13234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lvl="0"/>
            <a:r>
              <a:rPr lang="es-419" sz="2000" dirty="0"/>
              <a:t>Una técnica de vigilancia en la que aeronave suministra automáticamente, mediante enlace de datos, información obtenida a partir de los sistemas embarcados de posicionamiento y navegación, incluidas la identificación de la aeronave, posición 4-D y cualquier otra información adicional que sea necesaria.</a:t>
            </a:r>
            <a:endParaRPr lang="es-ES" sz="2000" dirty="0">
              <a:ea typeface="CMU Concrete" panose="02000603000000000000" pitchFamily="2" charset="0"/>
              <a:cs typeface="CMU Concrete" panose="02000603000000000000" pitchFamily="2" charset="0"/>
            </a:endParaRPr>
          </a:p>
        </p:txBody>
      </p:sp>
      <p:pic>
        <p:nvPicPr>
          <p:cNvPr id="12"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61704" y="1496561"/>
            <a:ext cx="2857541" cy="2354081"/>
          </a:xfrm>
          <a:prstGeom prst="rect">
            <a:avLst/>
          </a:prstGeom>
        </p:spPr>
      </p:pic>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5287" y="3630148"/>
            <a:ext cx="6455313" cy="2945970"/>
          </a:xfrm>
          <a:prstGeom prst="rect">
            <a:avLst/>
          </a:prstGeom>
        </p:spPr>
      </p:pic>
    </p:spTree>
    <p:extLst>
      <p:ext uri="{BB962C8B-B14F-4D97-AF65-F5344CB8AC3E}">
        <p14:creationId xmlns:p14="http://schemas.microsoft.com/office/powerpoint/2010/main" val="782944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2"/>
          <p:cNvSpPr>
            <a:spLocks noGrp="1"/>
          </p:cNvSpPr>
          <p:nvPr>
            <p:ph idx="1"/>
          </p:nvPr>
        </p:nvSpPr>
        <p:spPr>
          <a:xfrm>
            <a:off x="259538" y="220557"/>
            <a:ext cx="11686027" cy="432253"/>
          </a:xfrm>
        </p:spPr>
        <p:txBody>
          <a:bodyPr>
            <a:noAutofit/>
          </a:bodyPr>
          <a:lstStyle/>
          <a:p>
            <a:pPr marL="0" indent="0">
              <a:buNone/>
            </a:pPr>
            <a:r>
              <a:rPr lang="es-CO" sz="3600" b="1" dirty="0">
                <a:solidFill>
                  <a:schemeClr val="accent1">
                    <a:lumMod val="50000"/>
                  </a:schemeClr>
                </a:solidFill>
                <a:cs typeface="Arial" panose="020B0604020202020204" pitchFamily="34" charset="0"/>
              </a:rPr>
              <a:t>Sistema de Vigilancia Dependiente Automática</a:t>
            </a:r>
          </a:p>
        </p:txBody>
      </p:sp>
      <p:sp>
        <p:nvSpPr>
          <p:cNvPr id="2" name="Номер слайда 1"/>
          <p:cNvSpPr>
            <a:spLocks noGrp="1"/>
          </p:cNvSpPr>
          <p:nvPr>
            <p:ph type="sldNum" sz="quarter" idx="12"/>
          </p:nvPr>
        </p:nvSpPr>
        <p:spPr/>
        <p:txBody>
          <a:bodyPr/>
          <a:lstStyle/>
          <a:p>
            <a:fld id="{16B7FEC2-09BE-4569-8D55-B52F6B35789D}" type="slidenum">
              <a:rPr lang="es-CO" smtClean="0"/>
              <a:t>52</a:t>
            </a:fld>
            <a:endParaRPr lang="es-CO" dirty="0"/>
          </a:p>
        </p:txBody>
      </p:sp>
      <p:sp>
        <p:nvSpPr>
          <p:cNvPr id="7"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a:solidFill>
                  <a:schemeClr val="accent1">
                    <a:lumMod val="75000"/>
                  </a:schemeClr>
                </a:solidFill>
                <a:cs typeface="Arial" panose="020B0604020202020204" pitchFamily="34" charset="0"/>
              </a:rPr>
              <a:t>Servicios del ADS</a:t>
            </a:r>
            <a:endParaRPr lang="es-CO" sz="2400" b="1" dirty="0">
              <a:solidFill>
                <a:schemeClr val="accent1">
                  <a:lumMod val="75000"/>
                </a:schemeClr>
              </a:solidFill>
              <a:cs typeface="Arial" panose="020B0604020202020204" pitchFamily="34" charset="0"/>
            </a:endParaRPr>
          </a:p>
        </p:txBody>
      </p:sp>
      <p:sp>
        <p:nvSpPr>
          <p:cNvPr id="10" name="TextBox 9"/>
          <p:cNvSpPr txBox="1"/>
          <p:nvPr/>
        </p:nvSpPr>
        <p:spPr>
          <a:xfrm>
            <a:off x="259538" y="1375216"/>
            <a:ext cx="1898650" cy="584775"/>
          </a:xfrm>
          <a:prstGeom prst="rect">
            <a:avLst/>
          </a:prstGeom>
          <a:noFill/>
        </p:spPr>
        <p:txBody>
          <a:bodyPr wrap="square" rtlCol="0">
            <a:spAutoFit/>
          </a:bodyPr>
          <a:lstStyle/>
          <a:p>
            <a:r>
              <a:rPr lang="es-419" sz="3200" b="1" dirty="0">
                <a:solidFill>
                  <a:schemeClr val="accent1">
                    <a:lumMod val="50000"/>
                  </a:schemeClr>
                </a:solidFill>
                <a:ea typeface="CMU Sans Serif Demi Condensed" panose="02000706000000000000" pitchFamily="2" charset="0"/>
                <a:cs typeface="CMU Sans Serif Demi Condensed" panose="02000706000000000000" pitchFamily="2" charset="0"/>
              </a:rPr>
              <a:t>Servicios:</a:t>
            </a:r>
            <a:endParaRPr lang="en-US" sz="3200" b="1" dirty="0">
              <a:solidFill>
                <a:schemeClr val="accent1">
                  <a:lumMod val="50000"/>
                </a:schemeClr>
              </a:solidFill>
              <a:ea typeface="CMU Sans Serif Demi Condensed" panose="02000706000000000000" pitchFamily="2" charset="0"/>
              <a:cs typeface="CMU Sans Serif Demi Condensed" panose="02000706000000000000" pitchFamily="2" charset="0"/>
            </a:endParaRPr>
          </a:p>
        </p:txBody>
      </p:sp>
      <p:sp>
        <p:nvSpPr>
          <p:cNvPr id="14" name="TextBox 13"/>
          <p:cNvSpPr txBox="1"/>
          <p:nvPr/>
        </p:nvSpPr>
        <p:spPr>
          <a:xfrm>
            <a:off x="259538" y="1919096"/>
            <a:ext cx="7686283" cy="4524315"/>
          </a:xfrm>
          <a:prstGeom prst="rect">
            <a:avLst/>
          </a:prstGeom>
          <a:noFill/>
        </p:spPr>
        <p:txBody>
          <a:bodyPr wrap="square" rtlCol="0">
            <a:spAutoFit/>
          </a:bodyPr>
          <a:lstStyle/>
          <a:p>
            <a:pPr lvl="0"/>
            <a:r>
              <a:rPr lang="es-ES" sz="2400" b="1" dirty="0">
                <a:solidFill>
                  <a:schemeClr val="accent1">
                    <a:lumMod val="75000"/>
                  </a:schemeClr>
                </a:solidFill>
                <a:ea typeface="CMU Concrete" panose="02000603000000000000" pitchFamily="2" charset="0"/>
                <a:cs typeface="CMU Concrete" panose="02000603000000000000" pitchFamily="2" charset="0"/>
              </a:rPr>
              <a:t>Vigilancia basada en tierra</a:t>
            </a:r>
          </a:p>
          <a:p>
            <a:pPr marL="342900" lvl="0" indent="-342900">
              <a:buFont typeface="Wingdings" panose="05000000000000000000" pitchFamily="2" charset="2"/>
              <a:buChar char="§"/>
            </a:pPr>
            <a:r>
              <a:rPr lang="es-ES" sz="2400" dirty="0">
                <a:ea typeface="CMU Concrete" panose="02000603000000000000" pitchFamily="2" charset="0"/>
                <a:cs typeface="CMU Concrete" panose="02000603000000000000" pitchFamily="2" charset="0"/>
              </a:rPr>
              <a:t>Vigilancia de aeronaves en vuelo por sistemas terrestres (función convencional del ATC) – complemento a técnicas convencionales (radar o los informes voz).</a:t>
            </a:r>
          </a:p>
          <a:p>
            <a:pPr lvl="0"/>
            <a:r>
              <a:rPr lang="es-ES" sz="2400" b="1" dirty="0">
                <a:solidFill>
                  <a:schemeClr val="accent1">
                    <a:lumMod val="75000"/>
                  </a:schemeClr>
                </a:solidFill>
                <a:ea typeface="CMU Concrete" panose="02000603000000000000" pitchFamily="2" charset="0"/>
                <a:cs typeface="CMU Concrete" panose="02000603000000000000" pitchFamily="2" charset="0"/>
              </a:rPr>
              <a:t>Vigilancia del entorno</a:t>
            </a:r>
          </a:p>
          <a:p>
            <a:pPr marL="342900" lvl="0" indent="-342900">
              <a:buFont typeface="Wingdings" panose="05000000000000000000" pitchFamily="2" charset="2"/>
              <a:buChar char="§"/>
            </a:pPr>
            <a:r>
              <a:rPr lang="es-ES" sz="2400" dirty="0">
                <a:ea typeface="CMU Concrete" panose="02000603000000000000" pitchFamily="2" charset="0"/>
                <a:cs typeface="CMU Concrete" panose="02000603000000000000" pitchFamily="2" charset="0"/>
              </a:rPr>
              <a:t>Tareas de vigilancia llevadas a cabo desde la propia aeronave</a:t>
            </a:r>
            <a:endParaRPr lang="es-419" sz="2400" dirty="0">
              <a:ea typeface="CMU Concrete" panose="02000603000000000000" pitchFamily="2" charset="0"/>
              <a:cs typeface="CMU Concrete" panose="02000603000000000000" pitchFamily="2" charset="0"/>
            </a:endParaRPr>
          </a:p>
          <a:p>
            <a:pPr marL="342900" lvl="0" indent="-342900">
              <a:buFont typeface="Wingdings" panose="05000000000000000000" pitchFamily="2" charset="2"/>
              <a:buChar char="§"/>
            </a:pPr>
            <a:r>
              <a:rPr lang="es-419" sz="2400" dirty="0">
                <a:ea typeface="CMU Concrete" panose="02000603000000000000" pitchFamily="2" charset="0"/>
                <a:cs typeface="CMU Concrete" panose="02000603000000000000" pitchFamily="2" charset="0"/>
              </a:rPr>
              <a:t>P</a:t>
            </a:r>
            <a:r>
              <a:rPr lang="es-ES" sz="2400" dirty="0" err="1">
                <a:ea typeface="CMU Concrete" panose="02000603000000000000" pitchFamily="2" charset="0"/>
                <a:cs typeface="CMU Concrete" panose="02000603000000000000" pitchFamily="2" charset="0"/>
              </a:rPr>
              <a:t>resentar</a:t>
            </a:r>
            <a:r>
              <a:rPr lang="es-ES" sz="2400" dirty="0">
                <a:ea typeface="CMU Concrete" panose="02000603000000000000" pitchFamily="2" charset="0"/>
                <a:cs typeface="CMU Concrete" panose="02000603000000000000" pitchFamily="2" charset="0"/>
              </a:rPr>
              <a:t> a la tripulación directamente la información de vigilancia (mejor percepción en la cabina del estado del tráfico).</a:t>
            </a:r>
          </a:p>
          <a:p>
            <a:pPr lvl="0"/>
            <a:r>
              <a:rPr lang="es-ES" sz="2400" b="1" dirty="0">
                <a:solidFill>
                  <a:schemeClr val="accent1">
                    <a:lumMod val="75000"/>
                  </a:schemeClr>
                </a:solidFill>
                <a:ea typeface="CMU Concrete" panose="02000603000000000000" pitchFamily="2" charset="0"/>
                <a:cs typeface="CMU Concrete" panose="02000603000000000000" pitchFamily="2" charset="0"/>
              </a:rPr>
              <a:t>Vigilancia en el aeródromo</a:t>
            </a:r>
            <a:endParaRPr lang="es-419" sz="2400" b="1" dirty="0">
              <a:solidFill>
                <a:schemeClr val="accent1">
                  <a:lumMod val="75000"/>
                </a:schemeClr>
              </a:solidFill>
              <a:ea typeface="CMU Concrete" panose="02000603000000000000" pitchFamily="2" charset="0"/>
              <a:cs typeface="CMU Concrete" panose="02000603000000000000" pitchFamily="2" charset="0"/>
            </a:endParaRPr>
          </a:p>
          <a:p>
            <a:pPr marL="342900" lvl="0" indent="-342900">
              <a:buFont typeface="Wingdings" panose="05000000000000000000" pitchFamily="2" charset="2"/>
              <a:buChar char="§"/>
            </a:pPr>
            <a:r>
              <a:rPr lang="es-ES" sz="2400" dirty="0">
                <a:ea typeface="CMU Concrete" panose="02000603000000000000" pitchFamily="2" charset="0"/>
                <a:cs typeface="CMU Concrete" panose="02000603000000000000" pitchFamily="2" charset="0"/>
              </a:rPr>
              <a:t>Desplazamiento de vehículos en el aeródromo.</a:t>
            </a:r>
          </a:p>
        </p:txBody>
      </p:sp>
      <p:pic>
        <p:nvPicPr>
          <p:cNvPr id="2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2"/>
          <p:cNvGraphicFramePr>
            <a:graphicFrameLocks noChangeAspect="1"/>
          </p:cNvGraphicFramePr>
          <p:nvPr/>
        </p:nvGraphicFramePr>
        <p:xfrm>
          <a:off x="8856826" y="908313"/>
          <a:ext cx="2496974" cy="3230428"/>
        </p:xfrm>
        <a:graphic>
          <a:graphicData uri="http://schemas.openxmlformats.org/presentationml/2006/ole">
            <mc:AlternateContent xmlns:mc="http://schemas.openxmlformats.org/markup-compatibility/2006">
              <mc:Choice xmlns:v="urn:schemas-microsoft-com:vml" Requires="v">
                <p:oleObj name="Acrobat Document" r:id="rId5" imgW="4663440" imgH="6034757" progId="Acrobat.Document.11">
                  <p:embed/>
                </p:oleObj>
              </mc:Choice>
              <mc:Fallback>
                <p:oleObj name="Acrobat Document" r:id="rId5" imgW="4663440" imgH="6034757" progId="Acrobat.Document.11">
                  <p:embed/>
                  <p:pic>
                    <p:nvPicPr>
                      <p:cNvPr id="0" name=""/>
                      <p:cNvPicPr/>
                      <p:nvPr/>
                    </p:nvPicPr>
                    <p:blipFill>
                      <a:blip r:embed="rId6"/>
                      <a:stretch>
                        <a:fillRect/>
                      </a:stretch>
                    </p:blipFill>
                    <p:spPr>
                      <a:xfrm>
                        <a:off x="8856826" y="908313"/>
                        <a:ext cx="2496974" cy="3230428"/>
                      </a:xfrm>
                      <a:prstGeom prst="rect">
                        <a:avLst/>
                      </a:prstGeom>
                    </p:spPr>
                  </p:pic>
                </p:oleObj>
              </mc:Fallback>
            </mc:AlternateContent>
          </a:graphicData>
        </a:graphic>
      </p:graphicFrame>
      <p:pic>
        <p:nvPicPr>
          <p:cNvPr id="4" name="Picture 3"/>
          <p:cNvPicPr>
            <a:picLocks noChangeAspect="1"/>
          </p:cNvPicPr>
          <p:nvPr/>
        </p:nvPicPr>
        <p:blipFill>
          <a:blip r:embed="rId7"/>
          <a:stretch>
            <a:fillRect/>
          </a:stretch>
        </p:blipFill>
        <p:spPr>
          <a:xfrm>
            <a:off x="8344179" y="4514845"/>
            <a:ext cx="2167200" cy="2024067"/>
          </a:xfrm>
          <a:prstGeom prst="rect">
            <a:avLst/>
          </a:prstGeom>
        </p:spPr>
      </p:pic>
    </p:spTree>
    <p:extLst>
      <p:ext uri="{BB962C8B-B14F-4D97-AF65-F5344CB8AC3E}">
        <p14:creationId xmlns:p14="http://schemas.microsoft.com/office/powerpoint/2010/main" val="17035147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2"/>
          <p:cNvSpPr>
            <a:spLocks noGrp="1"/>
          </p:cNvSpPr>
          <p:nvPr>
            <p:ph idx="1"/>
          </p:nvPr>
        </p:nvSpPr>
        <p:spPr>
          <a:xfrm>
            <a:off x="259538" y="220557"/>
            <a:ext cx="11686027" cy="432253"/>
          </a:xfrm>
        </p:spPr>
        <p:txBody>
          <a:bodyPr>
            <a:noAutofit/>
          </a:bodyPr>
          <a:lstStyle/>
          <a:p>
            <a:pPr marL="0" indent="0">
              <a:buNone/>
            </a:pPr>
            <a:r>
              <a:rPr lang="es-419" sz="3600" b="1" dirty="0">
                <a:solidFill>
                  <a:schemeClr val="accent1">
                    <a:lumMod val="50000"/>
                  </a:schemeClr>
                </a:solidFill>
                <a:cs typeface="Arial" panose="020B0604020202020204" pitchFamily="34" charset="0"/>
              </a:rPr>
              <a:t>ADS-B</a:t>
            </a:r>
            <a:endParaRPr lang="es-CO" sz="3600" b="1" dirty="0">
              <a:solidFill>
                <a:schemeClr val="accent1">
                  <a:lumMod val="50000"/>
                </a:schemeClr>
              </a:solidFill>
              <a:cs typeface="Arial" panose="020B0604020202020204" pitchFamily="34" charset="0"/>
            </a:endParaRPr>
          </a:p>
        </p:txBody>
      </p:sp>
      <p:sp>
        <p:nvSpPr>
          <p:cNvPr id="2" name="Номер слайда 1"/>
          <p:cNvSpPr>
            <a:spLocks noGrp="1"/>
          </p:cNvSpPr>
          <p:nvPr>
            <p:ph type="sldNum" sz="quarter" idx="12"/>
          </p:nvPr>
        </p:nvSpPr>
        <p:spPr/>
        <p:txBody>
          <a:bodyPr/>
          <a:lstStyle/>
          <a:p>
            <a:fld id="{16B7FEC2-09BE-4569-8D55-B52F6B35789D}" type="slidenum">
              <a:rPr lang="es-CO" smtClean="0"/>
              <a:t>53</a:t>
            </a:fld>
            <a:endParaRPr lang="es-CO" dirty="0"/>
          </a:p>
        </p:txBody>
      </p:sp>
      <p:sp>
        <p:nvSpPr>
          <p:cNvPr id="7"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err="1">
                <a:solidFill>
                  <a:schemeClr val="accent1">
                    <a:lumMod val="75000"/>
                  </a:schemeClr>
                </a:solidFill>
                <a:cs typeface="Arial" panose="020B0604020202020204" pitchFamily="34" charset="0"/>
              </a:rPr>
              <a:t>Automatic</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dependent</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surveillance</a:t>
            </a:r>
            <a:r>
              <a:rPr lang="es-419" sz="2400" b="1" dirty="0">
                <a:solidFill>
                  <a:schemeClr val="accent1">
                    <a:lumMod val="75000"/>
                  </a:schemeClr>
                </a:solidFill>
                <a:cs typeface="Arial" panose="020B0604020202020204" pitchFamily="34" charset="0"/>
              </a:rPr>
              <a:t> - </a:t>
            </a:r>
            <a:r>
              <a:rPr lang="es-419" sz="2400" b="1" dirty="0" err="1">
                <a:solidFill>
                  <a:schemeClr val="accent1">
                    <a:lumMod val="75000"/>
                  </a:schemeClr>
                </a:solidFill>
                <a:cs typeface="Arial" panose="020B0604020202020204" pitchFamily="34" charset="0"/>
              </a:rPr>
              <a:t>Broadcast</a:t>
            </a:r>
            <a:endParaRPr lang="es-CO" sz="2400" b="1" dirty="0">
              <a:solidFill>
                <a:schemeClr val="accent1">
                  <a:lumMod val="75000"/>
                </a:schemeClr>
              </a:solidFill>
              <a:cs typeface="Arial" panose="020B0604020202020204" pitchFamily="34" charset="0"/>
            </a:endParaRPr>
          </a:p>
        </p:txBody>
      </p:sp>
      <p:sp>
        <p:nvSpPr>
          <p:cNvPr id="10" name="TextBox 9"/>
          <p:cNvSpPr txBox="1"/>
          <p:nvPr/>
        </p:nvSpPr>
        <p:spPr>
          <a:xfrm>
            <a:off x="259538" y="1123778"/>
            <a:ext cx="1898650" cy="523220"/>
          </a:xfrm>
          <a:prstGeom prst="rect">
            <a:avLst/>
          </a:prstGeom>
          <a:noFill/>
        </p:spPr>
        <p:txBody>
          <a:bodyPr wrap="square" rtlCol="0">
            <a:spAutoFit/>
          </a:bodyPr>
          <a:lstStyle/>
          <a:p>
            <a:r>
              <a:rPr lang="es-419" sz="2800" b="1" dirty="0">
                <a:solidFill>
                  <a:schemeClr val="accent1">
                    <a:lumMod val="50000"/>
                  </a:schemeClr>
                </a:solidFill>
                <a:ea typeface="CMU Sans Serif Demi Condensed" panose="02000706000000000000" pitchFamily="2" charset="0"/>
                <a:cs typeface="CMU Sans Serif Demi Condensed" panose="02000706000000000000" pitchFamily="2" charset="0"/>
              </a:rPr>
              <a:t>ADS-B</a:t>
            </a:r>
            <a:endParaRPr lang="en-US" sz="2800" b="1" dirty="0">
              <a:solidFill>
                <a:schemeClr val="accent1">
                  <a:lumMod val="50000"/>
                </a:schemeClr>
              </a:solidFill>
              <a:ea typeface="CMU Sans Serif Demi Condensed" panose="02000706000000000000" pitchFamily="2" charset="0"/>
              <a:cs typeface="CMU Sans Serif Demi Condensed" panose="02000706000000000000" pitchFamily="2" charset="0"/>
            </a:endParaRPr>
          </a:p>
        </p:txBody>
      </p:sp>
      <p:sp>
        <p:nvSpPr>
          <p:cNvPr id="11" name="TextBox 10"/>
          <p:cNvSpPr txBox="1"/>
          <p:nvPr/>
        </p:nvSpPr>
        <p:spPr>
          <a:xfrm>
            <a:off x="259538" y="1543356"/>
            <a:ext cx="11686026" cy="2308324"/>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s-419" sz="2400" dirty="0"/>
              <a:t>De acuerdo al </a:t>
            </a:r>
            <a:r>
              <a:rPr lang="es-419" sz="2400" b="1" dirty="0"/>
              <a:t>Documento 9924 AN/474 Manual de Vigilancia Aeronáutica</a:t>
            </a:r>
            <a:r>
              <a:rPr lang="es-419" sz="2400" dirty="0"/>
              <a:t>, el ADS-B viene a ser la radiodifusión por una aeronave de su posición (latitud y longitud), altitud, velocidad, identificación de aeronave y otras </a:t>
            </a:r>
            <a:r>
              <a:rPr lang="es-419" sz="2400" dirty="0" err="1"/>
              <a:t>informaciónes</a:t>
            </a:r>
            <a:r>
              <a:rPr lang="es-419" sz="2400" dirty="0"/>
              <a:t> obtenidas de los sistemas de a bordo. Todos los mensajes de posición ADS-B comprenden una indicación de la calidad de los datos lo que permite a los usuarios determinar si los datos son suficientemente buenos como para apoyar la función prevista.</a:t>
            </a:r>
            <a:endParaRPr lang="en-US" sz="2400" dirty="0"/>
          </a:p>
        </p:txBody>
      </p:sp>
      <p:sp>
        <p:nvSpPr>
          <p:cNvPr id="14" name="TextBox 13"/>
          <p:cNvSpPr txBox="1"/>
          <p:nvPr/>
        </p:nvSpPr>
        <p:spPr>
          <a:xfrm>
            <a:off x="259538" y="3975396"/>
            <a:ext cx="8474559" cy="1938992"/>
          </a:xfrm>
          <a:prstGeom prst="rect">
            <a:avLst/>
          </a:prstGeom>
          <a:noFill/>
        </p:spPr>
        <p:txBody>
          <a:bodyPr wrap="square" rtlCol="0">
            <a:spAutoFit/>
          </a:bodyPr>
          <a:lstStyle/>
          <a:p>
            <a:pPr marL="285750" indent="-285750">
              <a:buFont typeface="Wingdings" panose="05000000000000000000" pitchFamily="2" charset="2"/>
              <a:buChar char="§"/>
            </a:pPr>
            <a:r>
              <a:rPr lang="es-419" sz="2400" dirty="0"/>
              <a:t>ADS-B es una tecnología relativamente nueva en fase de desarrollo</a:t>
            </a:r>
            <a:endParaRPr lang="en-US" sz="2400" dirty="0"/>
          </a:p>
          <a:p>
            <a:pPr marL="285750" indent="-285750">
              <a:buFont typeface="Wingdings" panose="05000000000000000000" pitchFamily="2" charset="2"/>
              <a:buChar char="§"/>
            </a:pPr>
            <a:r>
              <a:rPr lang="es-419" sz="2400" dirty="0"/>
              <a:t>El sistema ADS-B es una solución llave en mano</a:t>
            </a:r>
            <a:r>
              <a:rPr lang="es-ES" sz="2400" dirty="0"/>
              <a:t>, sumamente flexible y de alto rendimiento,</a:t>
            </a:r>
            <a:r>
              <a:rPr lang="es-419" sz="2400" dirty="0"/>
              <a:t> que permite diferentes configuraciones para satisfacer los requisitos del cliente.</a:t>
            </a:r>
            <a:endParaRPr lang="es-ES" sz="2400" dirty="0">
              <a:ea typeface="CMU Concrete" panose="02000603000000000000" pitchFamily="2" charset="0"/>
              <a:cs typeface="CMU Concrete" panose="02000603000000000000" pitchFamily="2" charset="0"/>
            </a:endParaRPr>
          </a:p>
        </p:txBody>
      </p:sp>
      <p:pic>
        <p:nvPicPr>
          <p:cNvPr id="2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0444" y="3975396"/>
            <a:ext cx="2857145" cy="2380954"/>
          </a:xfrm>
          <a:prstGeom prst="rect">
            <a:avLst/>
          </a:prstGeom>
        </p:spPr>
      </p:pic>
    </p:spTree>
    <p:extLst>
      <p:ext uri="{BB962C8B-B14F-4D97-AF65-F5344CB8AC3E}">
        <p14:creationId xmlns:p14="http://schemas.microsoft.com/office/powerpoint/2010/main" val="27238340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내용 개체 틀 2"/>
          <p:cNvSpPr>
            <a:spLocks noGrp="1"/>
          </p:cNvSpPr>
          <p:nvPr>
            <p:ph idx="1"/>
          </p:nvPr>
        </p:nvSpPr>
        <p:spPr>
          <a:xfrm>
            <a:off x="259538" y="220557"/>
            <a:ext cx="11686027" cy="432253"/>
          </a:xfrm>
        </p:spPr>
        <p:txBody>
          <a:bodyPr>
            <a:noAutofit/>
          </a:bodyPr>
          <a:lstStyle/>
          <a:p>
            <a:pPr marL="0" indent="0">
              <a:buNone/>
            </a:pPr>
            <a:r>
              <a:rPr lang="es-419" sz="3600" b="1" dirty="0">
                <a:solidFill>
                  <a:schemeClr val="accent1">
                    <a:lumMod val="50000"/>
                  </a:schemeClr>
                </a:solidFill>
                <a:cs typeface="Arial" panose="020B0604020202020204" pitchFamily="34" charset="0"/>
              </a:rPr>
              <a:t>ADS-B</a:t>
            </a:r>
            <a:endParaRPr lang="es-CO" sz="3600" b="1" dirty="0">
              <a:solidFill>
                <a:schemeClr val="accent1">
                  <a:lumMod val="50000"/>
                </a:schemeClr>
              </a:solidFill>
              <a:cs typeface="Arial" panose="020B0604020202020204" pitchFamily="34" charset="0"/>
            </a:endParaRPr>
          </a:p>
        </p:txBody>
      </p:sp>
      <p:sp>
        <p:nvSpPr>
          <p:cNvPr id="2" name="Номер слайда 1"/>
          <p:cNvSpPr>
            <a:spLocks noGrp="1"/>
          </p:cNvSpPr>
          <p:nvPr>
            <p:ph type="sldNum" sz="quarter" idx="12"/>
          </p:nvPr>
        </p:nvSpPr>
        <p:spPr/>
        <p:txBody>
          <a:bodyPr/>
          <a:lstStyle/>
          <a:p>
            <a:fld id="{16B7FEC2-09BE-4569-8D55-B52F6B35789D}" type="slidenum">
              <a:rPr lang="es-CO" smtClean="0"/>
              <a:t>54</a:t>
            </a:fld>
            <a:endParaRPr lang="es-CO" dirty="0"/>
          </a:p>
        </p:txBody>
      </p:sp>
      <p:sp>
        <p:nvSpPr>
          <p:cNvPr id="7" name="내용 개체 틀 2"/>
          <p:cNvSpPr txBox="1">
            <a:spLocks/>
          </p:cNvSpPr>
          <p:nvPr/>
        </p:nvSpPr>
        <p:spPr>
          <a:xfrm>
            <a:off x="259538" y="692187"/>
            <a:ext cx="11686027" cy="432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419" sz="2400" b="1" dirty="0" err="1">
                <a:solidFill>
                  <a:schemeClr val="accent1">
                    <a:lumMod val="75000"/>
                  </a:schemeClr>
                </a:solidFill>
                <a:cs typeface="Arial" panose="020B0604020202020204" pitchFamily="34" charset="0"/>
              </a:rPr>
              <a:t>Automatic</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dependent</a:t>
            </a:r>
            <a:r>
              <a:rPr lang="es-419" sz="2400" b="1" dirty="0">
                <a:solidFill>
                  <a:schemeClr val="accent1">
                    <a:lumMod val="75000"/>
                  </a:schemeClr>
                </a:solidFill>
                <a:cs typeface="Arial" panose="020B0604020202020204" pitchFamily="34" charset="0"/>
              </a:rPr>
              <a:t> </a:t>
            </a:r>
            <a:r>
              <a:rPr lang="es-419" sz="2400" b="1" dirty="0" err="1">
                <a:solidFill>
                  <a:schemeClr val="accent1">
                    <a:lumMod val="75000"/>
                  </a:schemeClr>
                </a:solidFill>
                <a:cs typeface="Arial" panose="020B0604020202020204" pitchFamily="34" charset="0"/>
              </a:rPr>
              <a:t>surveillance</a:t>
            </a:r>
            <a:r>
              <a:rPr lang="es-419" sz="2400" b="1" dirty="0">
                <a:solidFill>
                  <a:schemeClr val="accent1">
                    <a:lumMod val="75000"/>
                  </a:schemeClr>
                </a:solidFill>
                <a:cs typeface="Arial" panose="020B0604020202020204" pitchFamily="34" charset="0"/>
              </a:rPr>
              <a:t> - </a:t>
            </a:r>
            <a:r>
              <a:rPr lang="es-419" sz="2400" b="1" dirty="0" err="1">
                <a:solidFill>
                  <a:schemeClr val="accent1">
                    <a:lumMod val="75000"/>
                  </a:schemeClr>
                </a:solidFill>
                <a:cs typeface="Arial" panose="020B0604020202020204" pitchFamily="34" charset="0"/>
              </a:rPr>
              <a:t>Broadcast</a:t>
            </a:r>
            <a:endParaRPr lang="es-CO" sz="2400" b="1" dirty="0">
              <a:solidFill>
                <a:schemeClr val="accent1">
                  <a:lumMod val="75000"/>
                </a:schemeClr>
              </a:solidFill>
              <a:cs typeface="Arial" panose="020B0604020202020204" pitchFamily="34" charset="0"/>
            </a:endParaRPr>
          </a:p>
        </p:txBody>
      </p:sp>
      <p:sp>
        <p:nvSpPr>
          <p:cNvPr id="14" name="TextBox 13"/>
          <p:cNvSpPr txBox="1"/>
          <p:nvPr/>
        </p:nvSpPr>
        <p:spPr>
          <a:xfrm>
            <a:off x="175456" y="1163817"/>
            <a:ext cx="7602199" cy="5262979"/>
          </a:xfrm>
          <a:prstGeom prst="rect">
            <a:avLst/>
          </a:prstGeom>
          <a:noFill/>
        </p:spPr>
        <p:txBody>
          <a:bodyPr wrap="square" rtlCol="0">
            <a:spAutoFit/>
          </a:bodyPr>
          <a:lstStyle/>
          <a:p>
            <a:pPr marL="285750" indent="-285750">
              <a:buFont typeface="Wingdings" panose="05000000000000000000" pitchFamily="2" charset="2"/>
              <a:buChar char="§"/>
            </a:pPr>
            <a:r>
              <a:rPr lang="es-ES" sz="2400" b="1" dirty="0" err="1">
                <a:solidFill>
                  <a:schemeClr val="accent1">
                    <a:lumMod val="50000"/>
                  </a:schemeClr>
                </a:solidFill>
              </a:rPr>
              <a:t>Automatic</a:t>
            </a:r>
            <a:r>
              <a:rPr lang="es-ES" sz="2400" b="1" dirty="0">
                <a:solidFill>
                  <a:schemeClr val="accent1">
                    <a:lumMod val="50000"/>
                  </a:schemeClr>
                </a:solidFill>
              </a:rPr>
              <a:t> (Automático) </a:t>
            </a:r>
            <a:r>
              <a:rPr lang="es-ES" sz="2400" dirty="0"/>
              <a:t>- No requiere ningún piloto o entrada externa (interrogación). Esta siempre activa.</a:t>
            </a:r>
          </a:p>
          <a:p>
            <a:pPr marL="285750" indent="-285750">
              <a:buFont typeface="Wingdings" panose="05000000000000000000" pitchFamily="2" charset="2"/>
              <a:buChar char="§"/>
            </a:pPr>
            <a:r>
              <a:rPr lang="es-ES" sz="2400" b="1" dirty="0" err="1">
                <a:solidFill>
                  <a:schemeClr val="accent1">
                    <a:lumMod val="50000"/>
                  </a:schemeClr>
                </a:solidFill>
              </a:rPr>
              <a:t>Dependent</a:t>
            </a:r>
            <a:r>
              <a:rPr lang="es-ES" sz="2400" b="1" dirty="0">
                <a:solidFill>
                  <a:schemeClr val="accent1">
                    <a:lumMod val="50000"/>
                  </a:schemeClr>
                </a:solidFill>
              </a:rPr>
              <a:t> (Dependiente) </a:t>
            </a:r>
            <a:r>
              <a:rPr lang="es-ES" sz="2400" dirty="0"/>
              <a:t>- Depende de los datos del sistema de navegación de la aeronave (posición exacta y datos de velocidad).</a:t>
            </a:r>
          </a:p>
          <a:p>
            <a:pPr marL="285750" indent="-285750">
              <a:buFont typeface="Wingdings" panose="05000000000000000000" pitchFamily="2" charset="2"/>
              <a:buChar char="§"/>
            </a:pPr>
            <a:r>
              <a:rPr lang="es-ES" sz="2400" b="1" dirty="0" err="1">
                <a:solidFill>
                  <a:schemeClr val="accent1">
                    <a:lumMod val="50000"/>
                  </a:schemeClr>
                </a:solidFill>
              </a:rPr>
              <a:t>Surveillance</a:t>
            </a:r>
            <a:r>
              <a:rPr lang="es-ES" sz="2400" b="1" dirty="0">
                <a:solidFill>
                  <a:schemeClr val="accent1">
                    <a:lumMod val="50000"/>
                  </a:schemeClr>
                </a:solidFill>
              </a:rPr>
              <a:t> (Vigilancia) </a:t>
            </a:r>
            <a:r>
              <a:rPr lang="es-ES" sz="2400" dirty="0"/>
              <a:t>- Proporciona posición de la aeronave, la altitud, la velocidad y otros datos de vigilancia a las instalaciones que requieren la información.</a:t>
            </a:r>
          </a:p>
          <a:p>
            <a:pPr marL="285750" indent="-285750">
              <a:buFont typeface="Wingdings" panose="05000000000000000000" pitchFamily="2" charset="2"/>
              <a:buChar char="§"/>
            </a:pPr>
            <a:r>
              <a:rPr lang="es-ES" sz="2400" b="1" dirty="0" err="1">
                <a:solidFill>
                  <a:schemeClr val="accent1">
                    <a:lumMod val="50000"/>
                  </a:schemeClr>
                </a:solidFill>
              </a:rPr>
              <a:t>Broadcast</a:t>
            </a:r>
            <a:r>
              <a:rPr lang="es-ES" sz="2400" b="1" dirty="0">
                <a:solidFill>
                  <a:schemeClr val="accent1">
                    <a:lumMod val="50000"/>
                  </a:schemeClr>
                </a:solidFill>
              </a:rPr>
              <a:t> </a:t>
            </a:r>
            <a:r>
              <a:rPr lang="es-ES" sz="2400" dirty="0"/>
              <a:t>- La información se difunde continuamente para el monitoreo de las estaciones de tierra debidamente equipados o aeronaves. La información se transmite  a cualquier otra aeronave equipada y a las estaciones terrestres y satélites de comunicación.</a:t>
            </a:r>
          </a:p>
        </p:txBody>
      </p:sp>
      <p:pic>
        <p:nvPicPr>
          <p:cNvPr id="25" name="Imagen 1" descr="Descripción: D:\$JOHANNA SANTAMARIA\JOHANNA TERESA\0 RESULTADO REDISEÑO SGC\PROCESOS\logos en alta\logo vertical pixel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29878" y="158918"/>
            <a:ext cx="697602" cy="523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descr="logo ce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480" y="167482"/>
            <a:ext cx="618085" cy="32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2040" y="1163817"/>
            <a:ext cx="4456387" cy="2228194"/>
          </a:xfrm>
          <a:prstGeom prst="rect">
            <a:avLst/>
          </a:prstGeom>
        </p:spPr>
      </p:pic>
    </p:spTree>
    <p:extLst>
      <p:ext uri="{BB962C8B-B14F-4D97-AF65-F5344CB8AC3E}">
        <p14:creationId xmlns:p14="http://schemas.microsoft.com/office/powerpoint/2010/main" val="3597252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Рисунок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
        <p:nvSpPr>
          <p:cNvPr id="3" name="Объект 2"/>
          <p:cNvSpPr>
            <a:spLocks noGrp="1"/>
          </p:cNvSpPr>
          <p:nvPr>
            <p:ph idx="1"/>
          </p:nvPr>
        </p:nvSpPr>
        <p:spPr>
          <a:xfrm>
            <a:off x="2237414" y="3128428"/>
            <a:ext cx="8252786" cy="960972"/>
          </a:xfrm>
        </p:spPr>
        <p:txBody>
          <a:bodyPr>
            <a:noAutofit/>
          </a:bodyPr>
          <a:lstStyle/>
          <a:p>
            <a:pPr marL="0" indent="0" algn="ctr">
              <a:buNone/>
            </a:pPr>
            <a:r>
              <a:rPr lang="en-US" sz="6000" b="1" dirty="0">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Gracias </a:t>
            </a:r>
            <a:r>
              <a:rPr lang="en-US" sz="6000" b="1" dirty="0" err="1">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por</a:t>
            </a:r>
            <a:r>
              <a:rPr lang="en-US" sz="6000" b="1" dirty="0">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 </a:t>
            </a:r>
            <a:r>
              <a:rPr lang="en-US" sz="6000" b="1" dirty="0" err="1">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su</a:t>
            </a:r>
            <a:r>
              <a:rPr lang="en-US" sz="6000" b="1" dirty="0">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 </a:t>
            </a:r>
            <a:r>
              <a:rPr lang="en-US" sz="6000" b="1" dirty="0" err="1">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atención</a:t>
            </a:r>
            <a:r>
              <a:rPr lang="ru-RU" sz="6000" b="1" dirty="0">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rPr>
              <a:t>!</a:t>
            </a:r>
            <a:endParaRPr lang="es-CO" sz="6000" b="1" dirty="0">
              <a:ln w="28575">
                <a:solidFill>
                  <a:schemeClr val="tx1"/>
                </a:solidFill>
              </a:ln>
              <a:solidFill>
                <a:schemeClr val="bg1"/>
              </a:solidFill>
              <a:effectLst>
                <a:glow rad="139700">
                  <a:schemeClr val="accent3">
                    <a:satMod val="175000"/>
                    <a:alpha val="40000"/>
                  </a:schemeClr>
                </a:glow>
                <a:innerShdw blurRad="63500" dist="50800" dir="13500000">
                  <a:prstClr val="black">
                    <a:alpha val="50000"/>
                  </a:prstClr>
                </a:innerShdw>
              </a:effectLst>
              <a:latin typeface="Calibri" panose="020F0502020204030204" pitchFamily="34" charset="0"/>
            </a:endParaRPr>
          </a:p>
        </p:txBody>
      </p:sp>
      <p:sp>
        <p:nvSpPr>
          <p:cNvPr id="2" name="Номер слайда 1"/>
          <p:cNvSpPr>
            <a:spLocks noGrp="1"/>
          </p:cNvSpPr>
          <p:nvPr>
            <p:ph type="sldNum" sz="quarter" idx="12"/>
          </p:nvPr>
        </p:nvSpPr>
        <p:spPr/>
        <p:txBody>
          <a:bodyPr/>
          <a:lstStyle/>
          <a:p>
            <a:fld id="{16B7FEC2-09BE-4569-8D55-B52F6B35789D}" type="slidenum">
              <a:rPr lang="es-CO" smtClean="0"/>
              <a:t>55</a:t>
            </a:fld>
            <a:endParaRPr lang="es-CO"/>
          </a:p>
        </p:txBody>
      </p:sp>
    </p:spTree>
    <p:extLst>
      <p:ext uri="{BB962C8B-B14F-4D97-AF65-F5344CB8AC3E}">
        <p14:creationId xmlns:p14="http://schemas.microsoft.com/office/powerpoint/2010/main" val="3366046789"/>
      </p:ext>
    </p:extLst>
  </p:cSld>
  <p:clrMapOvr>
    <a:masterClrMapping/>
  </p:clrMapOvr>
</p:sld>
</file>

<file path=ppt/theme/theme1.xml><?xml version="1.0" encoding="utf-8"?>
<a:theme xmlns:a="http://schemas.openxmlformats.org/drawingml/2006/main" name="Тема Offic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4817</TotalTime>
  <Words>2731</Words>
  <Application>Microsoft Office PowerPoint</Application>
  <PresentationFormat>Panorámica</PresentationFormat>
  <Paragraphs>301</Paragraphs>
  <Slides>55</Slides>
  <Notes>12</Notes>
  <HiddenSlides>0</HiddenSlides>
  <MMClips>1</MMClips>
  <ScaleCrop>false</ScaleCrop>
  <HeadingPairs>
    <vt:vector size="8" baseType="variant">
      <vt:variant>
        <vt:lpstr>Fuentes usadas</vt:lpstr>
      </vt:variant>
      <vt:variant>
        <vt:i4>11</vt:i4>
      </vt:variant>
      <vt:variant>
        <vt:lpstr>Tema</vt:lpstr>
      </vt:variant>
      <vt:variant>
        <vt:i4>1</vt:i4>
      </vt:variant>
      <vt:variant>
        <vt:lpstr>Servidores OLE incrustados</vt:lpstr>
      </vt:variant>
      <vt:variant>
        <vt:i4>1</vt:i4>
      </vt:variant>
      <vt:variant>
        <vt:lpstr>Títulos de diapositiva</vt:lpstr>
      </vt:variant>
      <vt:variant>
        <vt:i4>55</vt:i4>
      </vt:variant>
    </vt:vector>
  </HeadingPairs>
  <TitlesOfParts>
    <vt:vector size="68" baseType="lpstr">
      <vt:lpstr>굴림</vt:lpstr>
      <vt:lpstr>Arial</vt:lpstr>
      <vt:lpstr>Calibri</vt:lpstr>
      <vt:lpstr>Calibri Light</vt:lpstr>
      <vt:lpstr>Cambria Math</vt:lpstr>
      <vt:lpstr>CMU Concrete</vt:lpstr>
      <vt:lpstr>CMU Sans Serif Demi Condensed</vt:lpstr>
      <vt:lpstr>Lucida Sans</vt:lpstr>
      <vt:lpstr>Noto Sans Symbols</vt:lpstr>
      <vt:lpstr>Times New Roman</vt:lpstr>
      <vt:lpstr>Wingdings</vt:lpstr>
      <vt:lpstr>Тема Office</vt:lpstr>
      <vt:lpstr>Acrobat Document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Marco Tulio Teran</dc:creator>
  <cp:lastModifiedBy>Marco Teran</cp:lastModifiedBy>
  <cp:revision>260</cp:revision>
  <cp:lastPrinted>2015-06-03T17:19:46Z</cp:lastPrinted>
  <dcterms:created xsi:type="dcterms:W3CDTF">2013-06-21T04:56:21Z</dcterms:created>
  <dcterms:modified xsi:type="dcterms:W3CDTF">2026-08-18T11:05:18Z</dcterms:modified>
</cp:coreProperties>
</file>